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1"/>
  </p:notesMasterIdLst>
  <p:sldIdLst>
    <p:sldId id="264" r:id="rId2"/>
    <p:sldId id="266" r:id="rId3"/>
    <p:sldId id="318" r:id="rId4"/>
    <p:sldId id="359" r:id="rId5"/>
    <p:sldId id="360" r:id="rId6"/>
    <p:sldId id="336" r:id="rId7"/>
    <p:sldId id="351" r:id="rId8"/>
    <p:sldId id="349" r:id="rId9"/>
    <p:sldId id="345" r:id="rId10"/>
    <p:sldId id="350" r:id="rId11"/>
    <p:sldId id="346" r:id="rId12"/>
    <p:sldId id="356" r:id="rId13"/>
    <p:sldId id="357" r:id="rId14"/>
    <p:sldId id="354" r:id="rId15"/>
    <p:sldId id="361" r:id="rId16"/>
    <p:sldId id="358" r:id="rId17"/>
    <p:sldId id="339" r:id="rId18"/>
    <p:sldId id="337" r:id="rId19"/>
    <p:sldId id="260" r:id="rId20"/>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240DA6-C43A-C126-C362-4896432FFE2C}" name="valeria Madariaga cuello" initials="vM" userId="S::vmadariagac@unal.edu.co::91f6536e-3937-4a12-82df-3e7df24074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F7E4FC"/>
    <a:srgbClr val="EAE7EC"/>
    <a:srgbClr val="BB8BDB"/>
    <a:srgbClr val="620C78"/>
    <a:srgbClr val="4A095A"/>
    <a:srgbClr val="FFB93E"/>
    <a:srgbClr val="F4D9FB"/>
    <a:srgbClr val="E8AFF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69" autoAdjust="0"/>
  </p:normalViewPr>
  <p:slideViewPr>
    <p:cSldViewPr snapToGrid="0" snapToObjects="1">
      <p:cViewPr varScale="1">
        <p:scale>
          <a:sx n="85" d="100"/>
          <a:sy n="85" d="100"/>
        </p:scale>
        <p:origin x="966" y="84"/>
      </p:cViewPr>
      <p:guideLst>
        <p:guide orient="horz" pos="2160"/>
        <p:guide pos="2880"/>
        <p:guide orient="horz" pos="16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806D32-3F26-4A60-B79B-32791D3BB2C9}" type="datetimeFigureOut">
              <a:rPr lang="es-CO" smtClean="0"/>
              <a:t>31/07/2026</a:t>
            </a:fld>
            <a:endParaRPr lang="es-CO"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F695FE-B573-405B-994F-FAFC23062642}" type="slidenum">
              <a:rPr lang="es-CO" smtClean="0"/>
              <a:t>‹Nº›</a:t>
            </a:fld>
            <a:endParaRPr lang="es-CO" dirty="0"/>
          </a:p>
        </p:txBody>
      </p:sp>
    </p:spTree>
    <p:extLst>
      <p:ext uri="{BB962C8B-B14F-4D97-AF65-F5344CB8AC3E}">
        <p14:creationId xmlns:p14="http://schemas.microsoft.com/office/powerpoint/2010/main" val="2262910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F98E4-0AFB-4F3C-935F-173FEC9716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7193B3-F3D9-84CB-2D34-162CA5AD43BD}"/>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D813E517-8A47-52A4-84ED-A648B51E2BA0}"/>
              </a:ext>
            </a:extLst>
          </p:cNvPr>
          <p:cNvSpPr>
            <a:spLocks noGrp="1"/>
          </p:cNvSpPr>
          <p:nvPr>
            <p:ph type="body" idx="1"/>
          </p:nvPr>
        </p:nvSpPr>
        <p:spPr/>
        <p:txBody>
          <a:bodyPr/>
          <a:lstStyle/>
          <a:p>
            <a:r>
              <a:rPr lang="es-CO" dirty="0"/>
              <a:t>El análisis por comunas evidencia una marcada heterogeneidad espacial en la distribución de los movimientos en masa registrados en Medellín. Las comunas Popular, Santa Cruz, Villa Hermosa, San Javier y Manrique presentan los mayores índices de concentración relativa, registrando una proporción de movimientos considerablemente superior a la esperada según el porcentaje de área que representan dentro del municipio. En contraste, comunas rurales como Santa Elena, San Antonio de Prado y Palmitas, pese a ocupar una fracción importante del territorio municipal, presentan una baja participación relativa en el inventario histórico de movimientos en masa. Estos resultados indican que la ocurrencia de movimientos en masa está influenciada por factores territoriales que trascienden el tamaño de las unidades administrativas, lo que justifica analizar variables condicionantes como la geología, las coberturas del suelo y, en etapas posteriores, la pendiente.</a:t>
            </a:r>
          </a:p>
        </p:txBody>
      </p:sp>
      <p:sp>
        <p:nvSpPr>
          <p:cNvPr id="4" name="Marcador de número de diapositiva 3">
            <a:extLst>
              <a:ext uri="{FF2B5EF4-FFF2-40B4-BE49-F238E27FC236}">
                <a16:creationId xmlns:a16="http://schemas.microsoft.com/office/drawing/2014/main" id="{5B06844D-A6F6-5F0C-7351-A9FA620EF5C2}"/>
              </a:ext>
            </a:extLst>
          </p:cNvPr>
          <p:cNvSpPr>
            <a:spLocks noGrp="1"/>
          </p:cNvSpPr>
          <p:nvPr>
            <p:ph type="sldNum" sz="quarter" idx="5"/>
          </p:nvPr>
        </p:nvSpPr>
        <p:spPr/>
        <p:txBody>
          <a:bodyPr/>
          <a:lstStyle/>
          <a:p>
            <a:fld id="{46F695FE-B573-405B-994F-FAFC23062642}" type="slidenum">
              <a:rPr lang="es-CO" smtClean="0"/>
              <a:t>3</a:t>
            </a:fld>
            <a:endParaRPr lang="es-CO" dirty="0"/>
          </a:p>
        </p:txBody>
      </p:sp>
    </p:spTree>
    <p:extLst>
      <p:ext uri="{BB962C8B-B14F-4D97-AF65-F5344CB8AC3E}">
        <p14:creationId xmlns:p14="http://schemas.microsoft.com/office/powerpoint/2010/main" val="110742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1BEA4-68D2-FDE8-7F1E-1AC40375B0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FF389D-BBA3-B1B0-2243-FD51F34F8783}"/>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82BF97D0-4AEE-6673-7EEE-5B949632A01D}"/>
              </a:ext>
            </a:extLst>
          </p:cNvPr>
          <p:cNvSpPr>
            <a:spLocks noGrp="1"/>
          </p:cNvSpPr>
          <p:nvPr>
            <p:ph type="body" idx="1"/>
          </p:nvPr>
        </p:nvSpPr>
        <p:spPr/>
        <p:txBody>
          <a:bodyPr/>
          <a:lstStyle/>
          <a:p>
            <a:r>
              <a:rPr lang="es-CO" b="1" dirty="0"/>
              <a:t>Territorios artificializados</a:t>
            </a:r>
            <a:r>
              <a:rPr lang="es-CO" dirty="0"/>
              <a:t> presentan una ocurrencia de movimientos </a:t>
            </a:r>
            <a:r>
              <a:rPr lang="es-CO" b="1" dirty="0"/>
              <a:t>2.1 veces superior</a:t>
            </a:r>
            <a:r>
              <a:rPr lang="es-CO" dirty="0"/>
              <a:t> a la esperada. Esto puede asociarse a cortes de ladera, urbanización, modificaciones del drenaje y sobrecarga de taludes. </a:t>
            </a:r>
            <a:r>
              <a:rPr lang="es-CO" b="1" dirty="0"/>
              <a:t>Bosques y áreas seminaturales</a:t>
            </a:r>
            <a:r>
              <a:rPr lang="es-CO" dirty="0"/>
              <a:t> muestran una ocurrencia ligeramente inferior a la esperada, posiblemente debido al efecto protector de la cobertura vegetal sobre la estabilidad superficial. </a:t>
            </a:r>
            <a:r>
              <a:rPr lang="es-CO" b="1" dirty="0"/>
              <a:t>Territorios agrícolas</a:t>
            </a:r>
            <a:r>
              <a:rPr lang="es-CO" dirty="0"/>
              <a:t> presentan una baja representación relativa, aunque la interpretación debe considerar el tipo de uso agrícola y su localización dentro del municipio.</a:t>
            </a:r>
          </a:p>
        </p:txBody>
      </p:sp>
      <p:sp>
        <p:nvSpPr>
          <p:cNvPr id="4" name="Marcador de número de diapositiva 3">
            <a:extLst>
              <a:ext uri="{FF2B5EF4-FFF2-40B4-BE49-F238E27FC236}">
                <a16:creationId xmlns:a16="http://schemas.microsoft.com/office/drawing/2014/main" id="{7D4E380D-15D4-6C54-353B-1B578BCBBE9A}"/>
              </a:ext>
            </a:extLst>
          </p:cNvPr>
          <p:cNvSpPr>
            <a:spLocks noGrp="1"/>
          </p:cNvSpPr>
          <p:nvPr>
            <p:ph type="sldNum" sz="quarter" idx="5"/>
          </p:nvPr>
        </p:nvSpPr>
        <p:spPr/>
        <p:txBody>
          <a:bodyPr/>
          <a:lstStyle/>
          <a:p>
            <a:fld id="{46F695FE-B573-405B-994F-FAFC23062642}" type="slidenum">
              <a:rPr lang="es-CO" smtClean="0"/>
              <a:t>5</a:t>
            </a:fld>
            <a:endParaRPr lang="es-CO" dirty="0"/>
          </a:p>
        </p:txBody>
      </p:sp>
    </p:spTree>
    <p:extLst>
      <p:ext uri="{BB962C8B-B14F-4D97-AF65-F5344CB8AC3E}">
        <p14:creationId xmlns:p14="http://schemas.microsoft.com/office/powerpoint/2010/main" val="2765235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C9648-0FCA-8D7C-5553-929FF2902C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EE6358-0510-13A4-ECFC-A238F08EBD38}"/>
              </a:ext>
            </a:extLst>
          </p:cNvPr>
          <p:cNvSpPr>
            <a:spLocks noGrp="1" noRot="1" noChangeAspect="1"/>
          </p:cNvSpPr>
          <p:nvPr>
            <p:ph type="sldImg"/>
          </p:nvPr>
        </p:nvSpPr>
        <p:spPr/>
        <p:txBody>
          <a:bodyPr/>
          <a:lstStyle/>
          <a:p>
            <a:endParaRPr lang="es-CO"/>
          </a:p>
        </p:txBody>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F8A0F522-1A5D-468E-7750-EAB114E3BEAA}"/>
                  </a:ext>
                </a:extLst>
              </p:cNvPr>
              <p:cNvSpPr>
                <a:spLocks noGrp="1"/>
              </p:cNvSpPr>
              <p:nvPr>
                <p:ph type="body" idx="1"/>
              </p:nvPr>
            </p:nvSpPr>
            <p:spPr/>
            <p:txBody>
              <a:bodyPr/>
              <a:lstStyle/>
              <a:p>
                <a:r>
                  <a:rPr lang="es-CO" dirty="0"/>
                  <a:t>La incorporación de las coordenadas de los centroides mejoró sustancialmente el desempeño del proceso gaussiano con kernel Matérn </a:t>
                </a:r>
                <a14:m>
                  <m:oMath xmlns:m="http://schemas.openxmlformats.org/officeDocument/2006/math">
                    <m:r>
                      <a:rPr lang="es-CO" sz="1200" i="1" kern="1200">
                        <a:solidFill>
                          <a:schemeClr val="tx1"/>
                        </a:solidFill>
                        <a:latin typeface="Cambria Math" panose="02040503050406030204" pitchFamily="18" charset="0"/>
                        <a:ea typeface="+mn-ea"/>
                        <a:cs typeface="+mn-cs"/>
                      </a:rPr>
                      <m:t>𝜈</m:t>
                    </m:r>
                    <m:r>
                      <a:rPr lang="es-CO" sz="1200" i="0" kern="1200">
                        <a:solidFill>
                          <a:schemeClr val="tx1"/>
                        </a:solidFill>
                        <a:latin typeface="Cambria Math" panose="02040503050406030204" pitchFamily="18" charset="0"/>
                        <a:ea typeface="+mn-ea"/>
                        <a:cs typeface="+mn-cs"/>
                      </a:rPr>
                      <m:t>=0.5</m:t>
                    </m:r>
                  </m:oMath>
                </a14:m>
                <a:r>
                  <a:rPr lang="es-CO" dirty="0"/>
                  <a:t>. El </a:t>
                </a:r>
                <a14:m>
                  <m:oMath xmlns:m="http://schemas.openxmlformats.org/officeDocument/2006/math">
                    <m:sSup>
                      <m:sSupPr>
                        <m:ctrlPr>
                          <a:rPr lang="es-CO" sz="1200" i="1" kern="1200">
                            <a:solidFill>
                              <a:schemeClr val="tx1"/>
                            </a:solidFill>
                            <a:latin typeface="Cambria Math" panose="02040503050406030204" pitchFamily="18" charset="0"/>
                            <a:ea typeface="+mn-ea"/>
                            <a:cs typeface="+mn-cs"/>
                          </a:rPr>
                        </m:ctrlPr>
                      </m:sSupPr>
                      <m:e>
                        <m:r>
                          <a:rPr lang="es-CO" sz="1200" i="1" kern="1200">
                            <a:solidFill>
                              <a:schemeClr val="tx1"/>
                            </a:solidFill>
                            <a:latin typeface="Cambria Math" panose="02040503050406030204" pitchFamily="18" charset="0"/>
                            <a:ea typeface="+mn-ea"/>
                            <a:cs typeface="+mn-cs"/>
                          </a:rPr>
                          <m:t>𝑅</m:t>
                        </m:r>
                      </m:e>
                      <m:sup>
                        <m:r>
                          <a:rPr lang="es-CO" sz="1200" i="0" kern="1200">
                            <a:solidFill>
                              <a:schemeClr val="tx1"/>
                            </a:solidFill>
                            <a:latin typeface="Cambria Math" panose="02040503050406030204" pitchFamily="18" charset="0"/>
                            <a:ea typeface="+mn-ea"/>
                            <a:cs typeface="+mn-cs"/>
                          </a:rPr>
                          <m:t>2</m:t>
                        </m:r>
                      </m:sup>
                    </m:sSup>
                  </m:oMath>
                </a14:m>
                <a:r>
                  <a:rPr lang="es-CO" dirty="0"/>
                  <a:t>aumentó de 0.4105 a 0.5845, mientras que el RMSE y el MAE disminuyeron en aproximadamente 16 % y 20 %, respectivamente. Asimismo, el modelo espacial presentó una mayor log-verosimilitud marginal. Los bajos valores de las escalas de longitud asociados a las coordenadas, particularmente a la componente </a:t>
                </a:r>
                <a14:m>
                  <m:oMath xmlns:m="http://schemas.openxmlformats.org/officeDocument/2006/math">
                    <m:r>
                      <a:rPr lang="es-CO" sz="1200" i="1" kern="1200">
                        <a:solidFill>
                          <a:schemeClr val="tx1"/>
                        </a:solidFill>
                        <a:latin typeface="Cambria Math" panose="02040503050406030204" pitchFamily="18" charset="0"/>
                        <a:ea typeface="+mn-ea"/>
                        <a:cs typeface="+mn-cs"/>
                      </a:rPr>
                      <m:t>𝑋</m:t>
                    </m:r>
                  </m:oMath>
                </a14:m>
                <a:r>
                  <a:rPr lang="es-CO" dirty="0"/>
                  <a:t>, evidencian una estructura espacial residual relevante que no era explicada completamente por la pendiente, la artificialización y las variables geológicas. Por su parte, </a:t>
                </a:r>
                <a:r>
                  <a:rPr lang="es-CO" sz="1200" kern="1200" dirty="0" err="1">
                    <a:solidFill>
                      <a:schemeClr val="tx1"/>
                    </a:solidFill>
                    <a:latin typeface="+mn-lt"/>
                    <a:ea typeface="+mn-ea"/>
                    <a:cs typeface="+mn-cs"/>
                  </a:rPr>
                  <a:t>Porc_TPu</a:t>
                </a:r>
                <a:r>
                  <a:rPr lang="es-CO" dirty="0"/>
                  <a:t> alcanzó el límite superior de la escala de longitud, lo que sugiere una contribución limitada dentro del modelo espacial.</a:t>
                </a:r>
              </a:p>
            </p:txBody>
          </p:sp>
        </mc:Choice>
        <mc:Fallback xmlns="">
          <p:sp>
            <p:nvSpPr>
              <p:cNvPr id="3" name="Marcador de notas 2">
                <a:extLst>
                  <a:ext uri="{FF2B5EF4-FFF2-40B4-BE49-F238E27FC236}">
                    <a16:creationId xmlns:a16="http://schemas.microsoft.com/office/drawing/2014/main" id="{F8A0F522-1A5D-468E-7750-EAB114E3BEAA}"/>
                  </a:ext>
                </a:extLst>
              </p:cNvPr>
              <p:cNvSpPr>
                <a:spLocks noGrp="1"/>
              </p:cNvSpPr>
              <p:nvPr>
                <p:ph type="body" idx="1"/>
              </p:nvPr>
            </p:nvSpPr>
            <p:spPr/>
            <p:txBody>
              <a:bodyPr/>
              <a:lstStyle/>
              <a:p>
                <a:r>
                  <a:rPr lang="es-CO" dirty="0"/>
                  <a:t>La incorporación de las coordenadas de los centroides mejoró sustancialmente el desempeño del proceso gaussiano con </a:t>
                </a:r>
                <a:r>
                  <a:rPr lang="es-CO" dirty="0" err="1"/>
                  <a:t>kernel</a:t>
                </a:r>
                <a:r>
                  <a:rPr lang="es-CO" dirty="0"/>
                  <a:t> Matérn </a:t>
                </a:r>
                <a:r>
                  <a:rPr lang="es-CO" sz="1200" i="0" kern="1200">
                    <a:solidFill>
                      <a:schemeClr val="tx1"/>
                    </a:solidFill>
                    <a:latin typeface="Cambria Math" panose="02040503050406030204" pitchFamily="18" charset="0"/>
                    <a:ea typeface="+mn-ea"/>
                    <a:cs typeface="+mn-cs"/>
                  </a:rPr>
                  <a:t>𝜈=0.5</a:t>
                </a:r>
                <a:r>
                  <a:rPr lang="es-CO" dirty="0"/>
                  <a:t>. El </a:t>
                </a:r>
                <a:r>
                  <a:rPr lang="es-CO" sz="1200" i="0" kern="1200">
                    <a:solidFill>
                      <a:schemeClr val="tx1"/>
                    </a:solidFill>
                    <a:latin typeface="Cambria Math" panose="02040503050406030204" pitchFamily="18" charset="0"/>
                    <a:ea typeface="+mn-ea"/>
                    <a:cs typeface="+mn-cs"/>
                  </a:rPr>
                  <a:t>𝑅^2</a:t>
                </a:r>
                <a:r>
                  <a:rPr lang="es-CO" dirty="0"/>
                  <a:t>aumentó de 0.4105 a 0.5845, mientras que el RMSE y el MAE disminuyeron en aproximadamente 16 % y 20 %, respectivamente. Asimismo, el modelo espacial presentó una mayor log-verosimilitud marginal. Los bajos valores de las escalas de longitud asociados a las coordenadas, particularmente a la componente </a:t>
                </a:r>
                <a:r>
                  <a:rPr lang="es-CO" sz="1200" i="0" kern="1200">
                    <a:solidFill>
                      <a:schemeClr val="tx1"/>
                    </a:solidFill>
                    <a:latin typeface="Cambria Math" panose="02040503050406030204" pitchFamily="18" charset="0"/>
                    <a:ea typeface="+mn-ea"/>
                    <a:cs typeface="+mn-cs"/>
                  </a:rPr>
                  <a:t>𝑋</a:t>
                </a:r>
                <a:r>
                  <a:rPr lang="es-CO" dirty="0"/>
                  <a:t>, evidencian una estructura espacial residual relevante que no era explicada completamente por la pendiente, la artificialización y las variables geológicas. Por su parte, </a:t>
                </a:r>
                <a:r>
                  <a:rPr lang="es-CO" sz="1200" kern="1200" dirty="0" err="1">
                    <a:solidFill>
                      <a:schemeClr val="tx1"/>
                    </a:solidFill>
                    <a:latin typeface="+mn-lt"/>
                    <a:ea typeface="+mn-ea"/>
                    <a:cs typeface="+mn-cs"/>
                  </a:rPr>
                  <a:t>Porc_TPu</a:t>
                </a:r>
                <a:r>
                  <a:rPr lang="es-CO" dirty="0"/>
                  <a:t> alcanzó el límite superior de la escala de longitud, lo que sugiere una contribución limitada dentro del modelo espacial.</a:t>
                </a:r>
              </a:p>
            </p:txBody>
          </p:sp>
        </mc:Fallback>
      </mc:AlternateContent>
      <p:sp>
        <p:nvSpPr>
          <p:cNvPr id="4" name="Marcador de número de diapositiva 3">
            <a:extLst>
              <a:ext uri="{FF2B5EF4-FFF2-40B4-BE49-F238E27FC236}">
                <a16:creationId xmlns:a16="http://schemas.microsoft.com/office/drawing/2014/main" id="{078CF67B-8F9A-12F9-22F0-0E2D544A56C9}"/>
              </a:ext>
            </a:extLst>
          </p:cNvPr>
          <p:cNvSpPr>
            <a:spLocks noGrp="1"/>
          </p:cNvSpPr>
          <p:nvPr>
            <p:ph type="sldNum" sz="quarter" idx="5"/>
          </p:nvPr>
        </p:nvSpPr>
        <p:spPr/>
        <p:txBody>
          <a:bodyPr/>
          <a:lstStyle/>
          <a:p>
            <a:fld id="{46F695FE-B573-405B-994F-FAFC23062642}" type="slidenum">
              <a:rPr lang="es-CO" smtClean="0"/>
              <a:t>7</a:t>
            </a:fld>
            <a:endParaRPr lang="es-CO" dirty="0"/>
          </a:p>
        </p:txBody>
      </p:sp>
    </p:spTree>
    <p:extLst>
      <p:ext uri="{BB962C8B-B14F-4D97-AF65-F5344CB8AC3E}">
        <p14:creationId xmlns:p14="http://schemas.microsoft.com/office/powerpoint/2010/main" val="2960805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r>
                  <a:rPr lang="es-CO" dirty="0"/>
                  <a:t>La incorporación de las coordenadas de los centroides mejoró sustancialmente el desempeño del proceso gaussiano con kernel Matérn </a:t>
                </a:r>
                <a14:m>
                  <m:oMath xmlns:m="http://schemas.openxmlformats.org/officeDocument/2006/math">
                    <m:r>
                      <a:rPr lang="es-CO" sz="1200" i="1" kern="1200">
                        <a:solidFill>
                          <a:schemeClr val="tx1"/>
                        </a:solidFill>
                        <a:latin typeface="Cambria Math" panose="02040503050406030204" pitchFamily="18" charset="0"/>
                        <a:ea typeface="+mn-ea"/>
                        <a:cs typeface="+mn-cs"/>
                      </a:rPr>
                      <m:t>𝜈</m:t>
                    </m:r>
                    <m:r>
                      <a:rPr lang="es-CO" sz="1200" i="0" kern="1200">
                        <a:solidFill>
                          <a:schemeClr val="tx1"/>
                        </a:solidFill>
                        <a:latin typeface="Cambria Math" panose="02040503050406030204" pitchFamily="18" charset="0"/>
                        <a:ea typeface="+mn-ea"/>
                        <a:cs typeface="+mn-cs"/>
                      </a:rPr>
                      <m:t>=0.5</m:t>
                    </m:r>
                  </m:oMath>
                </a14:m>
                <a:r>
                  <a:rPr lang="es-CO" dirty="0"/>
                  <a:t>. El </a:t>
                </a:r>
                <a14:m>
                  <m:oMath xmlns:m="http://schemas.openxmlformats.org/officeDocument/2006/math">
                    <m:sSup>
                      <m:sSupPr>
                        <m:ctrlPr>
                          <a:rPr lang="es-CO" sz="1200" i="1" kern="1200">
                            <a:solidFill>
                              <a:schemeClr val="tx1"/>
                            </a:solidFill>
                            <a:latin typeface="Cambria Math" panose="02040503050406030204" pitchFamily="18" charset="0"/>
                            <a:ea typeface="+mn-ea"/>
                            <a:cs typeface="+mn-cs"/>
                          </a:rPr>
                        </m:ctrlPr>
                      </m:sSupPr>
                      <m:e>
                        <m:r>
                          <a:rPr lang="es-CO" sz="1200" i="1" kern="1200">
                            <a:solidFill>
                              <a:schemeClr val="tx1"/>
                            </a:solidFill>
                            <a:latin typeface="Cambria Math" panose="02040503050406030204" pitchFamily="18" charset="0"/>
                            <a:ea typeface="+mn-ea"/>
                            <a:cs typeface="+mn-cs"/>
                          </a:rPr>
                          <m:t>𝑅</m:t>
                        </m:r>
                      </m:e>
                      <m:sup>
                        <m:r>
                          <a:rPr lang="es-CO" sz="1200" i="0" kern="1200">
                            <a:solidFill>
                              <a:schemeClr val="tx1"/>
                            </a:solidFill>
                            <a:latin typeface="Cambria Math" panose="02040503050406030204" pitchFamily="18" charset="0"/>
                            <a:ea typeface="+mn-ea"/>
                            <a:cs typeface="+mn-cs"/>
                          </a:rPr>
                          <m:t>2</m:t>
                        </m:r>
                      </m:sup>
                    </m:sSup>
                  </m:oMath>
                </a14:m>
                <a:r>
                  <a:rPr lang="es-CO" dirty="0"/>
                  <a:t>aumentó de 0.4105 a 0.5845, mientras que el RMSE y el MAE disminuyeron en aproximadamente 16 % y 20 %, respectivamente. Asimismo, el modelo espacial presentó una mayor log-verosimilitud marginal. Los bajos valores de las escalas de longitud asociados a las coordenadas, particularmente a la componente </a:t>
                </a:r>
                <a14:m>
                  <m:oMath xmlns:m="http://schemas.openxmlformats.org/officeDocument/2006/math">
                    <m:r>
                      <a:rPr lang="es-CO" sz="1200" i="1" kern="1200">
                        <a:solidFill>
                          <a:schemeClr val="tx1"/>
                        </a:solidFill>
                        <a:latin typeface="Cambria Math" panose="02040503050406030204" pitchFamily="18" charset="0"/>
                        <a:ea typeface="+mn-ea"/>
                        <a:cs typeface="+mn-cs"/>
                      </a:rPr>
                      <m:t>𝑋</m:t>
                    </m:r>
                  </m:oMath>
                </a14:m>
                <a:r>
                  <a:rPr lang="es-CO" dirty="0"/>
                  <a:t>, evidencian una estructura espacial residual relevante que no era explicada completamente por la pendiente, la artificialización y las variables geológicas. Por su parte, </a:t>
                </a:r>
                <a:r>
                  <a:rPr lang="es-CO" sz="1200" kern="1200" dirty="0" err="1">
                    <a:solidFill>
                      <a:schemeClr val="tx1"/>
                    </a:solidFill>
                    <a:latin typeface="+mn-lt"/>
                    <a:ea typeface="+mn-ea"/>
                    <a:cs typeface="+mn-cs"/>
                  </a:rPr>
                  <a:t>Porc_TPu</a:t>
                </a:r>
                <a:r>
                  <a:rPr lang="es-CO" dirty="0"/>
                  <a:t> alcanzó el límite superior de la escala de longitud, lo que sugiere una contribución limitada dentro del modelo espacial.</a:t>
                </a:r>
              </a:p>
            </p:txBody>
          </p:sp>
        </mc:Choice>
        <mc:Fallback xmlns="">
          <p:sp>
            <p:nvSpPr>
              <p:cNvPr id="3" name="Marcador de notas 2"/>
              <p:cNvSpPr>
                <a:spLocks noGrp="1"/>
              </p:cNvSpPr>
              <p:nvPr>
                <p:ph type="body" idx="1"/>
              </p:nvPr>
            </p:nvSpPr>
            <p:spPr/>
            <p:txBody>
              <a:bodyPr/>
              <a:lstStyle/>
              <a:p>
                <a:r>
                  <a:rPr lang="es-CO" dirty="0"/>
                  <a:t>La incorporación de las coordenadas de los centroides mejoró sustancialmente el desempeño del proceso gaussiano con </a:t>
                </a:r>
                <a:r>
                  <a:rPr lang="es-CO" dirty="0" err="1"/>
                  <a:t>kernel</a:t>
                </a:r>
                <a:r>
                  <a:rPr lang="es-CO" dirty="0"/>
                  <a:t> Matérn </a:t>
                </a:r>
                <a:r>
                  <a:rPr lang="es-CO" sz="1200" i="0" kern="1200">
                    <a:solidFill>
                      <a:schemeClr val="tx1"/>
                    </a:solidFill>
                    <a:latin typeface="+mn-lt"/>
                    <a:ea typeface="+mn-ea"/>
                    <a:cs typeface="+mn-cs"/>
                  </a:rPr>
                  <a:t>𝜈=0.5</a:t>
                </a:r>
                <a:r>
                  <a:rPr lang="es-CO" dirty="0"/>
                  <a:t>. El </a:t>
                </a:r>
                <a:r>
                  <a:rPr lang="es-CO" sz="1200" i="0" kern="1200">
                    <a:solidFill>
                      <a:schemeClr val="tx1"/>
                    </a:solidFill>
                    <a:latin typeface="+mn-lt"/>
                    <a:ea typeface="+mn-ea"/>
                    <a:cs typeface="+mn-cs"/>
                  </a:rPr>
                  <a:t>𝑅^2</a:t>
                </a:r>
                <a:r>
                  <a:rPr lang="es-CO" dirty="0"/>
                  <a:t>aumentó de 0.4105 a 0.5845, mientras que el RMSE y el MAE disminuyeron en aproximadamente 16 % y 20 %, respectivamente. Asimismo, el modelo espacial presentó una mayor log-verosimilitud marginal. Los bajos valores de las escalas de longitud asociados a las coordenadas, particularmente a la componente </a:t>
                </a:r>
                <a:r>
                  <a:rPr lang="es-CO" sz="1200" i="0" kern="1200">
                    <a:solidFill>
                      <a:schemeClr val="tx1"/>
                    </a:solidFill>
                    <a:latin typeface="+mn-lt"/>
                    <a:ea typeface="+mn-ea"/>
                    <a:cs typeface="+mn-cs"/>
                  </a:rPr>
                  <a:t>𝑋</a:t>
                </a:r>
                <a:r>
                  <a:rPr lang="es-CO" dirty="0"/>
                  <a:t>, evidencian una estructura espacial residual relevante que no era explicada completamente por la pendiente, la artificialización y las variables geológicas. Por su parte, </a:t>
                </a:r>
                <a:r>
                  <a:rPr lang="es-CO" sz="1200" kern="1200" dirty="0" err="1">
                    <a:solidFill>
                      <a:schemeClr val="tx1"/>
                    </a:solidFill>
                    <a:latin typeface="+mn-lt"/>
                    <a:ea typeface="+mn-ea"/>
                    <a:cs typeface="+mn-cs"/>
                  </a:rPr>
                  <a:t>Porc_TPu</a:t>
                </a:r>
                <a:r>
                  <a:rPr lang="es-CO" dirty="0"/>
                  <a:t> alcanzó el límite superior de la escala de longitud, lo que sugiere una contribución limitada dentro del modelo espacial.</a:t>
                </a:r>
              </a:p>
            </p:txBody>
          </p:sp>
        </mc:Fallback>
      </mc:AlternateContent>
      <p:sp>
        <p:nvSpPr>
          <p:cNvPr id="4" name="Marcador de número de diapositiva 3"/>
          <p:cNvSpPr>
            <a:spLocks noGrp="1"/>
          </p:cNvSpPr>
          <p:nvPr>
            <p:ph type="sldNum" sz="quarter" idx="5"/>
          </p:nvPr>
        </p:nvSpPr>
        <p:spPr/>
        <p:txBody>
          <a:bodyPr/>
          <a:lstStyle/>
          <a:p>
            <a:fld id="{46F695FE-B573-405B-994F-FAFC23062642}" type="slidenum">
              <a:rPr lang="es-CO" smtClean="0"/>
              <a:t>9</a:t>
            </a:fld>
            <a:endParaRPr lang="es-CO" dirty="0"/>
          </a:p>
        </p:txBody>
      </p:sp>
    </p:spTree>
    <p:extLst>
      <p:ext uri="{BB962C8B-B14F-4D97-AF65-F5344CB8AC3E}">
        <p14:creationId xmlns:p14="http://schemas.microsoft.com/office/powerpoint/2010/main" val="3687552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97819"/>
            <a:ext cx="7772400" cy="1102519"/>
          </a:xfrm>
        </p:spPr>
        <p:txBody>
          <a:bodyPr/>
          <a:lstStyle/>
          <a:p>
            <a:r>
              <a:rPr lang="es-ES"/>
              <a:t>Haga clic para modificar el estilo de título del patrón</a:t>
            </a:r>
          </a:p>
        </p:txBody>
      </p:sp>
      <p:sp>
        <p:nvSpPr>
          <p:cNvPr id="3" name="Subtítulo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833DC620-E659-49B0-9EFB-BB66AA813A77}" type="datetime1">
              <a:rPr lang="es-ES" smtClean="0"/>
              <a:t>31/07/2026</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90BC2BA4-81C0-F544-BD72-C8CB9DA7C802}" type="slidenum">
              <a:rPr lang="es-ES" smtClean="0"/>
              <a:t>‹Nº›</a:t>
            </a:fld>
            <a:endParaRPr lang="es-ES" dirty="0"/>
          </a:p>
        </p:txBody>
      </p:sp>
    </p:spTree>
    <p:extLst>
      <p:ext uri="{BB962C8B-B14F-4D97-AF65-F5344CB8AC3E}">
        <p14:creationId xmlns:p14="http://schemas.microsoft.com/office/powerpoint/2010/main" val="208117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368595"/>
            <a:ext cx="8229600" cy="694634"/>
          </a:xfrm>
        </p:spPr>
        <p:txBody>
          <a:bodyPr>
            <a:noAutofit/>
          </a:bodyPr>
          <a:lstStyle>
            <a:lvl1pPr>
              <a:defRPr sz="2800">
                <a:solidFill>
                  <a:schemeClr val="tx2"/>
                </a:solidFill>
              </a:defRPr>
            </a:lvl1pPr>
          </a:lstStyle>
          <a:p>
            <a:r>
              <a:rPr lang="es-ES" dirty="0"/>
              <a:t>Haga clic para modificar el estilo de título del patrón</a:t>
            </a:r>
          </a:p>
        </p:txBody>
      </p:sp>
      <p:sp>
        <p:nvSpPr>
          <p:cNvPr id="3" name="Marcador de contenido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F477E6E-80CA-4637-84D1-CB00AA43C9A5}" type="datetime1">
              <a:rPr lang="es-ES" smtClean="0"/>
              <a:t>31/07/2026</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301256" y="18054"/>
            <a:ext cx="2133600" cy="273844"/>
          </a:xfrm>
        </p:spPr>
        <p:txBody>
          <a:bodyPr/>
          <a:lstStyle>
            <a:lvl1pPr algn="l">
              <a:defRPr sz="900"/>
            </a:lvl1pPr>
          </a:lstStyle>
          <a:p>
            <a:r>
              <a:rPr lang="es-ES" dirty="0"/>
              <a:t>Página </a:t>
            </a:r>
            <a:fld id="{90BC2BA4-81C0-F544-BD72-C8CB9DA7C802}" type="slidenum">
              <a:rPr lang="es-ES" smtClean="0"/>
              <a:pPr/>
              <a:t>‹Nº›</a:t>
            </a:fld>
            <a:r>
              <a:rPr lang="es-ES" dirty="0"/>
              <a:t> </a:t>
            </a:r>
          </a:p>
        </p:txBody>
      </p:sp>
    </p:spTree>
    <p:extLst>
      <p:ext uri="{BB962C8B-B14F-4D97-AF65-F5344CB8AC3E}">
        <p14:creationId xmlns:p14="http://schemas.microsoft.com/office/powerpoint/2010/main" val="310055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2299790"/>
            <a:ext cx="7772400" cy="1021556"/>
          </a:xfrm>
        </p:spPr>
        <p:txBody>
          <a:bodyPr anchor="t"/>
          <a:lstStyle>
            <a:lvl1pPr algn="l">
              <a:defRPr sz="4000" b="1" cap="all"/>
            </a:lvl1pPr>
          </a:lstStyle>
          <a:p>
            <a:r>
              <a:rPr lang="es-ES" dirty="0"/>
              <a:t>Haga clic para modificar el estilo de título del patrón</a:t>
            </a:r>
          </a:p>
        </p:txBody>
      </p:sp>
      <p:sp>
        <p:nvSpPr>
          <p:cNvPr id="3" name="Marcador de texto 2"/>
          <p:cNvSpPr>
            <a:spLocks noGrp="1"/>
          </p:cNvSpPr>
          <p:nvPr>
            <p:ph type="body" idx="1"/>
          </p:nvPr>
        </p:nvSpPr>
        <p:spPr>
          <a:xfrm>
            <a:off x="722313" y="1174649"/>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Marcador de fecha 3"/>
          <p:cNvSpPr>
            <a:spLocks noGrp="1"/>
          </p:cNvSpPr>
          <p:nvPr>
            <p:ph type="dt" sz="half" idx="10"/>
          </p:nvPr>
        </p:nvSpPr>
        <p:spPr/>
        <p:txBody>
          <a:bodyPr/>
          <a:lstStyle/>
          <a:p>
            <a:fld id="{E72404BB-03C1-49D0-8ADB-9D0B173DA53B}" type="datetime1">
              <a:rPr lang="es-ES" smtClean="0"/>
              <a:t>31/07/2026</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840981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dirty="0"/>
              <a:t>Haga clic para modificar el estilo de título del patrón</a:t>
            </a:r>
          </a:p>
        </p:txBody>
      </p:sp>
      <p:sp>
        <p:nvSpPr>
          <p:cNvPr id="3" name="Marcador de contenido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2328A97A-0D3F-47CA-A347-054B7FE5852E}" type="datetime1">
              <a:rPr lang="es-ES" smtClean="0"/>
              <a:t>31/07/2026</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8" name="Marcador de número de diapositiva 5">
            <a:extLst>
              <a:ext uri="{FF2B5EF4-FFF2-40B4-BE49-F238E27FC236}">
                <a16:creationId xmlns:a16="http://schemas.microsoft.com/office/drawing/2014/main" id="{1D78991F-287D-0639-B3A9-25B72B76217C}"/>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356303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a:t>Haga clic para modificar el estilo de título del patrón</a:t>
            </a:r>
          </a:p>
        </p:txBody>
      </p:sp>
      <p:sp>
        <p:nvSpPr>
          <p:cNvPr id="3" name="Marcador de texto 2"/>
          <p:cNvSpPr>
            <a:spLocks noGrp="1"/>
          </p:cNvSpPr>
          <p:nvPr>
            <p:ph type="body" idx="1"/>
          </p:nvPr>
        </p:nvSpPr>
        <p:spPr>
          <a:xfrm>
            <a:off x="457200" y="1151335"/>
            <a:ext cx="4040188" cy="479822"/>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Haga clic para modificar los estilos de texto del patrón</a:t>
            </a:r>
          </a:p>
        </p:txBody>
      </p:sp>
      <p:sp>
        <p:nvSpPr>
          <p:cNvPr id="4" name="Marcador de contenido 3"/>
          <p:cNvSpPr>
            <a:spLocks noGrp="1"/>
          </p:cNvSpPr>
          <p:nvPr>
            <p:ph sz="half" idx="2"/>
          </p:nvPr>
        </p:nvSpPr>
        <p:spPr>
          <a:xfrm>
            <a:off x="457200" y="1631156"/>
            <a:ext cx="4040188"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Marcador de texto 4"/>
          <p:cNvSpPr>
            <a:spLocks noGrp="1"/>
          </p:cNvSpPr>
          <p:nvPr>
            <p:ph type="body" sz="quarter" idx="3"/>
          </p:nvPr>
        </p:nvSpPr>
        <p:spPr>
          <a:xfrm>
            <a:off x="4645026" y="1151335"/>
            <a:ext cx="4041775" cy="479822"/>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p:cNvSpPr>
            <a:spLocks noGrp="1"/>
          </p:cNvSpPr>
          <p:nvPr>
            <p:ph sz="quarter" idx="4"/>
          </p:nvPr>
        </p:nvSpPr>
        <p:spPr>
          <a:xfrm>
            <a:off x="4645026" y="1631156"/>
            <a:ext cx="4041775"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791C8795-6BD1-4429-BD75-9B388C62CDEE}" type="datetime1">
              <a:rPr lang="es-ES" smtClean="0"/>
              <a:t>31/07/2026</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10" name="Marcador de número de diapositiva 5">
            <a:extLst>
              <a:ext uri="{FF2B5EF4-FFF2-40B4-BE49-F238E27FC236}">
                <a16:creationId xmlns:a16="http://schemas.microsoft.com/office/drawing/2014/main" id="{B2016B63-56CA-91C8-8D94-3736CC5DFAC1}"/>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934548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dirty="0"/>
              <a:t>Haga clic para modificar el estilo de título del patrón</a:t>
            </a:r>
          </a:p>
        </p:txBody>
      </p:sp>
      <p:sp>
        <p:nvSpPr>
          <p:cNvPr id="3" name="Marcador de fecha 2"/>
          <p:cNvSpPr>
            <a:spLocks noGrp="1"/>
          </p:cNvSpPr>
          <p:nvPr>
            <p:ph type="dt" sz="half" idx="10"/>
          </p:nvPr>
        </p:nvSpPr>
        <p:spPr/>
        <p:txBody>
          <a:bodyPr/>
          <a:lstStyle/>
          <a:p>
            <a:fld id="{B646A773-67CF-4861-89BB-2127413ABA21}" type="datetime1">
              <a:rPr lang="es-ES" smtClean="0"/>
              <a:t>31/07/2026</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7AED5BEC-1B11-157D-6B6B-7EC9DA3858D6}"/>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268878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D8ADB17-4F6B-498B-894E-4985DAFC70C1}" type="datetime1">
              <a:rPr lang="es-ES" smtClean="0"/>
              <a:t>31/07/2026</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5" name="Marcador de número de diapositiva 5">
            <a:extLst>
              <a:ext uri="{FF2B5EF4-FFF2-40B4-BE49-F238E27FC236}">
                <a16:creationId xmlns:a16="http://schemas.microsoft.com/office/drawing/2014/main" id="{29E16D5E-FC12-627C-C32C-2D79CE9DAC8C}"/>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818413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787"/>
            <a:ext cx="3008313" cy="871538"/>
          </a:xfrm>
        </p:spPr>
        <p:txBody>
          <a:bodyPr anchor="b"/>
          <a:lstStyle>
            <a:lvl1pPr algn="l">
              <a:defRPr sz="2000" b="1"/>
            </a:lvl1pPr>
          </a:lstStyle>
          <a:p>
            <a:r>
              <a:rPr lang="es-ES"/>
              <a:t>Haga clic para modificar el estilo de título del patrón</a:t>
            </a:r>
          </a:p>
        </p:txBody>
      </p:sp>
      <p:sp>
        <p:nvSpPr>
          <p:cNvPr id="3" name="Marcador de contenido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6E5F5D58-D3C6-4A98-BBED-E11D62DD4FB7}" type="datetime1">
              <a:rPr lang="es-ES" smtClean="0"/>
              <a:t>31/07/2026</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8" name="Marcador de número de diapositiva 5">
            <a:extLst>
              <a:ext uri="{FF2B5EF4-FFF2-40B4-BE49-F238E27FC236}">
                <a16:creationId xmlns:a16="http://schemas.microsoft.com/office/drawing/2014/main" id="{27E0BABE-B629-4063-8894-C3E903570FE1}"/>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3573977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0450"/>
            <a:ext cx="5486400" cy="425054"/>
          </a:xfrm>
        </p:spPr>
        <p:txBody>
          <a:bodyPr anchor="b"/>
          <a:lstStyle>
            <a:lvl1pPr algn="l">
              <a:defRPr sz="2000" b="1"/>
            </a:lvl1pPr>
          </a:lstStyle>
          <a:p>
            <a:r>
              <a:rPr lang="es-ES"/>
              <a:t>Haga clic para modificar el estilo de título del patrón</a:t>
            </a:r>
          </a:p>
        </p:txBody>
      </p:sp>
      <p:sp>
        <p:nvSpPr>
          <p:cNvPr id="3" name="Marcador de posición de imagen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p>
        </p:txBody>
      </p:sp>
      <p:sp>
        <p:nvSpPr>
          <p:cNvPr id="4" name="Marcador de texto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F6F8C981-BD54-46FE-919F-B5B29C8804F4}" type="datetime1">
              <a:rPr lang="es-ES" smtClean="0"/>
              <a:t>31/07/2026</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8" name="Marcador de número de diapositiva 5">
            <a:extLst>
              <a:ext uri="{FF2B5EF4-FFF2-40B4-BE49-F238E27FC236}">
                <a16:creationId xmlns:a16="http://schemas.microsoft.com/office/drawing/2014/main" id="{8F88F565-A7F0-7C19-A7F7-953C9727E2BF}"/>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74998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311887"/>
            <a:ext cx="8229600" cy="751341"/>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DB30C37-EE32-4163-B0FE-3AD7FB21F6FB}" type="datetime1">
              <a:rPr lang="es-ES" smtClean="0"/>
              <a:t>31/07/2026</a:t>
            </a:fld>
            <a:endParaRPr lang="es-ES" dirty="0"/>
          </a:p>
        </p:txBody>
      </p:sp>
      <p:sp>
        <p:nvSpPr>
          <p:cNvPr id="5" name="Marcador de pie de pá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0BC2BA4-81C0-F544-BD72-C8CB9DA7C802}" type="slidenum">
              <a:rPr lang="es-ES" smtClean="0"/>
              <a:t>‹Nº›</a:t>
            </a:fld>
            <a:endParaRPr lang="es-ES" dirty="0"/>
          </a:p>
        </p:txBody>
      </p:sp>
    </p:spTree>
    <p:extLst>
      <p:ext uri="{BB962C8B-B14F-4D97-AF65-F5344CB8AC3E}">
        <p14:creationId xmlns:p14="http://schemas.microsoft.com/office/powerpoint/2010/main" val="143161880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hf hdr="0" ftr="0" dt="0"/>
  <p:txStyles>
    <p:titleStyle>
      <a:lvl1pPr algn="ctr" defTabSz="4572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1767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p:cNvSpPr txBox="1">
            <a:spLocks/>
          </p:cNvSpPr>
          <p:nvPr/>
        </p:nvSpPr>
        <p:spPr>
          <a:xfrm>
            <a:off x="301256" y="1797807"/>
            <a:ext cx="8390798" cy="7275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4000" dirty="0">
                <a:solidFill>
                  <a:schemeClr val="accent1"/>
                </a:solidFill>
                <a:latin typeface="Ancizar Serif"/>
                <a:cs typeface="Ancizar Serif"/>
              </a:rPr>
              <a:t>Análisis Geoespacial</a:t>
            </a:r>
          </a:p>
        </p:txBody>
      </p:sp>
      <p:cxnSp>
        <p:nvCxnSpPr>
          <p:cNvPr id="4" name="Conector recto 3"/>
          <p:cNvCxnSpPr/>
          <p:nvPr/>
        </p:nvCxnSpPr>
        <p:spPr>
          <a:xfrm>
            <a:off x="1647943" y="3573640"/>
            <a:ext cx="5810117" cy="0"/>
          </a:xfrm>
          <a:prstGeom prst="line">
            <a:avLst/>
          </a:prstGeom>
          <a:ln w="12700">
            <a:solidFill>
              <a:schemeClr val="accent1"/>
            </a:solidFill>
          </a:ln>
          <a:effectLst/>
        </p:spPr>
        <p:style>
          <a:lnRef idx="2">
            <a:schemeClr val="dk1"/>
          </a:lnRef>
          <a:fillRef idx="0">
            <a:schemeClr val="dk1"/>
          </a:fillRef>
          <a:effectRef idx="1">
            <a:schemeClr val="dk1"/>
          </a:effectRef>
          <a:fontRef idx="minor">
            <a:schemeClr val="tx1"/>
          </a:fontRef>
        </p:style>
      </p:cxnSp>
      <p:sp>
        <p:nvSpPr>
          <p:cNvPr id="5" name="CuadroTexto 4"/>
          <p:cNvSpPr txBox="1"/>
          <p:nvPr/>
        </p:nvSpPr>
        <p:spPr>
          <a:xfrm>
            <a:off x="2406261" y="2696284"/>
            <a:ext cx="4119067" cy="369332"/>
          </a:xfrm>
          <a:prstGeom prst="rect">
            <a:avLst/>
          </a:prstGeom>
          <a:noFill/>
        </p:spPr>
        <p:txBody>
          <a:bodyPr wrap="square" rtlCol="0">
            <a:spAutoFit/>
          </a:bodyPr>
          <a:lstStyle/>
          <a:p>
            <a:pPr algn="ctr"/>
            <a:r>
              <a:rPr lang="es-ES" b="1" dirty="0">
                <a:solidFill>
                  <a:schemeClr val="accent5"/>
                </a:solidFill>
                <a:latin typeface="Ancizar Sans"/>
                <a:cs typeface="Ancizar Sans"/>
              </a:rPr>
              <a:t>Avance 3: Procesos gaussianos</a:t>
            </a:r>
          </a:p>
        </p:txBody>
      </p:sp>
      <p:sp>
        <p:nvSpPr>
          <p:cNvPr id="7" name="Título 1"/>
          <p:cNvSpPr txBox="1">
            <a:spLocks/>
          </p:cNvSpPr>
          <p:nvPr/>
        </p:nvSpPr>
        <p:spPr>
          <a:xfrm>
            <a:off x="1483227" y="3502157"/>
            <a:ext cx="6201268" cy="7275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1800" dirty="0">
                <a:solidFill>
                  <a:schemeClr val="accent1"/>
                </a:solidFill>
                <a:latin typeface="Ancizar Serif"/>
                <a:cs typeface="Ancizar Serif"/>
              </a:rPr>
              <a:t>Presentado por Valeria Madariaga Cuello</a:t>
            </a:r>
          </a:p>
        </p:txBody>
      </p:sp>
      <p:sp>
        <p:nvSpPr>
          <p:cNvPr id="6" name="Marcador de número de diapositiva 5">
            <a:extLst>
              <a:ext uri="{FF2B5EF4-FFF2-40B4-BE49-F238E27FC236}">
                <a16:creationId xmlns:a16="http://schemas.microsoft.com/office/drawing/2014/main" id="{3D185DE8-C48F-FD75-EF42-14FD2D299470}"/>
              </a:ext>
            </a:extLst>
          </p:cNvPr>
          <p:cNvSpPr>
            <a:spLocks noGrp="1"/>
          </p:cNvSpPr>
          <p:nvPr>
            <p:ph type="sldNum" sz="quarter" idx="12"/>
          </p:nvPr>
        </p:nvSpPr>
        <p:spPr/>
        <p:txBody>
          <a:bodyPr/>
          <a:lstStyle/>
          <a:p>
            <a:fld id="{90BC2BA4-81C0-F544-BD72-C8CB9DA7C802}" type="slidenum">
              <a:rPr lang="es-ES" smtClean="0"/>
              <a:pPr/>
              <a:t>2</a:t>
            </a:fld>
            <a:endParaRPr lang="es-ES" dirty="0"/>
          </a:p>
        </p:txBody>
      </p:sp>
      <p:sp>
        <p:nvSpPr>
          <p:cNvPr id="8" name="CuadroTexto 7">
            <a:extLst>
              <a:ext uri="{FF2B5EF4-FFF2-40B4-BE49-F238E27FC236}">
                <a16:creationId xmlns:a16="http://schemas.microsoft.com/office/drawing/2014/main" id="{D9EFB6E8-3D28-7FF6-34FE-737B737833F8}"/>
              </a:ext>
            </a:extLst>
          </p:cNvPr>
          <p:cNvSpPr txBox="1"/>
          <p:nvPr/>
        </p:nvSpPr>
        <p:spPr>
          <a:xfrm>
            <a:off x="259080" y="4690504"/>
            <a:ext cx="311658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CO" sz="900" b="0" i="1" u="none" strike="noStrike" kern="1200" cap="none" spc="0" normalizeH="0" baseline="0" noProof="0" dirty="0">
                <a:ln>
                  <a:noFill/>
                </a:ln>
                <a:solidFill>
                  <a:srgbClr val="F8ECCD"/>
                </a:solidFill>
                <a:effectLst/>
                <a:uLnTx/>
                <a:uFillTx/>
                <a:latin typeface="Ancizar Sans" panose="020B0602040300000003" pitchFamily="34" charset="0"/>
                <a:ea typeface="+mn-ea"/>
                <a:cs typeface="+mn-cs"/>
              </a:rPr>
              <a:t>Facultad de Minas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CO" sz="900" b="0" i="1" u="none" strike="noStrike" kern="1200" cap="none" spc="0" normalizeH="0" baseline="0" noProof="0" dirty="0">
                <a:ln>
                  <a:noFill/>
                </a:ln>
                <a:solidFill>
                  <a:srgbClr val="F8ECCD"/>
                </a:solidFill>
                <a:effectLst/>
                <a:uLnTx/>
                <a:uFillTx/>
                <a:latin typeface="Ancizar Sans" panose="020B0602040300000003" pitchFamily="34" charset="0"/>
                <a:ea typeface="+mn-ea"/>
                <a:cs typeface="+mn-cs"/>
              </a:rPr>
              <a:t>Sede Medellín</a:t>
            </a:r>
          </a:p>
        </p:txBody>
      </p:sp>
    </p:spTree>
    <p:extLst>
      <p:ext uri="{BB962C8B-B14F-4D97-AF65-F5344CB8AC3E}">
        <p14:creationId xmlns:p14="http://schemas.microsoft.com/office/powerpoint/2010/main" val="220442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B995-4503-F841-5968-EA37FC79011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D630B507-27A5-159C-3A93-EBCF00018331}"/>
              </a:ext>
            </a:extLst>
          </p:cNvPr>
          <p:cNvSpPr>
            <a:spLocks noGrp="1"/>
          </p:cNvSpPr>
          <p:nvPr>
            <p:ph type="sldNum" sz="quarter" idx="12"/>
          </p:nvPr>
        </p:nvSpPr>
        <p:spPr/>
        <p:txBody>
          <a:bodyPr/>
          <a:lstStyle/>
          <a:p>
            <a:fld id="{90BC2BA4-81C0-F544-BD72-C8CB9DA7C802}" type="slidenum">
              <a:rPr lang="es-ES" smtClean="0"/>
              <a:pPr/>
              <a:t>3</a:t>
            </a:fld>
            <a:endParaRPr lang="es-ES" dirty="0"/>
          </a:p>
        </p:txBody>
      </p:sp>
      <p:sp>
        <p:nvSpPr>
          <p:cNvPr id="6" name="Título 1">
            <a:extLst>
              <a:ext uri="{FF2B5EF4-FFF2-40B4-BE49-F238E27FC236}">
                <a16:creationId xmlns:a16="http://schemas.microsoft.com/office/drawing/2014/main" id="{6CE9F234-70D9-5AF8-548F-F32ACC8B06CD}"/>
              </a:ext>
            </a:extLst>
          </p:cNvPr>
          <p:cNvSpPr txBox="1">
            <a:spLocks/>
          </p:cNvSpPr>
          <p:nvPr/>
        </p:nvSpPr>
        <p:spPr>
          <a:xfrm>
            <a:off x="643911" y="969588"/>
            <a:ext cx="7856178"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Contenido</a:t>
            </a:r>
          </a:p>
        </p:txBody>
      </p:sp>
      <p:sp>
        <p:nvSpPr>
          <p:cNvPr id="4" name="Título 1">
            <a:extLst>
              <a:ext uri="{FF2B5EF4-FFF2-40B4-BE49-F238E27FC236}">
                <a16:creationId xmlns:a16="http://schemas.microsoft.com/office/drawing/2014/main" id="{A17A11AD-6377-0C97-F911-3766B3C10247}"/>
              </a:ext>
            </a:extLst>
          </p:cNvPr>
          <p:cNvSpPr txBox="1">
            <a:spLocks/>
          </p:cNvSpPr>
          <p:nvPr/>
        </p:nvSpPr>
        <p:spPr>
          <a:xfrm>
            <a:off x="3080539" y="1658920"/>
            <a:ext cx="6063461" cy="223386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285750" indent="-285750" algn="l">
              <a:lnSpc>
                <a:spcPct val="150000"/>
              </a:lnSpc>
              <a:spcAft>
                <a:spcPts val="600"/>
              </a:spcAft>
              <a:buFont typeface="Arial" panose="020B0604020202020204" pitchFamily="34" charset="0"/>
              <a:buChar char="•"/>
            </a:pPr>
            <a:r>
              <a:rPr lang="es-CO" sz="1800" noProof="0" dirty="0">
                <a:latin typeface="Ancizar Serif Semibold" panose="020A0702070300000003" pitchFamily="18" charset="0"/>
                <a:cs typeface="Ancizar Sans Extrabold"/>
              </a:rPr>
              <a:t>Variables</a:t>
            </a:r>
          </a:p>
          <a:p>
            <a:pPr marL="285750" indent="-285750" algn="l">
              <a:lnSpc>
                <a:spcPct val="150000"/>
              </a:lnSpc>
              <a:spcAft>
                <a:spcPts val="600"/>
              </a:spcAft>
              <a:buFont typeface="Arial" panose="020B0604020202020204" pitchFamily="34" charset="0"/>
              <a:buChar char="•"/>
            </a:pPr>
            <a:r>
              <a:rPr lang="es-CO" sz="1800" dirty="0">
                <a:latin typeface="Ancizar Serif Semibold" panose="020A0702070300000003" pitchFamily="18" charset="0"/>
                <a:cs typeface="Ancizar Sans Extrabold"/>
              </a:rPr>
              <a:t>Modelos con Procesos Gaussianos</a:t>
            </a:r>
          </a:p>
          <a:p>
            <a:pPr marL="285750" indent="-285750" algn="l">
              <a:lnSpc>
                <a:spcPct val="150000"/>
              </a:lnSpc>
              <a:spcAft>
                <a:spcPts val="600"/>
              </a:spcAft>
              <a:buFont typeface="Arial" panose="020B0604020202020204" pitchFamily="34" charset="0"/>
              <a:buChar char="•"/>
            </a:pPr>
            <a:r>
              <a:rPr lang="es-CO" sz="1800" noProof="0" dirty="0">
                <a:latin typeface="Ancizar Serif Semibold" panose="020A0702070300000003" pitchFamily="18" charset="0"/>
                <a:cs typeface="Ancizar Sans Extrabold"/>
              </a:rPr>
              <a:t>Conclusiones</a:t>
            </a:r>
          </a:p>
          <a:p>
            <a:pPr marL="285750" indent="-285750" algn="l">
              <a:lnSpc>
                <a:spcPct val="150000"/>
              </a:lnSpc>
              <a:spcAft>
                <a:spcPts val="600"/>
              </a:spcAft>
              <a:buFont typeface="Arial" panose="020B0604020202020204" pitchFamily="34" charset="0"/>
              <a:buChar char="•"/>
            </a:pPr>
            <a:r>
              <a:rPr lang="es-CO" sz="1800" dirty="0">
                <a:latin typeface="Ancizar Serif Semibold" panose="020A0702070300000003" pitchFamily="18" charset="0"/>
                <a:cs typeface="Ancizar Sans Extrabold"/>
              </a:rPr>
              <a:t>Referencias</a:t>
            </a:r>
            <a:endParaRPr lang="es-CO" sz="1800" noProof="0" dirty="0">
              <a:latin typeface="Ancizar Serif Semibold" panose="020A0702070300000003" pitchFamily="18" charset="0"/>
              <a:cs typeface="Ancizar Sans Extrabold"/>
            </a:endParaRPr>
          </a:p>
        </p:txBody>
      </p:sp>
      <p:sp>
        <p:nvSpPr>
          <p:cNvPr id="5" name="CuadroTexto 4">
            <a:extLst>
              <a:ext uri="{FF2B5EF4-FFF2-40B4-BE49-F238E27FC236}">
                <a16:creationId xmlns:a16="http://schemas.microsoft.com/office/drawing/2014/main" id="{9756F2C2-1AEE-5FED-6CC9-C8A3AFCD440D}"/>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Tree>
    <p:extLst>
      <p:ext uri="{BB962C8B-B14F-4D97-AF65-F5344CB8AC3E}">
        <p14:creationId xmlns:p14="http://schemas.microsoft.com/office/powerpoint/2010/main" val="3182886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E848083-AD70-9179-226B-5ECA8E06B627}"/>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72CF8AD2-34D9-8990-8923-BC14F7111F32}"/>
              </a:ext>
            </a:extLst>
          </p:cNvPr>
          <p:cNvSpPr txBox="1">
            <a:spLocks/>
          </p:cNvSpPr>
          <p:nvPr/>
        </p:nvSpPr>
        <p:spPr>
          <a:xfrm>
            <a:off x="2730878" y="2138253"/>
            <a:ext cx="1983075"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s-CO" sz="3200" b="0" i="0" u="none" strike="noStrike" kern="1200" cap="none" spc="0" normalizeH="0" baseline="0" noProof="0" dirty="0">
                <a:ln>
                  <a:noFill/>
                </a:ln>
                <a:solidFill>
                  <a:srgbClr val="620C78"/>
                </a:solidFill>
                <a:effectLst/>
                <a:uLnTx/>
                <a:uFillTx/>
                <a:latin typeface="Ancizar Serif Extrabold" panose="020A0902070300000003" pitchFamily="18" charset="0"/>
                <a:ea typeface="+mj-ea"/>
                <a:cs typeface="Ancizar Sans Extrabold"/>
              </a:rPr>
              <a:t>Variables</a:t>
            </a:r>
          </a:p>
        </p:txBody>
      </p:sp>
      <p:sp>
        <p:nvSpPr>
          <p:cNvPr id="10" name="CuadroTexto 9">
            <a:extLst>
              <a:ext uri="{FF2B5EF4-FFF2-40B4-BE49-F238E27FC236}">
                <a16:creationId xmlns:a16="http://schemas.microsoft.com/office/drawing/2014/main" id="{B414F1AB-6BC4-1EF1-6AB2-DC72DC0D0D1E}"/>
              </a:ext>
            </a:extLst>
          </p:cNvPr>
          <p:cNvSpPr txBox="1"/>
          <p:nvPr/>
        </p:nvSpPr>
        <p:spPr>
          <a:xfrm>
            <a:off x="259080" y="4690504"/>
            <a:ext cx="311658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CO" sz="900" b="0" i="1" u="none" strike="noStrike" kern="1200" cap="none" spc="0" normalizeH="0" baseline="0" noProof="0" dirty="0">
                <a:ln>
                  <a:noFill/>
                </a:ln>
                <a:solidFill>
                  <a:srgbClr val="F8ECCD"/>
                </a:solidFill>
                <a:effectLst/>
                <a:uLnTx/>
                <a:uFillTx/>
                <a:latin typeface="Ancizar Sans" panose="020B0602040300000003" pitchFamily="34" charset="0"/>
                <a:ea typeface="+mn-ea"/>
                <a:cs typeface="+mn-cs"/>
              </a:rPr>
              <a:t>Facultad de Minas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CO" sz="900" b="0" i="1" u="none" strike="noStrike" kern="1200" cap="none" spc="0" normalizeH="0" baseline="0" noProof="0" dirty="0">
                <a:ln>
                  <a:noFill/>
                </a:ln>
                <a:solidFill>
                  <a:srgbClr val="F8ECCD"/>
                </a:solidFill>
                <a:effectLst/>
                <a:uLnTx/>
                <a:uFillTx/>
                <a:latin typeface="Ancizar Sans" panose="020B0602040300000003" pitchFamily="34" charset="0"/>
                <a:ea typeface="+mn-ea"/>
                <a:cs typeface="+mn-cs"/>
              </a:rPr>
              <a:t>Sede Medellín</a:t>
            </a:r>
          </a:p>
        </p:txBody>
      </p:sp>
      <p:sp>
        <p:nvSpPr>
          <p:cNvPr id="8" name="Marcador de número de diapositiva 7">
            <a:extLst>
              <a:ext uri="{FF2B5EF4-FFF2-40B4-BE49-F238E27FC236}">
                <a16:creationId xmlns:a16="http://schemas.microsoft.com/office/drawing/2014/main" id="{B63F8A09-6516-5CF1-593C-A5C6C4F408CE}"/>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0BC2BA4-81C0-F544-BD72-C8CB9DA7C802}" type="slidenum">
              <a:rPr kumimoji="0" lang="es-CO" sz="900" b="0" i="0" u="none" strike="noStrike" kern="1200" cap="none" spc="0" normalizeH="0" baseline="0" noProof="0" smtClean="0">
                <a:ln>
                  <a:noFill/>
                </a:ln>
                <a:solidFill>
                  <a:srgbClr val="29272D">
                    <a:tint val="75000"/>
                  </a:srgbClr>
                </a:solidFill>
                <a:effectLst/>
                <a:uLnTx/>
                <a:uFillTx/>
                <a:latin typeface="Ancizar Sans Light"/>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a:t>
            </a:fld>
            <a:endParaRPr kumimoji="0" lang="es-CO" sz="900" b="0" i="0" u="none" strike="noStrike" kern="1200" cap="none" spc="0" normalizeH="0" baseline="0" noProof="0" dirty="0">
              <a:ln>
                <a:noFill/>
              </a:ln>
              <a:solidFill>
                <a:srgbClr val="29272D">
                  <a:tint val="75000"/>
                </a:srgbClr>
              </a:solidFill>
              <a:effectLst/>
              <a:uLnTx/>
              <a:uFillTx/>
              <a:latin typeface="Ancizar Sans Light"/>
              <a:ea typeface="+mn-ea"/>
              <a:cs typeface="+mn-cs"/>
            </a:endParaRPr>
          </a:p>
        </p:txBody>
      </p:sp>
      <p:pic>
        <p:nvPicPr>
          <p:cNvPr id="2" name="Imagen 1">
            <a:extLst>
              <a:ext uri="{FF2B5EF4-FFF2-40B4-BE49-F238E27FC236}">
                <a16:creationId xmlns:a16="http://schemas.microsoft.com/office/drawing/2014/main" id="{0D48B94B-B499-ED44-7FEC-D06DF8B72665}"/>
              </a:ext>
            </a:extLst>
          </p:cNvPr>
          <p:cNvPicPr>
            <a:picLocks noChangeAspect="1"/>
          </p:cNvPicPr>
          <p:nvPr/>
        </p:nvPicPr>
        <p:blipFill>
          <a:blip r:embed="rId3"/>
          <a:srcRect/>
          <a:stretch/>
        </p:blipFill>
        <p:spPr>
          <a:xfrm>
            <a:off x="4713953" y="1706203"/>
            <a:ext cx="1440000" cy="1440000"/>
          </a:xfrm>
          <a:prstGeom prst="rect">
            <a:avLst/>
          </a:prstGeom>
        </p:spPr>
      </p:pic>
    </p:spTree>
    <p:extLst>
      <p:ext uri="{BB962C8B-B14F-4D97-AF65-F5344CB8AC3E}">
        <p14:creationId xmlns:p14="http://schemas.microsoft.com/office/powerpoint/2010/main" val="469324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ABBA-229E-C60E-5B8B-B1369B97E6AF}"/>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A8CA1C32-8B64-51D1-5539-3F65F2602F74}"/>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94192E7E-984C-9064-FFED-D8000835799D}"/>
              </a:ext>
            </a:extLst>
          </p:cNvPr>
          <p:cNvSpPr>
            <a:spLocks noGrp="1"/>
          </p:cNvSpPr>
          <p:nvPr>
            <p:ph type="sldNum" sz="quarter" idx="12"/>
          </p:nvPr>
        </p:nvSpPr>
        <p:spPr/>
        <p:txBody>
          <a:bodyPr/>
          <a:lstStyle/>
          <a:p>
            <a:fld id="{90BC2BA4-81C0-F544-BD72-C8CB9DA7C802}" type="slidenum">
              <a:rPr lang="es-ES" smtClean="0"/>
              <a:pPr/>
              <a:t>5</a:t>
            </a:fld>
            <a:endParaRPr lang="es-ES" dirty="0"/>
          </a:p>
        </p:txBody>
      </p:sp>
      <p:sp>
        <p:nvSpPr>
          <p:cNvPr id="8" name="Título 1">
            <a:extLst>
              <a:ext uri="{FF2B5EF4-FFF2-40B4-BE49-F238E27FC236}">
                <a16:creationId xmlns:a16="http://schemas.microsoft.com/office/drawing/2014/main" id="{C1E9C3B7-141D-E824-4049-F12B53487D95}"/>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Variables</a:t>
            </a:r>
            <a:endParaRPr lang="es-CO" sz="3200" noProof="0" dirty="0">
              <a:solidFill>
                <a:schemeClr val="accent1"/>
              </a:solidFill>
              <a:latin typeface="Ancizar Serif Extrabold" panose="020A0902070300000003" pitchFamily="18" charset="0"/>
              <a:cs typeface="Ancizar Sans Extrabold"/>
            </a:endParaRPr>
          </a:p>
        </p:txBody>
      </p:sp>
      <p:sp>
        <p:nvSpPr>
          <p:cNvPr id="11" name="Título 1">
            <a:extLst>
              <a:ext uri="{FF2B5EF4-FFF2-40B4-BE49-F238E27FC236}">
                <a16:creationId xmlns:a16="http://schemas.microsoft.com/office/drawing/2014/main" id="{40859A9B-BCF2-A725-7DD5-2CFF20E55D8A}"/>
              </a:ext>
            </a:extLst>
          </p:cNvPr>
          <p:cNvSpPr txBox="1">
            <a:spLocks/>
          </p:cNvSpPr>
          <p:nvPr/>
        </p:nvSpPr>
        <p:spPr>
          <a:xfrm>
            <a:off x="316003" y="746514"/>
            <a:ext cx="2707415"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Variables del modelo</a:t>
            </a:r>
            <a:endParaRPr lang="es-ES" sz="1400" spc="300" dirty="0">
              <a:solidFill>
                <a:schemeClr val="accent1"/>
              </a:solidFill>
              <a:latin typeface="Ancizar Sans" panose="020B0602040300000003" pitchFamily="34" charset="0"/>
              <a:cs typeface="Ancizar Serif"/>
            </a:endParaRPr>
          </a:p>
        </p:txBody>
      </p:sp>
      <p:sp>
        <p:nvSpPr>
          <p:cNvPr id="13" name="Rectángulo 12">
            <a:extLst>
              <a:ext uri="{FF2B5EF4-FFF2-40B4-BE49-F238E27FC236}">
                <a16:creationId xmlns:a16="http://schemas.microsoft.com/office/drawing/2014/main" id="{2992CE05-35C6-0D2B-5FBC-7CAA30A2DA79}"/>
              </a:ext>
            </a:extLst>
          </p:cNvPr>
          <p:cNvSpPr/>
          <p:nvPr/>
        </p:nvSpPr>
        <p:spPr>
          <a:xfrm>
            <a:off x="481878" y="1112219"/>
            <a:ext cx="3905956" cy="3161645"/>
          </a:xfrm>
          <a:prstGeom prst="rect">
            <a:avLst/>
          </a:prstGeom>
          <a:solidFill>
            <a:srgbClr val="4A095A">
              <a:alpha val="5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
        <p:nvSpPr>
          <p:cNvPr id="15" name="CuadroTexto 14">
            <a:extLst>
              <a:ext uri="{FF2B5EF4-FFF2-40B4-BE49-F238E27FC236}">
                <a16:creationId xmlns:a16="http://schemas.microsoft.com/office/drawing/2014/main" id="{D3D11B5E-046D-9673-4E32-7EBB46903C05}"/>
              </a:ext>
            </a:extLst>
          </p:cNvPr>
          <p:cNvSpPr txBox="1"/>
          <p:nvPr/>
        </p:nvSpPr>
        <p:spPr>
          <a:xfrm>
            <a:off x="594363" y="1249794"/>
            <a:ext cx="3628741" cy="2800767"/>
          </a:xfrm>
          <a:prstGeom prst="rect">
            <a:avLst/>
          </a:prstGeom>
          <a:noFill/>
        </p:spPr>
        <p:txBody>
          <a:bodyPr wrap="square" rtlCol="0">
            <a:spAutoFit/>
          </a:bodyPr>
          <a:lstStyle/>
          <a:p>
            <a:r>
              <a:rPr lang="es-CO" b="1" dirty="0">
                <a:solidFill>
                  <a:srgbClr val="FFFFFF"/>
                </a:solidFill>
              </a:rPr>
              <a:t>Variable dependiente</a:t>
            </a:r>
          </a:p>
          <a:p>
            <a:endParaRPr lang="es-CO" sz="800" dirty="0">
              <a:solidFill>
                <a:srgbClr val="FFFFFF"/>
              </a:solidFill>
            </a:endParaRPr>
          </a:p>
          <a:p>
            <a:r>
              <a:rPr lang="es-CO" sz="1200" b="1" dirty="0">
                <a:solidFill>
                  <a:srgbClr val="FFFFFF"/>
                </a:solidFill>
              </a:rPr>
              <a:t>Y</a:t>
            </a:r>
            <a:r>
              <a:rPr lang="es-CO" sz="1200" dirty="0">
                <a:solidFill>
                  <a:srgbClr val="FFFFFF"/>
                </a:solidFill>
              </a:rPr>
              <a:t> = log de la densidad de movimientos en masa en los barrios de Medellín</a:t>
            </a:r>
          </a:p>
          <a:p>
            <a:endParaRPr lang="es-CO" sz="1200" dirty="0">
              <a:solidFill>
                <a:srgbClr val="FFFFFF"/>
              </a:solidFill>
            </a:endParaRPr>
          </a:p>
          <a:p>
            <a:r>
              <a:rPr lang="es-CO" b="1" dirty="0">
                <a:solidFill>
                  <a:srgbClr val="FFFFFF"/>
                </a:solidFill>
              </a:rPr>
              <a:t>Variables Condicionantes</a:t>
            </a:r>
          </a:p>
          <a:p>
            <a:endParaRPr lang="es-CO" sz="800" dirty="0">
              <a:solidFill>
                <a:srgbClr val="FFFFFF"/>
              </a:solidFill>
            </a:endParaRPr>
          </a:p>
          <a:p>
            <a:r>
              <a:rPr lang="es-CO" sz="1100" b="1" dirty="0">
                <a:solidFill>
                  <a:srgbClr val="FFFFFF"/>
                </a:solidFill>
              </a:rPr>
              <a:t>X1</a:t>
            </a:r>
            <a:r>
              <a:rPr lang="es-CO" sz="1100" dirty="0">
                <a:solidFill>
                  <a:srgbClr val="FFFFFF"/>
                </a:solidFill>
              </a:rPr>
              <a:t> = Porcentaje de territorio artificializado por barrio</a:t>
            </a:r>
          </a:p>
          <a:p>
            <a:r>
              <a:rPr lang="es-CO" sz="1100" b="1" dirty="0">
                <a:solidFill>
                  <a:srgbClr val="FFFFFF"/>
                </a:solidFill>
              </a:rPr>
              <a:t>X2</a:t>
            </a:r>
            <a:r>
              <a:rPr lang="es-CO" sz="1100" dirty="0">
                <a:solidFill>
                  <a:srgbClr val="FFFFFF"/>
                </a:solidFill>
              </a:rPr>
              <a:t> = Porcentaje de depósitos aluviales y/o coluviales por barrio</a:t>
            </a:r>
          </a:p>
          <a:p>
            <a:r>
              <a:rPr lang="es-CO" sz="1100" b="1" dirty="0">
                <a:solidFill>
                  <a:srgbClr val="FFFFFF"/>
                </a:solidFill>
              </a:rPr>
              <a:t>X3</a:t>
            </a:r>
            <a:r>
              <a:rPr lang="es-CO" sz="1100" dirty="0">
                <a:solidFill>
                  <a:srgbClr val="FFFFFF"/>
                </a:solidFill>
              </a:rPr>
              <a:t> = Porcentaje de litología tipo Dunita por barrio</a:t>
            </a:r>
          </a:p>
          <a:p>
            <a:r>
              <a:rPr lang="es-CO" sz="1100" b="1" dirty="0">
                <a:solidFill>
                  <a:srgbClr val="FFFFFF"/>
                </a:solidFill>
              </a:rPr>
              <a:t>X4</a:t>
            </a:r>
            <a:r>
              <a:rPr lang="es-CO" sz="1100" dirty="0">
                <a:solidFill>
                  <a:srgbClr val="FFFFFF"/>
                </a:solidFill>
              </a:rPr>
              <a:t> = Pendiente media por barrio</a:t>
            </a:r>
          </a:p>
          <a:p>
            <a:endParaRPr lang="es-CO" sz="1100" dirty="0">
              <a:solidFill>
                <a:srgbClr val="FFFFFF"/>
              </a:solidFill>
            </a:endParaRPr>
          </a:p>
          <a:p>
            <a:r>
              <a:rPr lang="es-CO" sz="1100" dirty="0">
                <a:solidFill>
                  <a:srgbClr val="FFFFFF"/>
                </a:solidFill>
              </a:rPr>
              <a:t>Adicionalmente, para este ejercicio se incluyeron las coordenadas X e Y correspondientes a los centroides  de cada barrio como predictoras</a:t>
            </a:r>
          </a:p>
        </p:txBody>
      </p:sp>
      <p:sp>
        <p:nvSpPr>
          <p:cNvPr id="17" name="Rectángulo: esquinas redondeadas 16">
            <a:extLst>
              <a:ext uri="{FF2B5EF4-FFF2-40B4-BE49-F238E27FC236}">
                <a16:creationId xmlns:a16="http://schemas.microsoft.com/office/drawing/2014/main" id="{9C9FF01B-7F95-9879-DAE6-A4A76C73C9AB}"/>
              </a:ext>
            </a:extLst>
          </p:cNvPr>
          <p:cNvSpPr/>
          <p:nvPr/>
        </p:nvSpPr>
        <p:spPr>
          <a:xfrm>
            <a:off x="5113781" y="1014849"/>
            <a:ext cx="3104530" cy="1268185"/>
          </a:xfrm>
          <a:prstGeom prst="roundRect">
            <a:avLst/>
          </a:prstGeom>
          <a:solidFill>
            <a:schemeClr val="accent2">
              <a:lumMod val="60000"/>
              <a:lumOff val="4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050" b="1" dirty="0">
                <a:solidFill>
                  <a:srgbClr val="000000"/>
                </a:solidFill>
              </a:rPr>
              <a:t>Para la construcción de los modelos mediante Procesos Gaussianos, las observaciones totales (348) se dividieron en 2 grupos, uno para el entrenamiento (75%) y el resto para la validación</a:t>
            </a:r>
            <a:endParaRPr lang="es-CO" sz="700" b="1" dirty="0">
              <a:solidFill>
                <a:srgbClr val="000000"/>
              </a:solidFill>
            </a:endParaRPr>
          </a:p>
        </p:txBody>
      </p:sp>
      <p:pic>
        <p:nvPicPr>
          <p:cNvPr id="19" name="Imagen 18" descr="conjunto de datos ">
            <a:extLst>
              <a:ext uri="{FF2B5EF4-FFF2-40B4-BE49-F238E27FC236}">
                <a16:creationId xmlns:a16="http://schemas.microsoft.com/office/drawing/2014/main" id="{9F70A273-03A1-620A-C9A5-208417641DC3}"/>
              </a:ext>
            </a:extLst>
          </p:cNvPr>
          <p:cNvPicPr>
            <a:picLocks noChangeAspect="1"/>
          </p:cNvPicPr>
          <p:nvPr/>
        </p:nvPicPr>
        <p:blipFill>
          <a:blip r:embed="rId3"/>
          <a:stretch>
            <a:fillRect/>
          </a:stretch>
        </p:blipFill>
        <p:spPr>
          <a:xfrm>
            <a:off x="5503346" y="2453125"/>
            <a:ext cx="1928284" cy="1928284"/>
          </a:xfrm>
          <a:prstGeom prst="rect">
            <a:avLst/>
          </a:prstGeom>
        </p:spPr>
      </p:pic>
      <p:sp>
        <p:nvSpPr>
          <p:cNvPr id="20" name="Rectángulo 19">
            <a:extLst>
              <a:ext uri="{FF2B5EF4-FFF2-40B4-BE49-F238E27FC236}">
                <a16:creationId xmlns:a16="http://schemas.microsoft.com/office/drawing/2014/main" id="{12F93763-19C7-8BFF-0EB6-DC9B7FE4C545}"/>
              </a:ext>
            </a:extLst>
          </p:cNvPr>
          <p:cNvSpPr/>
          <p:nvPr/>
        </p:nvSpPr>
        <p:spPr>
          <a:xfrm>
            <a:off x="6933643" y="3206044"/>
            <a:ext cx="675068" cy="541867"/>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186440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4A07012-7663-C59F-B212-85C24A2153A5}"/>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1E7DAC6B-826D-B760-3233-D8380B50E3A5}"/>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CBC81F0F-7F38-5E3C-3E8C-552D5841F618}"/>
              </a:ext>
            </a:extLst>
          </p:cNvPr>
          <p:cNvSpPr>
            <a:spLocks noGrp="1"/>
          </p:cNvSpPr>
          <p:nvPr>
            <p:ph type="sldNum" sz="quarter" idx="12"/>
          </p:nvPr>
        </p:nvSpPr>
        <p:spPr/>
        <p:txBody>
          <a:bodyPr/>
          <a:lstStyle/>
          <a:p>
            <a:fld id="{90BC2BA4-81C0-F544-BD72-C8CB9DA7C802}" type="slidenum">
              <a:rPr lang="es-CO" noProof="0" smtClean="0"/>
              <a:pPr/>
              <a:t>6</a:t>
            </a:fld>
            <a:endParaRPr lang="es-CO" noProof="0" dirty="0"/>
          </a:p>
        </p:txBody>
      </p:sp>
      <p:sp>
        <p:nvSpPr>
          <p:cNvPr id="21" name="Título 1">
            <a:extLst>
              <a:ext uri="{FF2B5EF4-FFF2-40B4-BE49-F238E27FC236}">
                <a16:creationId xmlns:a16="http://schemas.microsoft.com/office/drawing/2014/main" id="{8C490BEB-B558-A4A6-CE89-EA1370BD415E}"/>
              </a:ext>
            </a:extLst>
          </p:cNvPr>
          <p:cNvSpPr txBox="1">
            <a:spLocks/>
          </p:cNvSpPr>
          <p:nvPr/>
        </p:nvSpPr>
        <p:spPr>
          <a:xfrm>
            <a:off x="2730878" y="2138253"/>
            <a:ext cx="1983075"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Modelos</a:t>
            </a:r>
          </a:p>
        </p:txBody>
      </p:sp>
      <p:pic>
        <p:nvPicPr>
          <p:cNvPr id="23" name="Imagen 22" descr="modelos predictivos ">
            <a:extLst>
              <a:ext uri="{FF2B5EF4-FFF2-40B4-BE49-F238E27FC236}">
                <a16:creationId xmlns:a16="http://schemas.microsoft.com/office/drawing/2014/main" id="{9060D2DF-1701-6147-5407-AED1D5376D29}"/>
              </a:ext>
            </a:extLst>
          </p:cNvPr>
          <p:cNvPicPr>
            <a:picLocks noChangeAspect="1"/>
          </p:cNvPicPr>
          <p:nvPr/>
        </p:nvPicPr>
        <p:blipFill>
          <a:blip r:embed="rId3"/>
          <a:stretch>
            <a:fillRect/>
          </a:stretch>
        </p:blipFill>
        <p:spPr>
          <a:xfrm>
            <a:off x="4713953" y="1706203"/>
            <a:ext cx="1440000" cy="1440000"/>
          </a:xfrm>
          <a:prstGeom prst="rect">
            <a:avLst/>
          </a:prstGeom>
        </p:spPr>
      </p:pic>
    </p:spTree>
    <p:extLst>
      <p:ext uri="{BB962C8B-B14F-4D97-AF65-F5344CB8AC3E}">
        <p14:creationId xmlns:p14="http://schemas.microsoft.com/office/powerpoint/2010/main" val="959093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08725-71B8-C4DF-1171-699A74C29234}"/>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1FE704A-AD4C-1CE1-BDF9-0D8D5A8BE726}"/>
              </a:ext>
            </a:extLst>
          </p:cNvPr>
          <p:cNvSpPr>
            <a:spLocks noGrp="1"/>
          </p:cNvSpPr>
          <p:nvPr>
            <p:ph type="sldNum" sz="quarter" idx="12"/>
          </p:nvPr>
        </p:nvSpPr>
        <p:spPr/>
        <p:txBody>
          <a:bodyPr/>
          <a:lstStyle/>
          <a:p>
            <a:r>
              <a:rPr lang="es-ES" dirty="0"/>
              <a:t>Página </a:t>
            </a:r>
            <a:fld id="{90BC2BA4-81C0-F544-BD72-C8CB9DA7C802}" type="slidenum">
              <a:rPr lang="es-ES" smtClean="0"/>
              <a:pPr/>
              <a:t>7</a:t>
            </a:fld>
            <a:r>
              <a:rPr lang="es-ES" dirty="0"/>
              <a:t> </a:t>
            </a:r>
          </a:p>
        </p:txBody>
      </p:sp>
      <p:sp>
        <p:nvSpPr>
          <p:cNvPr id="7" name="Título 1">
            <a:extLst>
              <a:ext uri="{FF2B5EF4-FFF2-40B4-BE49-F238E27FC236}">
                <a16:creationId xmlns:a16="http://schemas.microsoft.com/office/drawing/2014/main" id="{3727E916-8A2D-0008-6D7F-C08697252100}"/>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Procesos Gaussianos</a:t>
            </a:r>
            <a:endParaRPr lang="es-CO" sz="3200" noProof="0" dirty="0">
              <a:solidFill>
                <a:schemeClr val="accent1"/>
              </a:solidFill>
              <a:latin typeface="Ancizar Serif Extrabold" panose="020A0902070300000003" pitchFamily="18" charset="0"/>
              <a:cs typeface="Ancizar Sans Extrabold"/>
            </a:endParaRPr>
          </a:p>
        </p:txBody>
      </p:sp>
      <p:sp>
        <p:nvSpPr>
          <p:cNvPr id="11" name="Título 1">
            <a:extLst>
              <a:ext uri="{FF2B5EF4-FFF2-40B4-BE49-F238E27FC236}">
                <a16:creationId xmlns:a16="http://schemas.microsoft.com/office/drawing/2014/main" id="{55253F09-073F-FBC8-8E8C-06D6ED36EE10}"/>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RBF</a:t>
            </a:r>
            <a:endParaRPr lang="es-ES" sz="1400" spc="300" dirty="0">
              <a:solidFill>
                <a:schemeClr val="accent1"/>
              </a:solidFill>
              <a:latin typeface="Ancizar Sans" panose="020B0602040300000003" pitchFamily="34" charset="0"/>
              <a:cs typeface="Ancizar Serif"/>
            </a:endParaRPr>
          </a:p>
        </p:txBody>
      </p:sp>
      <p:sp>
        <p:nvSpPr>
          <p:cNvPr id="16" name="Título 1">
            <a:extLst>
              <a:ext uri="{FF2B5EF4-FFF2-40B4-BE49-F238E27FC236}">
                <a16:creationId xmlns:a16="http://schemas.microsoft.com/office/drawing/2014/main" id="{5FB047F5-BD49-C228-A2FD-A743E1305A9E}"/>
              </a:ext>
            </a:extLst>
          </p:cNvPr>
          <p:cNvSpPr txBox="1">
            <a:spLocks/>
          </p:cNvSpPr>
          <p:nvPr/>
        </p:nvSpPr>
        <p:spPr>
          <a:xfrm>
            <a:off x="881035" y="1636506"/>
            <a:ext cx="228954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100" b="1" dirty="0">
                <a:solidFill>
                  <a:schemeClr val="tx2"/>
                </a:solidFill>
                <a:ea typeface="+mn-ea"/>
                <a:cs typeface="+mn-cs"/>
              </a:rPr>
              <a:t>Modelo con variables ambientales</a:t>
            </a:r>
            <a:endParaRPr lang="es-ES" sz="1100" b="1" dirty="0">
              <a:solidFill>
                <a:schemeClr val="tx2"/>
              </a:solidFill>
              <a:ea typeface="+mn-ea"/>
              <a:cs typeface="+mn-cs"/>
            </a:endParaRPr>
          </a:p>
        </p:txBody>
      </p:sp>
      <p:pic>
        <p:nvPicPr>
          <p:cNvPr id="10" name="Imagen 9">
            <a:extLst>
              <a:ext uri="{FF2B5EF4-FFF2-40B4-BE49-F238E27FC236}">
                <a16:creationId xmlns:a16="http://schemas.microsoft.com/office/drawing/2014/main" id="{7F9CE44D-D546-304F-2ED6-252D3808F1B5}"/>
              </a:ext>
            </a:extLst>
          </p:cNvPr>
          <p:cNvPicPr>
            <a:picLocks noChangeAspect="1"/>
          </p:cNvPicPr>
          <p:nvPr/>
        </p:nvPicPr>
        <p:blipFill>
          <a:blip r:embed="rId3"/>
          <a:stretch>
            <a:fillRect/>
          </a:stretch>
        </p:blipFill>
        <p:spPr>
          <a:xfrm>
            <a:off x="3961122" y="1237766"/>
            <a:ext cx="2520000" cy="2520000"/>
          </a:xfrm>
          <a:prstGeom prst="rect">
            <a:avLst/>
          </a:prstGeom>
        </p:spPr>
      </p:pic>
      <p:pic>
        <p:nvPicPr>
          <p:cNvPr id="15" name="Imagen 14">
            <a:extLst>
              <a:ext uri="{FF2B5EF4-FFF2-40B4-BE49-F238E27FC236}">
                <a16:creationId xmlns:a16="http://schemas.microsoft.com/office/drawing/2014/main" id="{E5E0AF1D-5C6A-B486-2650-5F15AA22FFF1}"/>
              </a:ext>
            </a:extLst>
          </p:cNvPr>
          <p:cNvPicPr>
            <a:picLocks noChangeAspect="1"/>
          </p:cNvPicPr>
          <p:nvPr/>
        </p:nvPicPr>
        <p:blipFill>
          <a:blip r:embed="rId4"/>
          <a:stretch>
            <a:fillRect/>
          </a:stretch>
        </p:blipFill>
        <p:spPr>
          <a:xfrm>
            <a:off x="6534529" y="1230786"/>
            <a:ext cx="2520000" cy="2520000"/>
          </a:xfrm>
          <a:prstGeom prst="rect">
            <a:avLst/>
          </a:prstGeom>
        </p:spPr>
      </p:pic>
      <p:graphicFrame>
        <p:nvGraphicFramePr>
          <p:cNvPr id="17" name="Tabla 16">
            <a:extLst>
              <a:ext uri="{FF2B5EF4-FFF2-40B4-BE49-F238E27FC236}">
                <a16:creationId xmlns:a16="http://schemas.microsoft.com/office/drawing/2014/main" id="{CD87F02B-5163-63D5-7EA8-E46660CE112B}"/>
              </a:ext>
            </a:extLst>
          </p:cNvPr>
          <p:cNvGraphicFramePr>
            <a:graphicFrameLocks noGrp="1"/>
          </p:cNvGraphicFramePr>
          <p:nvPr>
            <p:extLst>
              <p:ext uri="{D42A27DB-BD31-4B8C-83A1-F6EECF244321}">
                <p14:modId xmlns:p14="http://schemas.microsoft.com/office/powerpoint/2010/main" val="2445554459"/>
              </p:ext>
            </p:extLst>
          </p:nvPr>
        </p:nvGraphicFramePr>
        <p:xfrm>
          <a:off x="399408" y="3035377"/>
          <a:ext cx="3256145" cy="323850"/>
        </p:xfrm>
        <a:graphic>
          <a:graphicData uri="http://schemas.openxmlformats.org/drawingml/2006/table">
            <a:tbl>
              <a:tblPr>
                <a:tableStyleId>{5C22544A-7EE6-4342-B048-85BDC9FD1C3A}</a:tableStyleId>
              </a:tblPr>
              <a:tblGrid>
                <a:gridCol w="542642">
                  <a:extLst>
                    <a:ext uri="{9D8B030D-6E8A-4147-A177-3AD203B41FA5}">
                      <a16:colId xmlns:a16="http://schemas.microsoft.com/office/drawing/2014/main" val="236826491"/>
                    </a:ext>
                  </a:extLst>
                </a:gridCol>
                <a:gridCol w="880137">
                  <a:extLst>
                    <a:ext uri="{9D8B030D-6E8A-4147-A177-3AD203B41FA5}">
                      <a16:colId xmlns:a16="http://schemas.microsoft.com/office/drawing/2014/main" val="771085894"/>
                    </a:ext>
                  </a:extLst>
                </a:gridCol>
                <a:gridCol w="812208">
                  <a:extLst>
                    <a:ext uri="{9D8B030D-6E8A-4147-A177-3AD203B41FA5}">
                      <a16:colId xmlns:a16="http://schemas.microsoft.com/office/drawing/2014/main" val="2358340473"/>
                    </a:ext>
                  </a:extLst>
                </a:gridCol>
                <a:gridCol w="510579">
                  <a:extLst>
                    <a:ext uri="{9D8B030D-6E8A-4147-A177-3AD203B41FA5}">
                      <a16:colId xmlns:a16="http://schemas.microsoft.com/office/drawing/2014/main" val="3493157911"/>
                    </a:ext>
                  </a:extLst>
                </a:gridCol>
                <a:gridCol w="510579">
                  <a:extLst>
                    <a:ext uri="{9D8B030D-6E8A-4147-A177-3AD203B41FA5}">
                      <a16:colId xmlns:a16="http://schemas.microsoft.com/office/drawing/2014/main" val="1005831344"/>
                    </a:ext>
                  </a:extLst>
                </a:gridCol>
              </a:tblGrid>
              <a:tr h="136922">
                <a:tc>
                  <a:txBody>
                    <a:bodyPr/>
                    <a:lstStyle/>
                    <a:p>
                      <a:pPr algn="l" fontAlgn="b">
                        <a:buNone/>
                      </a:pPr>
                      <a:r>
                        <a:rPr lang="es-CO" sz="1000" u="none" strike="noStrike" dirty="0">
                          <a:effectLst/>
                        </a:rPr>
                        <a:t>Kernel</a:t>
                      </a:r>
                      <a:endParaRPr lang="es-CO" sz="1000" b="0" i="0" u="none" strike="noStrike" dirty="0">
                        <a:solidFill>
                          <a:srgbClr val="000000"/>
                        </a:solidFill>
                        <a:effectLst/>
                        <a:latin typeface="Aptos Narrow" panose="020B0004020202020204" pitchFamily="34" charset="0"/>
                      </a:endParaRPr>
                    </a:p>
                  </a:txBody>
                  <a:tcPr marL="9525" marR="9525" marT="9525" marB="0" anchor="b">
                    <a:solidFill>
                      <a:schemeClr val="tx2">
                        <a:lumMod val="40000"/>
                        <a:lumOff val="60000"/>
                      </a:schemeClr>
                    </a:solidFill>
                  </a:tcPr>
                </a:tc>
                <a:tc>
                  <a:txBody>
                    <a:bodyPr/>
                    <a:lstStyle/>
                    <a:p>
                      <a:pPr algn="ctr" fontAlgn="ctr">
                        <a:buNone/>
                      </a:pPr>
                      <a:r>
                        <a:rPr lang="es-CO" sz="1000" u="none" strike="noStrike" dirty="0">
                          <a:effectLst/>
                        </a:rPr>
                        <a:t>RMSE</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00" u="none" strike="noStrike" dirty="0">
                          <a:effectLst/>
                        </a:rPr>
                        <a:t>MAE</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00" u="none" strike="noStrike" dirty="0">
                          <a:effectLst/>
                        </a:rPr>
                        <a:t>R²</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00" u="none" strike="noStrike" dirty="0">
                          <a:effectLst/>
                        </a:rPr>
                        <a:t>LogLik</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4226153648"/>
                  </a:ext>
                </a:extLst>
              </a:tr>
              <a:tr h="136922">
                <a:tc>
                  <a:txBody>
                    <a:bodyPr/>
                    <a:lstStyle/>
                    <a:p>
                      <a:pPr algn="l" fontAlgn="b">
                        <a:buNone/>
                      </a:pPr>
                      <a:r>
                        <a:rPr lang="es-CO" sz="1000" u="none" strike="noStrike">
                          <a:effectLst/>
                        </a:rPr>
                        <a:t>RBF</a:t>
                      </a:r>
                      <a:endParaRPr lang="es-CO" sz="10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000" u="none" strike="noStrike">
                          <a:effectLst/>
                        </a:rPr>
                        <a:t>1,059</a:t>
                      </a:r>
                      <a:endParaRPr lang="es-CO" sz="1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00" u="none" strike="noStrike">
                          <a:effectLst/>
                        </a:rPr>
                        <a:t>0,786</a:t>
                      </a:r>
                      <a:endParaRPr lang="es-CO" sz="1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00" u="none" strike="noStrike" dirty="0">
                          <a:effectLst/>
                        </a:rPr>
                        <a:t>0,524</a:t>
                      </a:r>
                      <a:endParaRPr lang="es-CO" sz="1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00" u="none" strike="noStrike" dirty="0">
                          <a:effectLst/>
                        </a:rPr>
                        <a:t>-647,821</a:t>
                      </a:r>
                      <a:endParaRPr lang="es-CO" sz="10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282305903"/>
                  </a:ext>
                </a:extLst>
              </a:tr>
            </a:tbl>
          </a:graphicData>
        </a:graphic>
      </p:graphicFrame>
      <p:graphicFrame>
        <p:nvGraphicFramePr>
          <p:cNvPr id="19" name="Tabla 18">
            <a:extLst>
              <a:ext uri="{FF2B5EF4-FFF2-40B4-BE49-F238E27FC236}">
                <a16:creationId xmlns:a16="http://schemas.microsoft.com/office/drawing/2014/main" id="{CDA0E4B8-5078-DEA3-7FE8-E90C601B0C9C}"/>
              </a:ext>
            </a:extLst>
          </p:cNvPr>
          <p:cNvGraphicFramePr>
            <a:graphicFrameLocks noGrp="1"/>
          </p:cNvGraphicFramePr>
          <p:nvPr>
            <p:extLst>
              <p:ext uri="{D42A27DB-BD31-4B8C-83A1-F6EECF244321}">
                <p14:modId xmlns:p14="http://schemas.microsoft.com/office/powerpoint/2010/main" val="3572522823"/>
              </p:ext>
            </p:extLst>
          </p:nvPr>
        </p:nvGraphicFramePr>
        <p:xfrm>
          <a:off x="397734" y="2004447"/>
          <a:ext cx="3256146" cy="381000"/>
        </p:xfrm>
        <a:graphic>
          <a:graphicData uri="http://schemas.openxmlformats.org/drawingml/2006/table">
            <a:tbl>
              <a:tblPr>
                <a:tableStyleId>{5C22544A-7EE6-4342-B048-85BDC9FD1C3A}</a:tableStyleId>
              </a:tblPr>
              <a:tblGrid>
                <a:gridCol w="543445">
                  <a:extLst>
                    <a:ext uri="{9D8B030D-6E8A-4147-A177-3AD203B41FA5}">
                      <a16:colId xmlns:a16="http://schemas.microsoft.com/office/drawing/2014/main" val="1342367520"/>
                    </a:ext>
                  </a:extLst>
                </a:gridCol>
                <a:gridCol w="886479">
                  <a:extLst>
                    <a:ext uri="{9D8B030D-6E8A-4147-A177-3AD203B41FA5}">
                      <a16:colId xmlns:a16="http://schemas.microsoft.com/office/drawing/2014/main" val="3762923069"/>
                    </a:ext>
                  </a:extLst>
                </a:gridCol>
                <a:gridCol w="788757">
                  <a:extLst>
                    <a:ext uri="{9D8B030D-6E8A-4147-A177-3AD203B41FA5}">
                      <a16:colId xmlns:a16="http://schemas.microsoft.com/office/drawing/2014/main" val="2665656276"/>
                    </a:ext>
                  </a:extLst>
                </a:gridCol>
                <a:gridCol w="537472">
                  <a:extLst>
                    <a:ext uri="{9D8B030D-6E8A-4147-A177-3AD203B41FA5}">
                      <a16:colId xmlns:a16="http://schemas.microsoft.com/office/drawing/2014/main" val="2917635239"/>
                    </a:ext>
                  </a:extLst>
                </a:gridCol>
                <a:gridCol w="499993">
                  <a:extLst>
                    <a:ext uri="{9D8B030D-6E8A-4147-A177-3AD203B41FA5}">
                      <a16:colId xmlns:a16="http://schemas.microsoft.com/office/drawing/2014/main" val="876660934"/>
                    </a:ext>
                  </a:extLst>
                </a:gridCol>
              </a:tblGrid>
              <a:tr h="190500">
                <a:tc>
                  <a:txBody>
                    <a:bodyPr/>
                    <a:lstStyle/>
                    <a:p>
                      <a:pPr algn="l" fontAlgn="b">
                        <a:buNone/>
                      </a:pPr>
                      <a:r>
                        <a:rPr lang="es-CO" sz="1000" u="none" strike="noStrike" dirty="0">
                          <a:effectLst/>
                        </a:rPr>
                        <a:t>Kernel</a:t>
                      </a:r>
                      <a:endParaRPr lang="es-CO" sz="1000" b="0" i="0" u="none" strike="noStrike" dirty="0">
                        <a:solidFill>
                          <a:srgbClr val="000000"/>
                        </a:solidFill>
                        <a:effectLst/>
                        <a:latin typeface="Aptos Narrow" panose="020B0004020202020204" pitchFamily="34" charset="0"/>
                      </a:endParaRPr>
                    </a:p>
                  </a:txBody>
                  <a:tcPr marL="9525" marR="9525" marT="9525" marB="0" anchor="b">
                    <a:solidFill>
                      <a:schemeClr val="tx2">
                        <a:lumMod val="40000"/>
                        <a:lumOff val="60000"/>
                      </a:schemeClr>
                    </a:solidFill>
                  </a:tcPr>
                </a:tc>
                <a:tc>
                  <a:txBody>
                    <a:bodyPr/>
                    <a:lstStyle/>
                    <a:p>
                      <a:pPr algn="ctr" fontAlgn="ctr">
                        <a:buNone/>
                      </a:pPr>
                      <a:r>
                        <a:rPr lang="es-CO" sz="1000" u="none" strike="noStrike" dirty="0">
                          <a:effectLst/>
                        </a:rPr>
                        <a:t>RMSE</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00" u="none" strike="noStrike" dirty="0">
                          <a:effectLst/>
                        </a:rPr>
                        <a:t>MAE</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00" u="none" strike="noStrike" dirty="0">
                          <a:effectLst/>
                        </a:rPr>
                        <a:t>R²</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00" u="none" strike="noStrike" dirty="0">
                          <a:effectLst/>
                        </a:rPr>
                        <a:t>LogLik</a:t>
                      </a:r>
                      <a:endParaRPr lang="es-CO" sz="10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3852833603"/>
                  </a:ext>
                </a:extLst>
              </a:tr>
              <a:tr h="190500">
                <a:tc>
                  <a:txBody>
                    <a:bodyPr/>
                    <a:lstStyle/>
                    <a:p>
                      <a:pPr algn="l" fontAlgn="b">
                        <a:buNone/>
                      </a:pPr>
                      <a:r>
                        <a:rPr lang="es-CO" sz="1000" u="none" strike="noStrike">
                          <a:effectLst/>
                        </a:rPr>
                        <a:t>RBF</a:t>
                      </a:r>
                      <a:endParaRPr lang="es-CO" sz="10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000" u="none" strike="noStrike">
                          <a:effectLst/>
                        </a:rPr>
                        <a:t>1,416</a:t>
                      </a:r>
                      <a:endParaRPr lang="es-CO" sz="1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00" u="none" strike="noStrike">
                          <a:effectLst/>
                        </a:rPr>
                        <a:t>1,135</a:t>
                      </a:r>
                      <a:endParaRPr lang="es-CO" sz="1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00" u="none" strike="noStrike">
                          <a:effectLst/>
                        </a:rPr>
                        <a:t>0,151</a:t>
                      </a:r>
                      <a:endParaRPr lang="es-CO" sz="1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00" u="none" strike="noStrike" dirty="0">
                          <a:effectLst/>
                        </a:rPr>
                        <a:t>-349,910</a:t>
                      </a:r>
                      <a:endParaRPr lang="es-CO" sz="10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814645984"/>
                  </a:ext>
                </a:extLst>
              </a:tr>
            </a:tbl>
          </a:graphicData>
        </a:graphic>
      </p:graphicFrame>
      <p:sp>
        <p:nvSpPr>
          <p:cNvPr id="21" name="Título 1">
            <a:extLst>
              <a:ext uri="{FF2B5EF4-FFF2-40B4-BE49-F238E27FC236}">
                <a16:creationId xmlns:a16="http://schemas.microsoft.com/office/drawing/2014/main" id="{60A54AA1-6BD1-7846-E5C8-C5CB2EBC0759}"/>
              </a:ext>
            </a:extLst>
          </p:cNvPr>
          <p:cNvSpPr txBox="1">
            <a:spLocks/>
          </p:cNvSpPr>
          <p:nvPr/>
        </p:nvSpPr>
        <p:spPr>
          <a:xfrm>
            <a:off x="449471" y="2660456"/>
            <a:ext cx="315267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100" b="1" dirty="0">
                <a:solidFill>
                  <a:schemeClr val="tx2"/>
                </a:solidFill>
                <a:ea typeface="+mn-ea"/>
                <a:cs typeface="+mn-cs"/>
              </a:rPr>
              <a:t>Modelo con Variables ambientales y coordenadas</a:t>
            </a:r>
            <a:endParaRPr lang="es-ES" sz="1100" b="1" dirty="0">
              <a:solidFill>
                <a:schemeClr val="tx2"/>
              </a:solidFill>
              <a:ea typeface="+mn-ea"/>
              <a:cs typeface="+mn-cs"/>
            </a:endParaRPr>
          </a:p>
        </p:txBody>
      </p:sp>
    </p:spTree>
    <p:extLst>
      <p:ext uri="{BB962C8B-B14F-4D97-AF65-F5344CB8AC3E}">
        <p14:creationId xmlns:p14="http://schemas.microsoft.com/office/powerpoint/2010/main" val="3603247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41ABBEA-3A81-1120-D395-3FB0DCD2C5A1}"/>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E1D1111A-4B16-92E5-4D2C-F18D48634D63}"/>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9AF04A21-1C1F-C098-DEF3-1A1D0B0108F8}"/>
              </a:ext>
            </a:extLst>
          </p:cNvPr>
          <p:cNvSpPr>
            <a:spLocks noGrp="1"/>
          </p:cNvSpPr>
          <p:nvPr>
            <p:ph type="sldNum" sz="quarter" idx="12"/>
          </p:nvPr>
        </p:nvSpPr>
        <p:spPr/>
        <p:txBody>
          <a:bodyPr/>
          <a:lstStyle/>
          <a:p>
            <a:fld id="{90BC2BA4-81C0-F544-BD72-C8CB9DA7C802}" type="slidenum">
              <a:rPr lang="es-CO" noProof="0" smtClean="0"/>
              <a:pPr/>
              <a:t>8</a:t>
            </a:fld>
            <a:endParaRPr lang="es-CO" noProof="0" dirty="0"/>
          </a:p>
        </p:txBody>
      </p:sp>
      <p:grpSp>
        <p:nvGrpSpPr>
          <p:cNvPr id="7" name="Grupo 6">
            <a:extLst>
              <a:ext uri="{FF2B5EF4-FFF2-40B4-BE49-F238E27FC236}">
                <a16:creationId xmlns:a16="http://schemas.microsoft.com/office/drawing/2014/main" id="{C7FA81A0-4CD2-718E-5FAB-1155E3219952}"/>
              </a:ext>
            </a:extLst>
          </p:cNvPr>
          <p:cNvGrpSpPr>
            <a:grpSpLocks noChangeAspect="1"/>
          </p:cNvGrpSpPr>
          <p:nvPr/>
        </p:nvGrpSpPr>
        <p:grpSpPr>
          <a:xfrm>
            <a:off x="301255" y="2642823"/>
            <a:ext cx="3495868" cy="447978"/>
            <a:chOff x="2185654" y="1930538"/>
            <a:chExt cx="5415734" cy="693999"/>
          </a:xfrm>
        </p:grpSpPr>
        <p:pic>
          <p:nvPicPr>
            <p:cNvPr id="4" name="Imagen 3">
              <a:extLst>
                <a:ext uri="{FF2B5EF4-FFF2-40B4-BE49-F238E27FC236}">
                  <a16:creationId xmlns:a16="http://schemas.microsoft.com/office/drawing/2014/main" id="{C295F235-77F7-A1F3-ECBE-1C027760D63C}"/>
                </a:ext>
              </a:extLst>
            </p:cNvPr>
            <p:cNvPicPr>
              <a:picLocks noChangeAspect="1"/>
            </p:cNvPicPr>
            <p:nvPr/>
          </p:nvPicPr>
          <p:blipFill>
            <a:blip r:embed="rId3"/>
            <a:srcRect b="45671"/>
            <a:stretch>
              <a:fillRect/>
            </a:stretch>
          </p:blipFill>
          <p:spPr>
            <a:xfrm>
              <a:off x="2185654" y="1962065"/>
              <a:ext cx="4772691" cy="662472"/>
            </a:xfrm>
            <a:prstGeom prst="rect">
              <a:avLst/>
            </a:prstGeom>
          </p:spPr>
        </p:pic>
        <p:pic>
          <p:nvPicPr>
            <p:cNvPr id="6" name="Imagen 5">
              <a:extLst>
                <a:ext uri="{FF2B5EF4-FFF2-40B4-BE49-F238E27FC236}">
                  <a16:creationId xmlns:a16="http://schemas.microsoft.com/office/drawing/2014/main" id="{BCF4EEE4-FAA7-E619-4E0F-DA090E10EA36}"/>
                </a:ext>
              </a:extLst>
            </p:cNvPr>
            <p:cNvPicPr>
              <a:picLocks noChangeAspect="1"/>
            </p:cNvPicPr>
            <p:nvPr/>
          </p:nvPicPr>
          <p:blipFill>
            <a:blip r:embed="rId3"/>
            <a:srcRect l="3662" t="52707" r="71621"/>
            <a:stretch>
              <a:fillRect/>
            </a:stretch>
          </p:blipFill>
          <p:spPr>
            <a:xfrm>
              <a:off x="6421742" y="1930538"/>
              <a:ext cx="1179646" cy="576675"/>
            </a:xfrm>
            <a:prstGeom prst="rect">
              <a:avLst/>
            </a:prstGeom>
          </p:spPr>
        </p:pic>
      </p:grpSp>
      <p:sp>
        <p:nvSpPr>
          <p:cNvPr id="11" name="Título 1">
            <a:extLst>
              <a:ext uri="{FF2B5EF4-FFF2-40B4-BE49-F238E27FC236}">
                <a16:creationId xmlns:a16="http://schemas.microsoft.com/office/drawing/2014/main" id="{BCF3233A-D0C6-E894-5DAE-254F34308095}"/>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Procesos Gaussianos</a:t>
            </a:r>
            <a:endParaRPr lang="es-CO" sz="3200" noProof="0" dirty="0">
              <a:solidFill>
                <a:schemeClr val="accent1"/>
              </a:solidFill>
              <a:latin typeface="Ancizar Serif Extrabold" panose="020A0902070300000003" pitchFamily="18" charset="0"/>
              <a:cs typeface="Ancizar Sans Extrabold"/>
            </a:endParaRPr>
          </a:p>
        </p:txBody>
      </p:sp>
      <p:sp>
        <p:nvSpPr>
          <p:cNvPr id="13" name="Título 1">
            <a:extLst>
              <a:ext uri="{FF2B5EF4-FFF2-40B4-BE49-F238E27FC236}">
                <a16:creationId xmlns:a16="http://schemas.microsoft.com/office/drawing/2014/main" id="{181798EC-6B94-42CD-0974-928F1062A40C}"/>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Matérn</a:t>
            </a:r>
            <a:endParaRPr lang="es-ES" sz="1400" spc="300" dirty="0">
              <a:solidFill>
                <a:schemeClr val="accent1"/>
              </a:solidFill>
              <a:latin typeface="Ancizar Sans" panose="020B0602040300000003" pitchFamily="34" charset="0"/>
              <a:cs typeface="Ancizar Serif"/>
            </a:endParaRPr>
          </a:p>
        </p:txBody>
      </p:sp>
      <p:pic>
        <p:nvPicPr>
          <p:cNvPr id="15" name="Imagen 14">
            <a:extLst>
              <a:ext uri="{FF2B5EF4-FFF2-40B4-BE49-F238E27FC236}">
                <a16:creationId xmlns:a16="http://schemas.microsoft.com/office/drawing/2014/main" id="{F1C247C3-E992-634B-5A2D-117F81E9FBF4}"/>
              </a:ext>
            </a:extLst>
          </p:cNvPr>
          <p:cNvPicPr>
            <a:picLocks noChangeAspect="1"/>
          </p:cNvPicPr>
          <p:nvPr/>
        </p:nvPicPr>
        <p:blipFill>
          <a:blip r:embed="rId4"/>
          <a:stretch>
            <a:fillRect/>
          </a:stretch>
        </p:blipFill>
        <p:spPr>
          <a:xfrm>
            <a:off x="567081" y="3126225"/>
            <a:ext cx="2500578" cy="1412244"/>
          </a:xfrm>
          <a:prstGeom prst="rect">
            <a:avLst/>
          </a:prstGeom>
          <a:ln>
            <a:solidFill>
              <a:schemeClr val="tx2"/>
            </a:solidFill>
          </a:ln>
        </p:spPr>
      </p:pic>
      <p:sp>
        <p:nvSpPr>
          <p:cNvPr id="18" name="Rectángulo 17">
            <a:extLst>
              <a:ext uri="{FF2B5EF4-FFF2-40B4-BE49-F238E27FC236}">
                <a16:creationId xmlns:a16="http://schemas.microsoft.com/office/drawing/2014/main" id="{E3900FC7-E4E2-A7F4-A0B3-841405EF6F70}"/>
              </a:ext>
            </a:extLst>
          </p:cNvPr>
          <p:cNvSpPr/>
          <p:nvPr/>
        </p:nvSpPr>
        <p:spPr>
          <a:xfrm>
            <a:off x="224295" y="2766081"/>
            <a:ext cx="3528000" cy="90000"/>
          </a:xfrm>
          <a:prstGeom prst="rect">
            <a:avLst/>
          </a:prstGeom>
          <a:no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20" name="Rectángulo: esquinas redondeadas 19">
            <a:extLst>
              <a:ext uri="{FF2B5EF4-FFF2-40B4-BE49-F238E27FC236}">
                <a16:creationId xmlns:a16="http://schemas.microsoft.com/office/drawing/2014/main" id="{8E1EA7D0-5AA6-FB46-C74C-BBA48DD93389}"/>
              </a:ext>
            </a:extLst>
          </p:cNvPr>
          <p:cNvSpPr/>
          <p:nvPr/>
        </p:nvSpPr>
        <p:spPr>
          <a:xfrm>
            <a:off x="772483" y="2115785"/>
            <a:ext cx="2321597" cy="427627"/>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900" b="1" dirty="0">
                <a:solidFill>
                  <a:srgbClr val="FFFFFF"/>
                </a:solidFill>
              </a:rPr>
              <a:t>El Kernel Matérn con nu de 0.5 muestra los mejores parámetros de ajuste y ajusta mejor que RBF</a:t>
            </a:r>
            <a:endParaRPr lang="es-CO" sz="500" b="1" dirty="0">
              <a:solidFill>
                <a:srgbClr val="FFFFFF"/>
              </a:solidFill>
            </a:endParaRPr>
          </a:p>
        </p:txBody>
      </p:sp>
      <p:pic>
        <p:nvPicPr>
          <p:cNvPr id="22" name="Imagen 21">
            <a:extLst>
              <a:ext uri="{FF2B5EF4-FFF2-40B4-BE49-F238E27FC236}">
                <a16:creationId xmlns:a16="http://schemas.microsoft.com/office/drawing/2014/main" id="{2003C459-3E96-CEE3-BBF2-64FAEB3DA4C0}"/>
              </a:ext>
            </a:extLst>
          </p:cNvPr>
          <p:cNvPicPr>
            <a:picLocks noChangeAspect="1"/>
          </p:cNvPicPr>
          <p:nvPr/>
        </p:nvPicPr>
        <p:blipFill>
          <a:blip r:embed="rId5"/>
          <a:stretch>
            <a:fillRect/>
          </a:stretch>
        </p:blipFill>
        <p:spPr>
          <a:xfrm>
            <a:off x="6502988" y="1300492"/>
            <a:ext cx="2520000" cy="2524278"/>
          </a:xfrm>
          <a:prstGeom prst="rect">
            <a:avLst/>
          </a:prstGeom>
        </p:spPr>
      </p:pic>
      <p:pic>
        <p:nvPicPr>
          <p:cNvPr id="24" name="Imagen 23">
            <a:extLst>
              <a:ext uri="{FF2B5EF4-FFF2-40B4-BE49-F238E27FC236}">
                <a16:creationId xmlns:a16="http://schemas.microsoft.com/office/drawing/2014/main" id="{276E77CB-F7A4-E8A4-F004-16AF6EA11E74}"/>
              </a:ext>
            </a:extLst>
          </p:cNvPr>
          <p:cNvPicPr>
            <a:picLocks noChangeAspect="1"/>
          </p:cNvPicPr>
          <p:nvPr/>
        </p:nvPicPr>
        <p:blipFill>
          <a:blip r:embed="rId6"/>
          <a:stretch>
            <a:fillRect/>
          </a:stretch>
        </p:blipFill>
        <p:spPr>
          <a:xfrm>
            <a:off x="3965664" y="1311750"/>
            <a:ext cx="2520000" cy="2520000"/>
          </a:xfrm>
          <a:prstGeom prst="rect">
            <a:avLst/>
          </a:prstGeom>
        </p:spPr>
      </p:pic>
      <p:grpSp>
        <p:nvGrpSpPr>
          <p:cNvPr id="25" name="Grupo 24">
            <a:extLst>
              <a:ext uri="{FF2B5EF4-FFF2-40B4-BE49-F238E27FC236}">
                <a16:creationId xmlns:a16="http://schemas.microsoft.com/office/drawing/2014/main" id="{1FD2B1B8-A528-F224-3882-E87E0CF9BB0F}"/>
              </a:ext>
            </a:extLst>
          </p:cNvPr>
          <p:cNvGrpSpPr/>
          <p:nvPr/>
        </p:nvGrpSpPr>
        <p:grpSpPr>
          <a:xfrm>
            <a:off x="163206" y="1119235"/>
            <a:ext cx="3605378" cy="449893"/>
            <a:chOff x="103156" y="3296339"/>
            <a:chExt cx="3900807" cy="466228"/>
          </a:xfrm>
        </p:grpSpPr>
        <p:grpSp>
          <p:nvGrpSpPr>
            <p:cNvPr id="26" name="Grupo 25">
              <a:extLst>
                <a:ext uri="{FF2B5EF4-FFF2-40B4-BE49-F238E27FC236}">
                  <a16:creationId xmlns:a16="http://schemas.microsoft.com/office/drawing/2014/main" id="{B5B7AF7B-7CA0-8593-093D-D3F24219969C}"/>
                </a:ext>
              </a:extLst>
            </p:cNvPr>
            <p:cNvGrpSpPr>
              <a:grpSpLocks noChangeAspect="1"/>
            </p:cNvGrpSpPr>
            <p:nvPr/>
          </p:nvGrpSpPr>
          <p:grpSpPr>
            <a:xfrm>
              <a:off x="103156" y="3296339"/>
              <a:ext cx="3887409" cy="443374"/>
              <a:chOff x="4397922" y="684906"/>
              <a:chExt cx="4403521" cy="502239"/>
            </a:xfrm>
          </p:grpSpPr>
          <p:pic>
            <p:nvPicPr>
              <p:cNvPr id="28" name="Imagen 27">
                <a:extLst>
                  <a:ext uri="{FF2B5EF4-FFF2-40B4-BE49-F238E27FC236}">
                    <a16:creationId xmlns:a16="http://schemas.microsoft.com/office/drawing/2014/main" id="{EC43A9E1-8481-287E-475C-E1AD5822951D}"/>
                  </a:ext>
                </a:extLst>
              </p:cNvPr>
              <p:cNvPicPr>
                <a:picLocks noChangeAspect="1"/>
              </p:cNvPicPr>
              <p:nvPr/>
            </p:nvPicPr>
            <p:blipFill>
              <a:blip r:embed="rId7"/>
              <a:srcRect b="63885"/>
              <a:stretch>
                <a:fillRect/>
              </a:stretch>
            </p:blipFill>
            <p:spPr>
              <a:xfrm>
                <a:off x="4397922" y="684906"/>
                <a:ext cx="3900807" cy="478349"/>
              </a:xfrm>
              <a:prstGeom prst="rect">
                <a:avLst/>
              </a:prstGeom>
            </p:spPr>
          </p:pic>
          <p:pic>
            <p:nvPicPr>
              <p:cNvPr id="29" name="Imagen 28">
                <a:extLst>
                  <a:ext uri="{FF2B5EF4-FFF2-40B4-BE49-F238E27FC236}">
                    <a16:creationId xmlns:a16="http://schemas.microsoft.com/office/drawing/2014/main" id="{CBC212B9-24BE-4557-8337-B1A25A474662}"/>
                  </a:ext>
                </a:extLst>
              </p:cNvPr>
              <p:cNvPicPr>
                <a:picLocks noChangeAspect="1"/>
              </p:cNvPicPr>
              <p:nvPr/>
            </p:nvPicPr>
            <p:blipFill>
              <a:blip r:embed="rId7"/>
              <a:srcRect l="4240" t="52669" r="78514" b="10679"/>
              <a:stretch>
                <a:fillRect/>
              </a:stretch>
            </p:blipFill>
            <p:spPr>
              <a:xfrm>
                <a:off x="8143882" y="712631"/>
                <a:ext cx="657561" cy="474514"/>
              </a:xfrm>
              <a:prstGeom prst="rect">
                <a:avLst/>
              </a:prstGeom>
            </p:spPr>
          </p:pic>
        </p:grpSp>
        <p:sp>
          <p:nvSpPr>
            <p:cNvPr id="27" name="Rectángulo 26">
              <a:extLst>
                <a:ext uri="{FF2B5EF4-FFF2-40B4-BE49-F238E27FC236}">
                  <a16:creationId xmlns:a16="http://schemas.microsoft.com/office/drawing/2014/main" id="{F0E01F34-E7DB-F4D0-46FC-502A1A2679D5}"/>
                </a:ext>
              </a:extLst>
            </p:cNvPr>
            <p:cNvSpPr/>
            <p:nvPr/>
          </p:nvSpPr>
          <p:spPr>
            <a:xfrm>
              <a:off x="103156" y="3296339"/>
              <a:ext cx="3900807" cy="466228"/>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grpSp>
      <p:grpSp>
        <p:nvGrpSpPr>
          <p:cNvPr id="37" name="Grupo 36">
            <a:extLst>
              <a:ext uri="{FF2B5EF4-FFF2-40B4-BE49-F238E27FC236}">
                <a16:creationId xmlns:a16="http://schemas.microsoft.com/office/drawing/2014/main" id="{64823B50-BE86-83C1-8E39-704C754440C2}"/>
              </a:ext>
            </a:extLst>
          </p:cNvPr>
          <p:cNvGrpSpPr/>
          <p:nvPr/>
        </p:nvGrpSpPr>
        <p:grpSpPr>
          <a:xfrm>
            <a:off x="1311433" y="1619000"/>
            <a:ext cx="1308924" cy="405364"/>
            <a:chOff x="1232142" y="1851776"/>
            <a:chExt cx="1308924" cy="405364"/>
          </a:xfrm>
        </p:grpSpPr>
        <p:pic>
          <p:nvPicPr>
            <p:cNvPr id="31" name="Imagen 30">
              <a:extLst>
                <a:ext uri="{FF2B5EF4-FFF2-40B4-BE49-F238E27FC236}">
                  <a16:creationId xmlns:a16="http://schemas.microsoft.com/office/drawing/2014/main" id="{B5BCC42F-02FB-3A6E-E199-E2CA58AFCBA1}"/>
                </a:ext>
              </a:extLst>
            </p:cNvPr>
            <p:cNvPicPr>
              <a:picLocks noChangeAspect="1"/>
            </p:cNvPicPr>
            <p:nvPr/>
          </p:nvPicPr>
          <p:blipFill>
            <a:blip r:embed="rId8"/>
            <a:srcRect t="39450"/>
            <a:stretch>
              <a:fillRect/>
            </a:stretch>
          </p:blipFill>
          <p:spPr>
            <a:xfrm>
              <a:off x="1232142" y="1973443"/>
              <a:ext cx="1250353" cy="272413"/>
            </a:xfrm>
            <a:prstGeom prst="rect">
              <a:avLst/>
            </a:prstGeom>
            <a:ln w="6350">
              <a:noFill/>
            </a:ln>
          </p:spPr>
        </p:pic>
        <p:pic>
          <p:nvPicPr>
            <p:cNvPr id="33" name="Imagen 32">
              <a:extLst>
                <a:ext uri="{FF2B5EF4-FFF2-40B4-BE49-F238E27FC236}">
                  <a16:creationId xmlns:a16="http://schemas.microsoft.com/office/drawing/2014/main" id="{4A51EBF1-D02C-AFA9-404E-FAF9C30A0AA3}"/>
                </a:ext>
              </a:extLst>
            </p:cNvPr>
            <p:cNvPicPr>
              <a:picLocks noChangeAspect="1"/>
            </p:cNvPicPr>
            <p:nvPr/>
          </p:nvPicPr>
          <p:blipFill>
            <a:blip r:embed="rId8"/>
            <a:srcRect b="76086"/>
            <a:stretch>
              <a:fillRect/>
            </a:stretch>
          </p:blipFill>
          <p:spPr>
            <a:xfrm>
              <a:off x="1232142" y="1865857"/>
              <a:ext cx="1250353" cy="107586"/>
            </a:xfrm>
            <a:prstGeom prst="rect">
              <a:avLst/>
            </a:prstGeom>
            <a:ln w="6350">
              <a:noFill/>
            </a:ln>
          </p:spPr>
        </p:pic>
        <p:sp>
          <p:nvSpPr>
            <p:cNvPr id="36" name="Rectángulo 35">
              <a:extLst>
                <a:ext uri="{FF2B5EF4-FFF2-40B4-BE49-F238E27FC236}">
                  <a16:creationId xmlns:a16="http://schemas.microsoft.com/office/drawing/2014/main" id="{AEC45E8A-0DB2-4AD8-59B7-B1A9E8905AA4}"/>
                </a:ext>
              </a:extLst>
            </p:cNvPr>
            <p:cNvSpPr/>
            <p:nvPr/>
          </p:nvSpPr>
          <p:spPr>
            <a:xfrm>
              <a:off x="1232142" y="1851776"/>
              <a:ext cx="1308924" cy="405364"/>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grpSp>
      <p:sp>
        <p:nvSpPr>
          <p:cNvPr id="39" name="Rectángulo 38">
            <a:extLst>
              <a:ext uri="{FF2B5EF4-FFF2-40B4-BE49-F238E27FC236}">
                <a16:creationId xmlns:a16="http://schemas.microsoft.com/office/drawing/2014/main" id="{041CE24D-E234-D5E1-C3AD-CF8D5938F661}"/>
              </a:ext>
            </a:extLst>
          </p:cNvPr>
          <p:cNvSpPr/>
          <p:nvPr/>
        </p:nvSpPr>
        <p:spPr>
          <a:xfrm>
            <a:off x="179051" y="2630619"/>
            <a:ext cx="3618072" cy="449893"/>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668701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6874E-4EAE-C25A-D107-19FCB609BC11}"/>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8055942-6E19-8A73-E169-BCF0F4AB2385}"/>
              </a:ext>
            </a:extLst>
          </p:cNvPr>
          <p:cNvSpPr>
            <a:spLocks noGrp="1"/>
          </p:cNvSpPr>
          <p:nvPr>
            <p:ph type="sldNum" sz="quarter" idx="12"/>
          </p:nvPr>
        </p:nvSpPr>
        <p:spPr/>
        <p:txBody>
          <a:bodyPr/>
          <a:lstStyle/>
          <a:p>
            <a:r>
              <a:rPr lang="es-ES" dirty="0"/>
              <a:t>Página </a:t>
            </a:r>
            <a:fld id="{90BC2BA4-81C0-F544-BD72-C8CB9DA7C802}" type="slidenum">
              <a:rPr lang="es-ES" smtClean="0"/>
              <a:pPr/>
              <a:t>9</a:t>
            </a:fld>
            <a:r>
              <a:rPr lang="es-ES" dirty="0"/>
              <a:t> </a:t>
            </a:r>
          </a:p>
        </p:txBody>
      </p:sp>
      <p:sp>
        <p:nvSpPr>
          <p:cNvPr id="3" name="Título 1">
            <a:extLst>
              <a:ext uri="{FF2B5EF4-FFF2-40B4-BE49-F238E27FC236}">
                <a16:creationId xmlns:a16="http://schemas.microsoft.com/office/drawing/2014/main" id="{46959575-60BC-7FE5-0C7A-149757CC241B}"/>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Procesos Gaussianos</a:t>
            </a:r>
            <a:endParaRPr lang="es-CO" sz="3200" noProof="0" dirty="0">
              <a:solidFill>
                <a:schemeClr val="accent1"/>
              </a:solidFill>
              <a:latin typeface="Ancizar Serif Extrabold" panose="020A0902070300000003" pitchFamily="18" charset="0"/>
              <a:cs typeface="Ancizar Sans Extrabold"/>
            </a:endParaRPr>
          </a:p>
        </p:txBody>
      </p:sp>
      <p:sp>
        <p:nvSpPr>
          <p:cNvPr id="6" name="Título 1">
            <a:extLst>
              <a:ext uri="{FF2B5EF4-FFF2-40B4-BE49-F238E27FC236}">
                <a16:creationId xmlns:a16="http://schemas.microsoft.com/office/drawing/2014/main" id="{615C5AF3-8CE8-5C88-83D0-A561EF2D3BDD}"/>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RQ</a:t>
            </a:r>
            <a:endParaRPr lang="es-ES" sz="1400" spc="300" dirty="0">
              <a:solidFill>
                <a:schemeClr val="accent1"/>
              </a:solidFill>
              <a:latin typeface="Ancizar Sans" panose="020B0602040300000003" pitchFamily="34" charset="0"/>
              <a:cs typeface="Ancizar Serif"/>
            </a:endParaRPr>
          </a:p>
        </p:txBody>
      </p:sp>
      <p:graphicFrame>
        <p:nvGraphicFramePr>
          <p:cNvPr id="10" name="Tabla 9">
            <a:extLst>
              <a:ext uri="{FF2B5EF4-FFF2-40B4-BE49-F238E27FC236}">
                <a16:creationId xmlns:a16="http://schemas.microsoft.com/office/drawing/2014/main" id="{D14FBDA4-4499-E370-3DF5-C61B4A2B6800}"/>
              </a:ext>
            </a:extLst>
          </p:cNvPr>
          <p:cNvGraphicFramePr>
            <a:graphicFrameLocks noGrp="1"/>
          </p:cNvGraphicFramePr>
          <p:nvPr>
            <p:extLst>
              <p:ext uri="{D42A27DB-BD31-4B8C-83A1-F6EECF244321}">
                <p14:modId xmlns:p14="http://schemas.microsoft.com/office/powerpoint/2010/main" val="3822609591"/>
              </p:ext>
            </p:extLst>
          </p:nvPr>
        </p:nvGraphicFramePr>
        <p:xfrm>
          <a:off x="301257" y="3071924"/>
          <a:ext cx="3059211" cy="381000"/>
        </p:xfrm>
        <a:graphic>
          <a:graphicData uri="http://schemas.openxmlformats.org/drawingml/2006/table">
            <a:tbl>
              <a:tblPr>
                <a:tableStyleId>{5C22544A-7EE6-4342-B048-85BDC9FD1C3A}</a:tableStyleId>
              </a:tblPr>
              <a:tblGrid>
                <a:gridCol w="1147515">
                  <a:extLst>
                    <a:ext uri="{9D8B030D-6E8A-4147-A177-3AD203B41FA5}">
                      <a16:colId xmlns:a16="http://schemas.microsoft.com/office/drawing/2014/main" val="2646118595"/>
                    </a:ext>
                  </a:extLst>
                </a:gridCol>
                <a:gridCol w="521934">
                  <a:extLst>
                    <a:ext uri="{9D8B030D-6E8A-4147-A177-3AD203B41FA5}">
                      <a16:colId xmlns:a16="http://schemas.microsoft.com/office/drawing/2014/main" val="235049075"/>
                    </a:ext>
                  </a:extLst>
                </a:gridCol>
                <a:gridCol w="411829">
                  <a:extLst>
                    <a:ext uri="{9D8B030D-6E8A-4147-A177-3AD203B41FA5}">
                      <a16:colId xmlns:a16="http://schemas.microsoft.com/office/drawing/2014/main" val="914461048"/>
                    </a:ext>
                  </a:extLst>
                </a:gridCol>
                <a:gridCol w="454382">
                  <a:extLst>
                    <a:ext uri="{9D8B030D-6E8A-4147-A177-3AD203B41FA5}">
                      <a16:colId xmlns:a16="http://schemas.microsoft.com/office/drawing/2014/main" val="580029407"/>
                    </a:ext>
                  </a:extLst>
                </a:gridCol>
                <a:gridCol w="523551">
                  <a:extLst>
                    <a:ext uri="{9D8B030D-6E8A-4147-A177-3AD203B41FA5}">
                      <a16:colId xmlns:a16="http://schemas.microsoft.com/office/drawing/2014/main" val="2548163065"/>
                    </a:ext>
                  </a:extLst>
                </a:gridCol>
              </a:tblGrid>
              <a:tr h="190500">
                <a:tc>
                  <a:txBody>
                    <a:bodyPr/>
                    <a:lstStyle/>
                    <a:p>
                      <a:pPr algn="l" fontAlgn="b">
                        <a:buNone/>
                      </a:pPr>
                      <a:r>
                        <a:rPr lang="es-CO" sz="1050" u="none" strike="noStrike" dirty="0">
                          <a:effectLst/>
                        </a:rPr>
                        <a:t>Kernel</a:t>
                      </a:r>
                      <a:endParaRPr lang="es-CO" sz="1050" b="0" i="0" u="none" strike="noStrike" dirty="0">
                        <a:solidFill>
                          <a:srgbClr val="000000"/>
                        </a:solidFill>
                        <a:effectLst/>
                        <a:latin typeface="Aptos Narrow" panose="020B0004020202020204" pitchFamily="34" charset="0"/>
                      </a:endParaRPr>
                    </a:p>
                  </a:txBody>
                  <a:tcPr marL="9525" marR="9525" marT="9525" marB="0" anchor="b">
                    <a:solidFill>
                      <a:schemeClr val="tx2">
                        <a:lumMod val="40000"/>
                        <a:lumOff val="60000"/>
                      </a:schemeClr>
                    </a:solidFill>
                  </a:tcPr>
                </a:tc>
                <a:tc>
                  <a:txBody>
                    <a:bodyPr/>
                    <a:lstStyle/>
                    <a:p>
                      <a:pPr algn="ctr" fontAlgn="ctr">
                        <a:buNone/>
                      </a:pPr>
                      <a:r>
                        <a:rPr lang="es-CO" sz="1050" u="none" strike="noStrike" dirty="0">
                          <a:effectLst/>
                        </a:rPr>
                        <a:t>RMSE</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50" u="none" strike="noStrike" dirty="0">
                          <a:effectLst/>
                        </a:rPr>
                        <a:t>MAE</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50" u="none" strike="noStrike" dirty="0">
                          <a:effectLst/>
                        </a:rPr>
                        <a:t>R²</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50" u="none" strike="noStrike" dirty="0">
                          <a:effectLst/>
                        </a:rPr>
                        <a:t>LogLik</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2868291606"/>
                  </a:ext>
                </a:extLst>
              </a:tr>
              <a:tr h="190500">
                <a:tc>
                  <a:txBody>
                    <a:bodyPr/>
                    <a:lstStyle/>
                    <a:p>
                      <a:pPr algn="l" fontAlgn="b">
                        <a:buNone/>
                      </a:pPr>
                      <a:r>
                        <a:rPr lang="es-CO" sz="1050" u="none" strike="noStrike" dirty="0">
                          <a:effectLst/>
                        </a:rPr>
                        <a:t>Rational Quadratic</a:t>
                      </a:r>
                      <a:endParaRPr lang="es-CO" sz="105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050" u="none" strike="noStrike">
                          <a:effectLst/>
                        </a:rPr>
                        <a:t>1,012</a:t>
                      </a:r>
                      <a:endParaRPr lang="es-CO" sz="105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50" u="none" strike="noStrike">
                          <a:effectLst/>
                        </a:rPr>
                        <a:t>0,760</a:t>
                      </a:r>
                      <a:endParaRPr lang="es-CO" sz="105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50" u="none" strike="noStrike" dirty="0">
                          <a:effectLst/>
                        </a:rPr>
                        <a:t>0,566</a:t>
                      </a:r>
                      <a:endParaRPr lang="es-CO" sz="105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50" u="none" strike="noStrike" dirty="0">
                          <a:effectLst/>
                        </a:rPr>
                        <a:t>-425,060</a:t>
                      </a:r>
                      <a:endParaRPr lang="es-CO" sz="105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84084556"/>
                  </a:ext>
                </a:extLst>
              </a:tr>
            </a:tbl>
          </a:graphicData>
        </a:graphic>
      </p:graphicFrame>
      <p:sp>
        <p:nvSpPr>
          <p:cNvPr id="15" name="Título 1">
            <a:extLst>
              <a:ext uri="{FF2B5EF4-FFF2-40B4-BE49-F238E27FC236}">
                <a16:creationId xmlns:a16="http://schemas.microsoft.com/office/drawing/2014/main" id="{AF81D724-B4A9-4BE6-2789-42BB130C83E9}"/>
              </a:ext>
            </a:extLst>
          </p:cNvPr>
          <p:cNvSpPr txBox="1">
            <a:spLocks/>
          </p:cNvSpPr>
          <p:nvPr/>
        </p:nvSpPr>
        <p:spPr>
          <a:xfrm>
            <a:off x="686088" y="1649252"/>
            <a:ext cx="228954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100" b="1" dirty="0">
                <a:solidFill>
                  <a:schemeClr val="tx2"/>
                </a:solidFill>
                <a:ea typeface="+mn-ea"/>
                <a:cs typeface="+mn-cs"/>
              </a:rPr>
              <a:t>Modelo con variables ambientales</a:t>
            </a:r>
            <a:endParaRPr lang="es-ES" sz="1100" b="1" dirty="0">
              <a:solidFill>
                <a:schemeClr val="tx2"/>
              </a:solidFill>
              <a:ea typeface="+mn-ea"/>
              <a:cs typeface="+mn-cs"/>
            </a:endParaRPr>
          </a:p>
        </p:txBody>
      </p:sp>
      <p:sp>
        <p:nvSpPr>
          <p:cNvPr id="19" name="Título 1">
            <a:extLst>
              <a:ext uri="{FF2B5EF4-FFF2-40B4-BE49-F238E27FC236}">
                <a16:creationId xmlns:a16="http://schemas.microsoft.com/office/drawing/2014/main" id="{BEAEC3B7-A68E-A823-1C42-95127CEC272E}"/>
              </a:ext>
            </a:extLst>
          </p:cNvPr>
          <p:cNvSpPr txBox="1">
            <a:spLocks/>
          </p:cNvSpPr>
          <p:nvPr/>
        </p:nvSpPr>
        <p:spPr>
          <a:xfrm>
            <a:off x="254524" y="2669606"/>
            <a:ext cx="315267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100" b="1" dirty="0">
                <a:solidFill>
                  <a:schemeClr val="tx2"/>
                </a:solidFill>
                <a:ea typeface="+mn-ea"/>
                <a:cs typeface="+mn-cs"/>
              </a:rPr>
              <a:t>Modelo con variables ambientales y coordenadas</a:t>
            </a:r>
            <a:endParaRPr lang="es-ES" sz="1100" b="1" dirty="0">
              <a:solidFill>
                <a:schemeClr val="tx2"/>
              </a:solidFill>
              <a:ea typeface="+mn-ea"/>
              <a:cs typeface="+mn-cs"/>
            </a:endParaRPr>
          </a:p>
        </p:txBody>
      </p:sp>
      <p:graphicFrame>
        <p:nvGraphicFramePr>
          <p:cNvPr id="20" name="Tabla 19">
            <a:extLst>
              <a:ext uri="{FF2B5EF4-FFF2-40B4-BE49-F238E27FC236}">
                <a16:creationId xmlns:a16="http://schemas.microsoft.com/office/drawing/2014/main" id="{5E3176F6-9FF0-9D18-98C7-C000A9731A6C}"/>
              </a:ext>
            </a:extLst>
          </p:cNvPr>
          <p:cNvGraphicFramePr>
            <a:graphicFrameLocks noGrp="1"/>
          </p:cNvGraphicFramePr>
          <p:nvPr>
            <p:extLst>
              <p:ext uri="{D42A27DB-BD31-4B8C-83A1-F6EECF244321}">
                <p14:modId xmlns:p14="http://schemas.microsoft.com/office/powerpoint/2010/main" val="2412752214"/>
              </p:ext>
            </p:extLst>
          </p:nvPr>
        </p:nvGraphicFramePr>
        <p:xfrm>
          <a:off x="301256" y="2051570"/>
          <a:ext cx="3059212" cy="381000"/>
        </p:xfrm>
        <a:graphic>
          <a:graphicData uri="http://schemas.openxmlformats.org/drawingml/2006/table">
            <a:tbl>
              <a:tblPr>
                <a:tableStyleId>{5C22544A-7EE6-4342-B048-85BDC9FD1C3A}</a:tableStyleId>
              </a:tblPr>
              <a:tblGrid>
                <a:gridCol w="1097162">
                  <a:extLst>
                    <a:ext uri="{9D8B030D-6E8A-4147-A177-3AD203B41FA5}">
                      <a16:colId xmlns:a16="http://schemas.microsoft.com/office/drawing/2014/main" val="432457139"/>
                    </a:ext>
                  </a:extLst>
                </a:gridCol>
                <a:gridCol w="545125">
                  <a:extLst>
                    <a:ext uri="{9D8B030D-6E8A-4147-A177-3AD203B41FA5}">
                      <a16:colId xmlns:a16="http://schemas.microsoft.com/office/drawing/2014/main" val="2738740043"/>
                    </a:ext>
                  </a:extLst>
                </a:gridCol>
                <a:gridCol w="425805">
                  <a:extLst>
                    <a:ext uri="{9D8B030D-6E8A-4147-A177-3AD203B41FA5}">
                      <a16:colId xmlns:a16="http://schemas.microsoft.com/office/drawing/2014/main" val="1273517754"/>
                    </a:ext>
                  </a:extLst>
                </a:gridCol>
                <a:gridCol w="475093">
                  <a:extLst>
                    <a:ext uri="{9D8B030D-6E8A-4147-A177-3AD203B41FA5}">
                      <a16:colId xmlns:a16="http://schemas.microsoft.com/office/drawing/2014/main" val="2735365784"/>
                    </a:ext>
                  </a:extLst>
                </a:gridCol>
                <a:gridCol w="516027">
                  <a:extLst>
                    <a:ext uri="{9D8B030D-6E8A-4147-A177-3AD203B41FA5}">
                      <a16:colId xmlns:a16="http://schemas.microsoft.com/office/drawing/2014/main" val="2904388772"/>
                    </a:ext>
                  </a:extLst>
                </a:gridCol>
              </a:tblGrid>
              <a:tr h="190500">
                <a:tc>
                  <a:txBody>
                    <a:bodyPr/>
                    <a:lstStyle/>
                    <a:p>
                      <a:pPr algn="l" fontAlgn="b">
                        <a:buNone/>
                      </a:pPr>
                      <a:r>
                        <a:rPr lang="es-CO" sz="1050" u="none" strike="noStrike" dirty="0">
                          <a:effectLst/>
                        </a:rPr>
                        <a:t>Kernel</a:t>
                      </a:r>
                      <a:endParaRPr lang="es-CO" sz="1050" b="0" i="0" u="none" strike="noStrike" dirty="0">
                        <a:solidFill>
                          <a:srgbClr val="000000"/>
                        </a:solidFill>
                        <a:effectLst/>
                        <a:latin typeface="Aptos Narrow" panose="020B0004020202020204" pitchFamily="34" charset="0"/>
                      </a:endParaRPr>
                    </a:p>
                  </a:txBody>
                  <a:tcPr marL="9525" marR="9525" marT="9525" marB="0" anchor="b">
                    <a:solidFill>
                      <a:schemeClr val="tx2">
                        <a:lumMod val="40000"/>
                        <a:lumOff val="60000"/>
                      </a:schemeClr>
                    </a:solidFill>
                  </a:tcPr>
                </a:tc>
                <a:tc>
                  <a:txBody>
                    <a:bodyPr/>
                    <a:lstStyle/>
                    <a:p>
                      <a:pPr algn="ctr" fontAlgn="ctr">
                        <a:buNone/>
                      </a:pPr>
                      <a:r>
                        <a:rPr lang="es-CO" sz="1050" u="none" strike="noStrike" dirty="0">
                          <a:effectLst/>
                        </a:rPr>
                        <a:t>RMSE</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50" u="none" strike="noStrike" dirty="0">
                          <a:effectLst/>
                        </a:rPr>
                        <a:t>MAE</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50" u="none" strike="noStrike" dirty="0">
                          <a:effectLst/>
                        </a:rPr>
                        <a:t>R²</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050" u="none" strike="noStrike" dirty="0">
                          <a:effectLst/>
                        </a:rPr>
                        <a:t>LogLik</a:t>
                      </a:r>
                      <a:endParaRPr lang="es-CO" sz="105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4017039307"/>
                  </a:ext>
                </a:extLst>
              </a:tr>
              <a:tr h="190500">
                <a:tc>
                  <a:txBody>
                    <a:bodyPr/>
                    <a:lstStyle/>
                    <a:p>
                      <a:pPr algn="l" fontAlgn="b">
                        <a:buNone/>
                      </a:pPr>
                      <a:r>
                        <a:rPr lang="es-CO" sz="1050" u="none" strike="noStrike" dirty="0">
                          <a:effectLst/>
                        </a:rPr>
                        <a:t>Rational Quadratic</a:t>
                      </a:r>
                      <a:endParaRPr lang="es-CO" sz="105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050" u="none" strike="noStrike" dirty="0">
                          <a:effectLst/>
                        </a:rPr>
                        <a:t>1,072</a:t>
                      </a:r>
                      <a:endParaRPr lang="es-CO" sz="105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50" u="none" strike="noStrike" dirty="0">
                          <a:effectLst/>
                        </a:rPr>
                        <a:t>0,808</a:t>
                      </a:r>
                      <a:endParaRPr lang="es-CO" sz="105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50" u="none" strike="noStrike" dirty="0">
                          <a:effectLst/>
                        </a:rPr>
                        <a:t>0,513</a:t>
                      </a:r>
                      <a:endParaRPr lang="es-CO" sz="105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050" u="none" strike="noStrike" dirty="0">
                          <a:effectLst/>
                        </a:rPr>
                        <a:t>-291,405</a:t>
                      </a:r>
                      <a:endParaRPr lang="es-CO" sz="105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803242277"/>
                  </a:ext>
                </a:extLst>
              </a:tr>
            </a:tbl>
          </a:graphicData>
        </a:graphic>
      </p:graphicFrame>
      <p:pic>
        <p:nvPicPr>
          <p:cNvPr id="25" name="Imagen 24">
            <a:extLst>
              <a:ext uri="{FF2B5EF4-FFF2-40B4-BE49-F238E27FC236}">
                <a16:creationId xmlns:a16="http://schemas.microsoft.com/office/drawing/2014/main" id="{7FD12918-D15C-9BC6-2297-172C3D106A7B}"/>
              </a:ext>
            </a:extLst>
          </p:cNvPr>
          <p:cNvPicPr>
            <a:picLocks noChangeAspect="1"/>
          </p:cNvPicPr>
          <p:nvPr/>
        </p:nvPicPr>
        <p:blipFill>
          <a:blip r:embed="rId3"/>
          <a:stretch>
            <a:fillRect/>
          </a:stretch>
        </p:blipFill>
        <p:spPr>
          <a:xfrm>
            <a:off x="6533632" y="1309610"/>
            <a:ext cx="2520000" cy="2524279"/>
          </a:xfrm>
          <a:prstGeom prst="rect">
            <a:avLst/>
          </a:prstGeom>
        </p:spPr>
      </p:pic>
      <p:pic>
        <p:nvPicPr>
          <p:cNvPr id="28" name="Imagen 27">
            <a:extLst>
              <a:ext uri="{FF2B5EF4-FFF2-40B4-BE49-F238E27FC236}">
                <a16:creationId xmlns:a16="http://schemas.microsoft.com/office/drawing/2014/main" id="{40EE3C6B-CA89-AD66-A341-3A5EC75014D3}"/>
              </a:ext>
            </a:extLst>
          </p:cNvPr>
          <p:cNvPicPr>
            <a:picLocks noChangeAspect="1"/>
          </p:cNvPicPr>
          <p:nvPr/>
        </p:nvPicPr>
        <p:blipFill>
          <a:blip r:embed="rId4"/>
          <a:stretch>
            <a:fillRect/>
          </a:stretch>
        </p:blipFill>
        <p:spPr>
          <a:xfrm>
            <a:off x="4023672" y="1320869"/>
            <a:ext cx="2520000" cy="2520000"/>
          </a:xfrm>
          <a:prstGeom prst="rect">
            <a:avLst/>
          </a:prstGeom>
        </p:spPr>
      </p:pic>
    </p:spTree>
    <p:extLst>
      <p:ext uri="{BB962C8B-B14F-4D97-AF65-F5344CB8AC3E}">
        <p14:creationId xmlns:p14="http://schemas.microsoft.com/office/powerpoint/2010/main" val="3750331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FD4B8FD-A276-2EE2-9041-984F500C2D10}"/>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C921C817-E87C-4ED0-25D3-3EA61D59050A}"/>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99DEED26-E485-4A71-C845-8D99B7AFB33C}"/>
              </a:ext>
            </a:extLst>
          </p:cNvPr>
          <p:cNvSpPr>
            <a:spLocks noGrp="1"/>
          </p:cNvSpPr>
          <p:nvPr>
            <p:ph type="sldNum" sz="quarter" idx="12"/>
          </p:nvPr>
        </p:nvSpPr>
        <p:spPr/>
        <p:txBody>
          <a:bodyPr/>
          <a:lstStyle/>
          <a:p>
            <a:fld id="{90BC2BA4-81C0-F544-BD72-C8CB9DA7C802}" type="slidenum">
              <a:rPr lang="es-CO" noProof="0" smtClean="0"/>
              <a:pPr/>
              <a:t>10</a:t>
            </a:fld>
            <a:endParaRPr lang="es-CO" noProof="0" dirty="0"/>
          </a:p>
        </p:txBody>
      </p:sp>
      <p:sp>
        <p:nvSpPr>
          <p:cNvPr id="5" name="Título 1">
            <a:extLst>
              <a:ext uri="{FF2B5EF4-FFF2-40B4-BE49-F238E27FC236}">
                <a16:creationId xmlns:a16="http://schemas.microsoft.com/office/drawing/2014/main" id="{84DAE76D-655D-9B13-4743-0387A6D3C679}"/>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Compuestos Matérn</a:t>
            </a:r>
            <a:endParaRPr lang="es-ES" sz="1400" spc="300" dirty="0">
              <a:solidFill>
                <a:schemeClr val="accent1"/>
              </a:solidFill>
              <a:latin typeface="Ancizar Sans" panose="020B0602040300000003" pitchFamily="34" charset="0"/>
              <a:cs typeface="Ancizar Serif"/>
            </a:endParaRPr>
          </a:p>
        </p:txBody>
      </p:sp>
      <p:sp>
        <p:nvSpPr>
          <p:cNvPr id="7" name="Título 1">
            <a:extLst>
              <a:ext uri="{FF2B5EF4-FFF2-40B4-BE49-F238E27FC236}">
                <a16:creationId xmlns:a16="http://schemas.microsoft.com/office/drawing/2014/main" id="{7FD87025-43F1-A163-148D-0EF3111D0759}"/>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Procesos Gaussianos</a:t>
            </a:r>
            <a:endParaRPr lang="es-CO" sz="3200" noProof="0" dirty="0">
              <a:solidFill>
                <a:schemeClr val="accent1"/>
              </a:solidFill>
              <a:latin typeface="Ancizar Serif Extrabold" panose="020A0902070300000003" pitchFamily="18" charset="0"/>
              <a:cs typeface="Ancizar Sans Extrabold"/>
            </a:endParaRPr>
          </a:p>
        </p:txBody>
      </p:sp>
      <p:pic>
        <p:nvPicPr>
          <p:cNvPr id="20" name="Imagen 19">
            <a:extLst>
              <a:ext uri="{FF2B5EF4-FFF2-40B4-BE49-F238E27FC236}">
                <a16:creationId xmlns:a16="http://schemas.microsoft.com/office/drawing/2014/main" id="{31C4BF3E-C8B5-5818-CB40-A462319D69D6}"/>
              </a:ext>
            </a:extLst>
          </p:cNvPr>
          <p:cNvPicPr>
            <a:picLocks noChangeAspect="1"/>
          </p:cNvPicPr>
          <p:nvPr/>
        </p:nvPicPr>
        <p:blipFill>
          <a:blip r:embed="rId3"/>
          <a:stretch>
            <a:fillRect/>
          </a:stretch>
        </p:blipFill>
        <p:spPr>
          <a:xfrm>
            <a:off x="2395548" y="1241434"/>
            <a:ext cx="2160000" cy="2163668"/>
          </a:xfrm>
          <a:prstGeom prst="rect">
            <a:avLst/>
          </a:prstGeom>
        </p:spPr>
      </p:pic>
      <p:pic>
        <p:nvPicPr>
          <p:cNvPr id="22" name="Imagen 21">
            <a:extLst>
              <a:ext uri="{FF2B5EF4-FFF2-40B4-BE49-F238E27FC236}">
                <a16:creationId xmlns:a16="http://schemas.microsoft.com/office/drawing/2014/main" id="{A2E4E86B-E54B-7934-C463-66B3C1DB2B6B}"/>
              </a:ext>
            </a:extLst>
          </p:cNvPr>
          <p:cNvPicPr>
            <a:picLocks noChangeAspect="1"/>
          </p:cNvPicPr>
          <p:nvPr/>
        </p:nvPicPr>
        <p:blipFill>
          <a:blip r:embed="rId4"/>
          <a:stretch>
            <a:fillRect/>
          </a:stretch>
        </p:blipFill>
        <p:spPr>
          <a:xfrm>
            <a:off x="137910" y="1241434"/>
            <a:ext cx="2160000" cy="2160000"/>
          </a:xfrm>
          <a:prstGeom prst="rect">
            <a:avLst/>
          </a:prstGeom>
        </p:spPr>
      </p:pic>
      <p:pic>
        <p:nvPicPr>
          <p:cNvPr id="24" name="Imagen 23">
            <a:extLst>
              <a:ext uri="{FF2B5EF4-FFF2-40B4-BE49-F238E27FC236}">
                <a16:creationId xmlns:a16="http://schemas.microsoft.com/office/drawing/2014/main" id="{A13294B2-F085-B461-98B5-5ADA14740D81}"/>
              </a:ext>
            </a:extLst>
          </p:cNvPr>
          <p:cNvPicPr>
            <a:picLocks noChangeAspect="1"/>
          </p:cNvPicPr>
          <p:nvPr/>
        </p:nvPicPr>
        <p:blipFill>
          <a:blip r:embed="rId5"/>
          <a:stretch>
            <a:fillRect/>
          </a:stretch>
        </p:blipFill>
        <p:spPr>
          <a:xfrm>
            <a:off x="6824154" y="1237766"/>
            <a:ext cx="2160000" cy="2163668"/>
          </a:xfrm>
          <a:prstGeom prst="rect">
            <a:avLst/>
          </a:prstGeom>
        </p:spPr>
      </p:pic>
      <p:pic>
        <p:nvPicPr>
          <p:cNvPr id="26" name="Imagen 25">
            <a:extLst>
              <a:ext uri="{FF2B5EF4-FFF2-40B4-BE49-F238E27FC236}">
                <a16:creationId xmlns:a16="http://schemas.microsoft.com/office/drawing/2014/main" id="{CE70975C-8F66-61FD-4100-C91BC97451E1}"/>
              </a:ext>
            </a:extLst>
          </p:cNvPr>
          <p:cNvPicPr>
            <a:picLocks noChangeAspect="1"/>
          </p:cNvPicPr>
          <p:nvPr/>
        </p:nvPicPr>
        <p:blipFill>
          <a:blip r:embed="rId6"/>
          <a:stretch>
            <a:fillRect/>
          </a:stretch>
        </p:blipFill>
        <p:spPr>
          <a:xfrm>
            <a:off x="4653186" y="1241434"/>
            <a:ext cx="2160000" cy="2160000"/>
          </a:xfrm>
          <a:prstGeom prst="rect">
            <a:avLst/>
          </a:prstGeom>
        </p:spPr>
      </p:pic>
      <p:graphicFrame>
        <p:nvGraphicFramePr>
          <p:cNvPr id="27" name="Tabla 26">
            <a:extLst>
              <a:ext uri="{FF2B5EF4-FFF2-40B4-BE49-F238E27FC236}">
                <a16:creationId xmlns:a16="http://schemas.microsoft.com/office/drawing/2014/main" id="{9AA8D85E-0335-8437-BFEF-4CB20AB65BAB}"/>
              </a:ext>
            </a:extLst>
          </p:cNvPr>
          <p:cNvGraphicFramePr>
            <a:graphicFrameLocks noGrp="1"/>
          </p:cNvGraphicFramePr>
          <p:nvPr>
            <p:extLst>
              <p:ext uri="{D42A27DB-BD31-4B8C-83A1-F6EECF244321}">
                <p14:modId xmlns:p14="http://schemas.microsoft.com/office/powerpoint/2010/main" val="495738707"/>
              </p:ext>
            </p:extLst>
          </p:nvPr>
        </p:nvGraphicFramePr>
        <p:xfrm>
          <a:off x="4335954" y="3568586"/>
          <a:ext cx="4648200" cy="762000"/>
        </p:xfrm>
        <a:graphic>
          <a:graphicData uri="http://schemas.openxmlformats.org/drawingml/2006/table">
            <a:tbl>
              <a:tblPr>
                <a:tableStyleId>{5C22544A-7EE6-4342-B048-85BDC9FD1C3A}</a:tableStyleId>
              </a:tblPr>
              <a:tblGrid>
                <a:gridCol w="1600200">
                  <a:extLst>
                    <a:ext uri="{9D8B030D-6E8A-4147-A177-3AD203B41FA5}">
                      <a16:colId xmlns:a16="http://schemas.microsoft.com/office/drawing/2014/main" val="1060722248"/>
                    </a:ext>
                  </a:extLst>
                </a:gridCol>
                <a:gridCol w="762000">
                  <a:extLst>
                    <a:ext uri="{9D8B030D-6E8A-4147-A177-3AD203B41FA5}">
                      <a16:colId xmlns:a16="http://schemas.microsoft.com/office/drawing/2014/main" val="2436735841"/>
                    </a:ext>
                  </a:extLst>
                </a:gridCol>
                <a:gridCol w="762000">
                  <a:extLst>
                    <a:ext uri="{9D8B030D-6E8A-4147-A177-3AD203B41FA5}">
                      <a16:colId xmlns:a16="http://schemas.microsoft.com/office/drawing/2014/main" val="810452997"/>
                    </a:ext>
                  </a:extLst>
                </a:gridCol>
                <a:gridCol w="762000">
                  <a:extLst>
                    <a:ext uri="{9D8B030D-6E8A-4147-A177-3AD203B41FA5}">
                      <a16:colId xmlns:a16="http://schemas.microsoft.com/office/drawing/2014/main" val="2921281355"/>
                    </a:ext>
                  </a:extLst>
                </a:gridCol>
                <a:gridCol w="762000">
                  <a:extLst>
                    <a:ext uri="{9D8B030D-6E8A-4147-A177-3AD203B41FA5}">
                      <a16:colId xmlns:a16="http://schemas.microsoft.com/office/drawing/2014/main" val="2362676191"/>
                    </a:ext>
                  </a:extLst>
                </a:gridCol>
              </a:tblGrid>
              <a:tr h="190500">
                <a:tc>
                  <a:txBody>
                    <a:bodyPr/>
                    <a:lstStyle/>
                    <a:p>
                      <a:pPr algn="l" fontAlgn="b">
                        <a:buNone/>
                      </a:pPr>
                      <a:r>
                        <a:rPr lang="es-CO" sz="1100" u="none" strike="noStrike" dirty="0">
                          <a:effectLst/>
                        </a:rPr>
                        <a:t>Kernel</a:t>
                      </a:r>
                      <a:endParaRPr lang="es-CO" sz="1100" b="0" i="0" u="none" strike="noStrike" dirty="0">
                        <a:solidFill>
                          <a:srgbClr val="000000"/>
                        </a:solidFill>
                        <a:effectLst/>
                        <a:latin typeface="Aptos Narrow" panose="020B0004020202020204" pitchFamily="34" charset="0"/>
                      </a:endParaRPr>
                    </a:p>
                  </a:txBody>
                  <a:tcPr marL="9525" marR="9525" marT="9525" marB="0" anchor="b">
                    <a:solidFill>
                      <a:schemeClr val="tx2">
                        <a:lumMod val="40000"/>
                        <a:lumOff val="60000"/>
                      </a:schemeClr>
                    </a:solidFill>
                  </a:tcPr>
                </a:tc>
                <a:tc>
                  <a:txBody>
                    <a:bodyPr/>
                    <a:lstStyle/>
                    <a:p>
                      <a:pPr algn="ctr" fontAlgn="ctr">
                        <a:buNone/>
                      </a:pPr>
                      <a:r>
                        <a:rPr lang="es-CO" sz="1100" u="none" strike="noStrike" dirty="0">
                          <a:effectLst/>
                        </a:rPr>
                        <a:t>RMSE</a:t>
                      </a:r>
                      <a:endParaRPr lang="es-CO" sz="11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100" u="none" strike="noStrike">
                          <a:effectLst/>
                        </a:rPr>
                        <a:t>MAE</a:t>
                      </a:r>
                      <a:endParaRPr lang="es-CO" sz="1100" b="0" i="0" u="none" strike="noStrike">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100" u="none" strike="noStrike">
                          <a:effectLst/>
                        </a:rPr>
                        <a:t>R²</a:t>
                      </a:r>
                      <a:endParaRPr lang="es-CO" sz="1100" b="0" i="0" u="none" strike="noStrike">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100" u="none" strike="noStrike" dirty="0">
                          <a:effectLst/>
                        </a:rPr>
                        <a:t>LogLik</a:t>
                      </a:r>
                      <a:endParaRPr lang="es-CO" sz="11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2172908738"/>
                  </a:ext>
                </a:extLst>
              </a:tr>
              <a:tr h="190500">
                <a:tc>
                  <a:txBody>
                    <a:bodyPr/>
                    <a:lstStyle/>
                    <a:p>
                      <a:pPr algn="l" fontAlgn="b">
                        <a:buNone/>
                      </a:pPr>
                      <a:r>
                        <a:rPr lang="es-CO" sz="1100" u="none" strike="noStrike" dirty="0">
                          <a:effectLst/>
                        </a:rPr>
                        <a:t>Matérn 0.5</a:t>
                      </a:r>
                      <a:endParaRPr lang="es-CO"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100" u="none" strike="noStrike" dirty="0">
                          <a:effectLst/>
                        </a:rPr>
                        <a:t>0,933</a:t>
                      </a:r>
                      <a:endParaRPr lang="es-CO"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0,645</a:t>
                      </a:r>
                      <a:endParaRPr lang="es-CO"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0,631</a:t>
                      </a:r>
                      <a:endParaRPr lang="es-CO"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-431,394</a:t>
                      </a:r>
                      <a:endParaRPr lang="es-CO"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248734546"/>
                  </a:ext>
                </a:extLst>
              </a:tr>
              <a:tr h="190500">
                <a:tc>
                  <a:txBody>
                    <a:bodyPr/>
                    <a:lstStyle/>
                    <a:p>
                      <a:pPr algn="l" fontAlgn="b">
                        <a:buNone/>
                      </a:pPr>
                      <a:r>
                        <a:rPr lang="es-CO" sz="1100" u="none" strike="noStrike" dirty="0">
                          <a:effectLst/>
                        </a:rPr>
                        <a:t>Constant × Matérn</a:t>
                      </a:r>
                      <a:endParaRPr lang="es-CO"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100" u="none" strike="noStrike">
                          <a:effectLst/>
                        </a:rPr>
                        <a:t>0,980</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0,669</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0,593</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-378,805</a:t>
                      </a:r>
                      <a:endParaRPr lang="es-CO"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415202328"/>
                  </a:ext>
                </a:extLst>
              </a:tr>
              <a:tr h="190500">
                <a:tc>
                  <a:txBody>
                    <a:bodyPr/>
                    <a:lstStyle/>
                    <a:p>
                      <a:pPr algn="l" fontAlgn="b">
                        <a:buNone/>
                      </a:pPr>
                      <a:r>
                        <a:rPr lang="es-CO" sz="1100" u="none" strike="noStrike" dirty="0">
                          <a:effectLst/>
                        </a:rPr>
                        <a:t>Constant × Matérn + White</a:t>
                      </a:r>
                      <a:endParaRPr lang="es-CO"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100" u="none" strike="noStrike">
                          <a:effectLst/>
                        </a:rPr>
                        <a:t>0,955</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0,718</a:t>
                      </a:r>
                      <a:endParaRPr lang="es-CO"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0,614</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-363,240</a:t>
                      </a:r>
                      <a:endParaRPr lang="es-CO"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497731526"/>
                  </a:ext>
                </a:extLst>
              </a:tr>
            </a:tbl>
          </a:graphicData>
        </a:graphic>
      </p:graphicFrame>
      <p:sp>
        <p:nvSpPr>
          <p:cNvPr id="29" name="Título 1">
            <a:extLst>
              <a:ext uri="{FF2B5EF4-FFF2-40B4-BE49-F238E27FC236}">
                <a16:creationId xmlns:a16="http://schemas.microsoft.com/office/drawing/2014/main" id="{6B5A13A3-008A-2EF7-0F92-2C79BB6ADF43}"/>
              </a:ext>
            </a:extLst>
          </p:cNvPr>
          <p:cNvSpPr txBox="1">
            <a:spLocks/>
          </p:cNvSpPr>
          <p:nvPr/>
        </p:nvSpPr>
        <p:spPr>
          <a:xfrm>
            <a:off x="1183279" y="3798110"/>
            <a:ext cx="315267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100" b="1" dirty="0">
                <a:solidFill>
                  <a:schemeClr val="tx2"/>
                </a:solidFill>
                <a:ea typeface="+mn-ea"/>
                <a:cs typeface="+mn-cs"/>
              </a:rPr>
              <a:t>Modelo con variables ambientales y coordenadas</a:t>
            </a:r>
            <a:endParaRPr lang="es-ES" sz="1100" b="1" dirty="0">
              <a:solidFill>
                <a:schemeClr val="tx2"/>
              </a:solidFill>
              <a:ea typeface="+mn-ea"/>
              <a:cs typeface="+mn-cs"/>
            </a:endParaRPr>
          </a:p>
        </p:txBody>
      </p:sp>
    </p:spTree>
    <p:extLst>
      <p:ext uri="{BB962C8B-B14F-4D97-AF65-F5344CB8AC3E}">
        <p14:creationId xmlns:p14="http://schemas.microsoft.com/office/powerpoint/2010/main" val="956929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77599-1E0C-7F6B-0DF9-594EB5CA5F0D}"/>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9309718-DEE7-FC81-4D7E-9E883A22C36F}"/>
              </a:ext>
            </a:extLst>
          </p:cNvPr>
          <p:cNvSpPr>
            <a:spLocks noGrp="1"/>
          </p:cNvSpPr>
          <p:nvPr>
            <p:ph type="sldNum" sz="quarter" idx="12"/>
          </p:nvPr>
        </p:nvSpPr>
        <p:spPr/>
        <p:txBody>
          <a:bodyPr/>
          <a:lstStyle/>
          <a:p>
            <a:r>
              <a:rPr lang="es-ES" dirty="0"/>
              <a:t>Página </a:t>
            </a:r>
            <a:fld id="{90BC2BA4-81C0-F544-BD72-C8CB9DA7C802}" type="slidenum">
              <a:rPr lang="es-ES" smtClean="0"/>
              <a:pPr/>
              <a:t>11</a:t>
            </a:fld>
            <a:r>
              <a:rPr lang="es-ES" dirty="0"/>
              <a:t> </a:t>
            </a:r>
          </a:p>
        </p:txBody>
      </p:sp>
      <p:sp>
        <p:nvSpPr>
          <p:cNvPr id="5" name="Título 1">
            <a:extLst>
              <a:ext uri="{FF2B5EF4-FFF2-40B4-BE49-F238E27FC236}">
                <a16:creationId xmlns:a16="http://schemas.microsoft.com/office/drawing/2014/main" id="{ED6E602D-9E4F-B9BA-7CE3-C79125B976BA}"/>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Compuestos RQ</a:t>
            </a:r>
            <a:endParaRPr lang="es-ES" sz="1400" spc="300" dirty="0">
              <a:solidFill>
                <a:schemeClr val="accent1"/>
              </a:solidFill>
              <a:latin typeface="Ancizar Sans" panose="020B0602040300000003" pitchFamily="34" charset="0"/>
              <a:cs typeface="Ancizar Serif"/>
            </a:endParaRPr>
          </a:p>
        </p:txBody>
      </p:sp>
      <p:sp>
        <p:nvSpPr>
          <p:cNvPr id="8" name="Título 1">
            <a:extLst>
              <a:ext uri="{FF2B5EF4-FFF2-40B4-BE49-F238E27FC236}">
                <a16:creationId xmlns:a16="http://schemas.microsoft.com/office/drawing/2014/main" id="{6564150A-6529-2F25-3CD1-0B2E2CC35DC8}"/>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Procesos Gaussianos</a:t>
            </a:r>
            <a:endParaRPr lang="es-CO" sz="3200" noProof="0" dirty="0">
              <a:solidFill>
                <a:schemeClr val="accent1"/>
              </a:solidFill>
              <a:latin typeface="Ancizar Serif Extrabold" panose="020A0902070300000003" pitchFamily="18" charset="0"/>
              <a:cs typeface="Ancizar Sans Extrabold"/>
            </a:endParaRPr>
          </a:p>
        </p:txBody>
      </p:sp>
      <p:pic>
        <p:nvPicPr>
          <p:cNvPr id="10" name="Imagen 9">
            <a:extLst>
              <a:ext uri="{FF2B5EF4-FFF2-40B4-BE49-F238E27FC236}">
                <a16:creationId xmlns:a16="http://schemas.microsoft.com/office/drawing/2014/main" id="{6C413EB0-37A0-A582-BB17-AC0E5D90F767}"/>
              </a:ext>
            </a:extLst>
          </p:cNvPr>
          <p:cNvPicPr>
            <a:picLocks noChangeAspect="1"/>
          </p:cNvPicPr>
          <p:nvPr/>
        </p:nvPicPr>
        <p:blipFill>
          <a:blip r:embed="rId2"/>
          <a:stretch>
            <a:fillRect/>
          </a:stretch>
        </p:blipFill>
        <p:spPr>
          <a:xfrm>
            <a:off x="2394643" y="1091702"/>
            <a:ext cx="2160000" cy="2163667"/>
          </a:xfrm>
          <a:prstGeom prst="rect">
            <a:avLst/>
          </a:prstGeom>
        </p:spPr>
      </p:pic>
      <p:pic>
        <p:nvPicPr>
          <p:cNvPr id="13" name="Imagen 12">
            <a:extLst>
              <a:ext uri="{FF2B5EF4-FFF2-40B4-BE49-F238E27FC236}">
                <a16:creationId xmlns:a16="http://schemas.microsoft.com/office/drawing/2014/main" id="{5649AA56-7CF4-1F77-74C8-27DCC23252A7}"/>
              </a:ext>
            </a:extLst>
          </p:cNvPr>
          <p:cNvPicPr>
            <a:picLocks noChangeAspect="1"/>
          </p:cNvPicPr>
          <p:nvPr/>
        </p:nvPicPr>
        <p:blipFill>
          <a:blip r:embed="rId3"/>
          <a:stretch>
            <a:fillRect/>
          </a:stretch>
        </p:blipFill>
        <p:spPr>
          <a:xfrm>
            <a:off x="188827" y="1098682"/>
            <a:ext cx="2160000" cy="2160000"/>
          </a:xfrm>
          <a:prstGeom prst="rect">
            <a:avLst/>
          </a:prstGeom>
        </p:spPr>
      </p:pic>
      <p:pic>
        <p:nvPicPr>
          <p:cNvPr id="16" name="Imagen 15">
            <a:extLst>
              <a:ext uri="{FF2B5EF4-FFF2-40B4-BE49-F238E27FC236}">
                <a16:creationId xmlns:a16="http://schemas.microsoft.com/office/drawing/2014/main" id="{269D9EE2-882D-1BD8-5E6C-CC216AC1A397}"/>
              </a:ext>
            </a:extLst>
          </p:cNvPr>
          <p:cNvPicPr>
            <a:picLocks noChangeAspect="1"/>
          </p:cNvPicPr>
          <p:nvPr/>
        </p:nvPicPr>
        <p:blipFill>
          <a:blip r:embed="rId4"/>
          <a:stretch>
            <a:fillRect/>
          </a:stretch>
        </p:blipFill>
        <p:spPr>
          <a:xfrm>
            <a:off x="6806275" y="1070762"/>
            <a:ext cx="2160000" cy="2163667"/>
          </a:xfrm>
          <a:prstGeom prst="rect">
            <a:avLst/>
          </a:prstGeom>
        </p:spPr>
      </p:pic>
      <p:pic>
        <p:nvPicPr>
          <p:cNvPr id="18" name="Imagen 17">
            <a:extLst>
              <a:ext uri="{FF2B5EF4-FFF2-40B4-BE49-F238E27FC236}">
                <a16:creationId xmlns:a16="http://schemas.microsoft.com/office/drawing/2014/main" id="{BD4A8B4F-06B7-3896-F444-1DD198E00C42}"/>
              </a:ext>
            </a:extLst>
          </p:cNvPr>
          <p:cNvPicPr>
            <a:picLocks noChangeAspect="1"/>
          </p:cNvPicPr>
          <p:nvPr/>
        </p:nvPicPr>
        <p:blipFill>
          <a:blip r:embed="rId5"/>
          <a:stretch>
            <a:fillRect/>
          </a:stretch>
        </p:blipFill>
        <p:spPr>
          <a:xfrm>
            <a:off x="4600459" y="1098889"/>
            <a:ext cx="2160000" cy="2160000"/>
          </a:xfrm>
          <a:prstGeom prst="rect">
            <a:avLst/>
          </a:prstGeom>
        </p:spPr>
      </p:pic>
      <p:graphicFrame>
        <p:nvGraphicFramePr>
          <p:cNvPr id="19" name="Tabla 18">
            <a:extLst>
              <a:ext uri="{FF2B5EF4-FFF2-40B4-BE49-F238E27FC236}">
                <a16:creationId xmlns:a16="http://schemas.microsoft.com/office/drawing/2014/main" id="{8B724296-554B-744B-8093-BAA821B60E65}"/>
              </a:ext>
            </a:extLst>
          </p:cNvPr>
          <p:cNvGraphicFramePr>
            <a:graphicFrameLocks noGrp="1"/>
          </p:cNvGraphicFramePr>
          <p:nvPr>
            <p:extLst>
              <p:ext uri="{D42A27DB-BD31-4B8C-83A1-F6EECF244321}">
                <p14:modId xmlns:p14="http://schemas.microsoft.com/office/powerpoint/2010/main" val="1742287202"/>
              </p:ext>
            </p:extLst>
          </p:nvPr>
        </p:nvGraphicFramePr>
        <p:xfrm>
          <a:off x="4318075" y="3579801"/>
          <a:ext cx="4648200" cy="762000"/>
        </p:xfrm>
        <a:graphic>
          <a:graphicData uri="http://schemas.openxmlformats.org/drawingml/2006/table">
            <a:tbl>
              <a:tblPr>
                <a:tableStyleId>{5C22544A-7EE6-4342-B048-85BDC9FD1C3A}</a:tableStyleId>
              </a:tblPr>
              <a:tblGrid>
                <a:gridCol w="1600200">
                  <a:extLst>
                    <a:ext uri="{9D8B030D-6E8A-4147-A177-3AD203B41FA5}">
                      <a16:colId xmlns:a16="http://schemas.microsoft.com/office/drawing/2014/main" val="3816810630"/>
                    </a:ext>
                  </a:extLst>
                </a:gridCol>
                <a:gridCol w="762000">
                  <a:extLst>
                    <a:ext uri="{9D8B030D-6E8A-4147-A177-3AD203B41FA5}">
                      <a16:colId xmlns:a16="http://schemas.microsoft.com/office/drawing/2014/main" val="3538271660"/>
                    </a:ext>
                  </a:extLst>
                </a:gridCol>
                <a:gridCol w="762000">
                  <a:extLst>
                    <a:ext uri="{9D8B030D-6E8A-4147-A177-3AD203B41FA5}">
                      <a16:colId xmlns:a16="http://schemas.microsoft.com/office/drawing/2014/main" val="764908271"/>
                    </a:ext>
                  </a:extLst>
                </a:gridCol>
                <a:gridCol w="762000">
                  <a:extLst>
                    <a:ext uri="{9D8B030D-6E8A-4147-A177-3AD203B41FA5}">
                      <a16:colId xmlns:a16="http://schemas.microsoft.com/office/drawing/2014/main" val="289808831"/>
                    </a:ext>
                  </a:extLst>
                </a:gridCol>
                <a:gridCol w="762000">
                  <a:extLst>
                    <a:ext uri="{9D8B030D-6E8A-4147-A177-3AD203B41FA5}">
                      <a16:colId xmlns:a16="http://schemas.microsoft.com/office/drawing/2014/main" val="2392932235"/>
                    </a:ext>
                  </a:extLst>
                </a:gridCol>
              </a:tblGrid>
              <a:tr h="190500">
                <a:tc>
                  <a:txBody>
                    <a:bodyPr/>
                    <a:lstStyle/>
                    <a:p>
                      <a:pPr algn="l" fontAlgn="b">
                        <a:buNone/>
                      </a:pPr>
                      <a:r>
                        <a:rPr lang="es-CO" sz="1100" u="none" strike="noStrike" dirty="0">
                          <a:effectLst/>
                        </a:rPr>
                        <a:t>Kernel</a:t>
                      </a:r>
                      <a:endParaRPr lang="es-CO" sz="1100" b="0" i="0" u="none" strike="noStrike" dirty="0">
                        <a:solidFill>
                          <a:srgbClr val="000000"/>
                        </a:solidFill>
                        <a:effectLst/>
                        <a:latin typeface="Aptos Narrow" panose="020B0004020202020204" pitchFamily="34" charset="0"/>
                      </a:endParaRPr>
                    </a:p>
                  </a:txBody>
                  <a:tcPr marL="9525" marR="9525" marT="9525" marB="0" anchor="b">
                    <a:solidFill>
                      <a:schemeClr val="tx2">
                        <a:lumMod val="40000"/>
                        <a:lumOff val="60000"/>
                      </a:schemeClr>
                    </a:solidFill>
                  </a:tcPr>
                </a:tc>
                <a:tc>
                  <a:txBody>
                    <a:bodyPr/>
                    <a:lstStyle/>
                    <a:p>
                      <a:pPr algn="ctr" fontAlgn="ctr">
                        <a:buNone/>
                      </a:pPr>
                      <a:r>
                        <a:rPr lang="es-CO" sz="1100" u="none" strike="noStrike" dirty="0">
                          <a:effectLst/>
                        </a:rPr>
                        <a:t>RMSE</a:t>
                      </a:r>
                      <a:endParaRPr lang="es-CO" sz="11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100" u="none" strike="noStrike">
                          <a:effectLst/>
                        </a:rPr>
                        <a:t>MAE</a:t>
                      </a:r>
                      <a:endParaRPr lang="es-CO" sz="1100" b="0" i="0" u="none" strike="noStrike">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100" u="none" strike="noStrike">
                          <a:effectLst/>
                        </a:rPr>
                        <a:t>R²</a:t>
                      </a:r>
                      <a:endParaRPr lang="es-CO" sz="1100" b="0" i="0" u="none" strike="noStrike">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tc>
                  <a:txBody>
                    <a:bodyPr/>
                    <a:lstStyle/>
                    <a:p>
                      <a:pPr algn="ctr" fontAlgn="ctr">
                        <a:buNone/>
                      </a:pPr>
                      <a:r>
                        <a:rPr lang="es-CO" sz="1100" u="none" strike="noStrike" dirty="0">
                          <a:effectLst/>
                        </a:rPr>
                        <a:t>LogLik</a:t>
                      </a:r>
                      <a:endParaRPr lang="es-CO" sz="1100" b="0" i="0" u="none" strike="noStrike" dirty="0">
                        <a:solidFill>
                          <a:srgbClr val="000000"/>
                        </a:solidFill>
                        <a:effectLst/>
                        <a:latin typeface="Aptos Narrow" panose="020B0004020202020204" pitchFamily="34"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1315757518"/>
                  </a:ext>
                </a:extLst>
              </a:tr>
              <a:tr h="190500">
                <a:tc>
                  <a:txBody>
                    <a:bodyPr/>
                    <a:lstStyle/>
                    <a:p>
                      <a:pPr algn="l" fontAlgn="b">
                        <a:buNone/>
                      </a:pPr>
                      <a:r>
                        <a:rPr lang="es-CO" sz="1100" u="none" strike="noStrike" dirty="0">
                          <a:effectLst/>
                        </a:rPr>
                        <a:t>Rational Quadratic</a:t>
                      </a:r>
                      <a:endParaRPr lang="es-CO"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100" u="none" strike="noStrike">
                          <a:effectLst/>
                        </a:rPr>
                        <a:t>1,012</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0,760</a:t>
                      </a:r>
                      <a:endParaRPr lang="es-CO"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0,566</a:t>
                      </a:r>
                      <a:endParaRPr lang="es-CO"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-425,060</a:t>
                      </a:r>
                      <a:endParaRPr lang="es-CO"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722246279"/>
                  </a:ext>
                </a:extLst>
              </a:tr>
              <a:tr h="190500">
                <a:tc>
                  <a:txBody>
                    <a:bodyPr/>
                    <a:lstStyle/>
                    <a:p>
                      <a:pPr algn="l" fontAlgn="b">
                        <a:buNone/>
                      </a:pPr>
                      <a:r>
                        <a:rPr lang="es-CO" sz="1100" u="none" strike="noStrike">
                          <a:effectLst/>
                        </a:rPr>
                        <a:t>Constant × RQ</a:t>
                      </a:r>
                      <a:endParaRPr lang="es-CO"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100" u="none" strike="noStrike">
                          <a:effectLst/>
                        </a:rPr>
                        <a:t>0,995</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0,736</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0,580</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-384,332</a:t>
                      </a:r>
                      <a:endParaRPr lang="es-CO"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391741172"/>
                  </a:ext>
                </a:extLst>
              </a:tr>
              <a:tr h="190500">
                <a:tc>
                  <a:txBody>
                    <a:bodyPr/>
                    <a:lstStyle/>
                    <a:p>
                      <a:pPr algn="l" fontAlgn="b">
                        <a:buNone/>
                      </a:pPr>
                      <a:r>
                        <a:rPr lang="es-CO" sz="1100" u="none" strike="noStrike">
                          <a:effectLst/>
                        </a:rPr>
                        <a:t>Constant × RQ + White</a:t>
                      </a:r>
                      <a:endParaRPr lang="es-CO"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ctr">
                        <a:buNone/>
                      </a:pPr>
                      <a:r>
                        <a:rPr lang="es-CO" sz="1100" u="none" strike="noStrike">
                          <a:effectLst/>
                        </a:rPr>
                        <a:t>0,982</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0,725</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a:effectLst/>
                        </a:rPr>
                        <a:t>0,592</a:t>
                      </a:r>
                      <a:endParaRPr lang="es-CO"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CO" sz="1100" u="none" strike="noStrike" dirty="0">
                          <a:effectLst/>
                        </a:rPr>
                        <a:t>-374,105</a:t>
                      </a:r>
                      <a:endParaRPr lang="es-CO"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36421531"/>
                  </a:ext>
                </a:extLst>
              </a:tr>
            </a:tbl>
          </a:graphicData>
        </a:graphic>
      </p:graphicFrame>
      <p:sp>
        <p:nvSpPr>
          <p:cNvPr id="21" name="Título 1">
            <a:extLst>
              <a:ext uri="{FF2B5EF4-FFF2-40B4-BE49-F238E27FC236}">
                <a16:creationId xmlns:a16="http://schemas.microsoft.com/office/drawing/2014/main" id="{3687FF8D-D4BA-370C-3AB3-8A575979E0C4}"/>
              </a:ext>
            </a:extLst>
          </p:cNvPr>
          <p:cNvSpPr txBox="1">
            <a:spLocks/>
          </p:cNvSpPr>
          <p:nvPr/>
        </p:nvSpPr>
        <p:spPr>
          <a:xfrm>
            <a:off x="1106498" y="3809325"/>
            <a:ext cx="315267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100" b="1" dirty="0">
                <a:solidFill>
                  <a:schemeClr val="tx2"/>
                </a:solidFill>
                <a:ea typeface="+mn-ea"/>
                <a:cs typeface="+mn-cs"/>
              </a:rPr>
              <a:t>Modelo con variables ambientales y coordenadas</a:t>
            </a:r>
            <a:endParaRPr lang="es-ES" sz="1100" b="1" dirty="0">
              <a:solidFill>
                <a:schemeClr val="tx2"/>
              </a:solidFill>
              <a:ea typeface="+mn-ea"/>
              <a:cs typeface="+mn-cs"/>
            </a:endParaRPr>
          </a:p>
        </p:txBody>
      </p:sp>
    </p:spTree>
    <p:extLst>
      <p:ext uri="{BB962C8B-B14F-4D97-AF65-F5344CB8AC3E}">
        <p14:creationId xmlns:p14="http://schemas.microsoft.com/office/powerpoint/2010/main" val="974895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645A51B-B450-92C4-954B-C7701C1578D2}"/>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A0A8995F-1DFC-69BC-A088-1DA78D44CA2E}"/>
              </a:ext>
            </a:extLst>
          </p:cNvPr>
          <p:cNvSpPr txBox="1"/>
          <p:nvPr/>
        </p:nvSpPr>
        <p:spPr>
          <a:xfrm>
            <a:off x="259080" y="4690504"/>
            <a:ext cx="311658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CO" sz="900" b="0" i="1" u="none" strike="noStrike" kern="1200" cap="none" spc="0" normalizeH="0" baseline="0" noProof="0" dirty="0">
                <a:ln>
                  <a:noFill/>
                </a:ln>
                <a:solidFill>
                  <a:srgbClr val="F8ECCD"/>
                </a:solidFill>
                <a:effectLst/>
                <a:uLnTx/>
                <a:uFillTx/>
                <a:latin typeface="Ancizar Sans" panose="020B0602040300000003" pitchFamily="34" charset="0"/>
                <a:ea typeface="+mn-ea"/>
                <a:cs typeface="+mn-cs"/>
              </a:rPr>
              <a:t>Facultad de Minas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CO" sz="900" b="0" i="1" u="none" strike="noStrike" kern="1200" cap="none" spc="0" normalizeH="0" baseline="0" noProof="0" dirty="0">
                <a:ln>
                  <a:noFill/>
                </a:ln>
                <a:solidFill>
                  <a:srgbClr val="F8ECCD"/>
                </a:solidFill>
                <a:effectLst/>
                <a:uLnTx/>
                <a:uFillTx/>
                <a:latin typeface="Ancizar Sans" panose="020B0602040300000003" pitchFamily="34" charset="0"/>
                <a:ea typeface="+mn-ea"/>
                <a:cs typeface="+mn-cs"/>
              </a:rPr>
              <a:t>Sede Medellín</a:t>
            </a:r>
          </a:p>
        </p:txBody>
      </p:sp>
      <p:sp>
        <p:nvSpPr>
          <p:cNvPr id="8" name="Marcador de número de diapositiva 7">
            <a:extLst>
              <a:ext uri="{FF2B5EF4-FFF2-40B4-BE49-F238E27FC236}">
                <a16:creationId xmlns:a16="http://schemas.microsoft.com/office/drawing/2014/main" id="{F032D70F-03E4-C6CE-F14B-214B91EE950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0BC2BA4-81C0-F544-BD72-C8CB9DA7C802}" type="slidenum">
              <a:rPr kumimoji="0" lang="es-CO" sz="900" b="0" i="0" u="none" strike="noStrike" kern="1200" cap="none" spc="0" normalizeH="0" baseline="0" noProof="0" smtClean="0">
                <a:ln>
                  <a:noFill/>
                </a:ln>
                <a:solidFill>
                  <a:srgbClr val="29272D">
                    <a:tint val="75000"/>
                  </a:srgbClr>
                </a:solidFill>
                <a:effectLst/>
                <a:uLnTx/>
                <a:uFillTx/>
                <a:latin typeface="Ancizar Sans Light"/>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12</a:t>
            </a:fld>
            <a:endParaRPr kumimoji="0" lang="es-CO" sz="900" b="0" i="0" u="none" strike="noStrike" kern="1200" cap="none" spc="0" normalizeH="0" baseline="0" noProof="0" dirty="0">
              <a:ln>
                <a:noFill/>
              </a:ln>
              <a:solidFill>
                <a:srgbClr val="29272D">
                  <a:tint val="75000"/>
                </a:srgbClr>
              </a:solidFill>
              <a:effectLst/>
              <a:uLnTx/>
              <a:uFillTx/>
              <a:latin typeface="Ancizar Sans Light"/>
              <a:ea typeface="+mn-ea"/>
              <a:cs typeface="+mn-cs"/>
            </a:endParaRPr>
          </a:p>
        </p:txBody>
      </p:sp>
      <p:sp>
        <p:nvSpPr>
          <p:cNvPr id="5" name="Título 1">
            <a:extLst>
              <a:ext uri="{FF2B5EF4-FFF2-40B4-BE49-F238E27FC236}">
                <a16:creationId xmlns:a16="http://schemas.microsoft.com/office/drawing/2014/main" id="{87AFCB6A-B2A1-5D22-0581-444B8C209F74}"/>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s-CO" sz="1400" b="0" i="0" u="none" strike="noStrike" kern="1200" cap="none" spc="300" normalizeH="0" baseline="0" noProof="0" dirty="0">
                <a:ln>
                  <a:noFill/>
                </a:ln>
                <a:solidFill>
                  <a:srgbClr val="620C78"/>
                </a:solidFill>
                <a:effectLst/>
                <a:uLnTx/>
                <a:uFillTx/>
                <a:latin typeface="Ancizar Sans" panose="020B0602040300000003" pitchFamily="34" charset="0"/>
                <a:ea typeface="+mj-ea"/>
                <a:cs typeface="Ancizar Serif"/>
              </a:rPr>
              <a:t>Comparación</a:t>
            </a:r>
            <a:endParaRPr kumimoji="0" lang="es-ES" sz="1400" b="0" i="0" u="none" strike="noStrike" kern="1200" cap="none" spc="300" normalizeH="0" baseline="0" noProof="0" dirty="0">
              <a:ln>
                <a:noFill/>
              </a:ln>
              <a:solidFill>
                <a:srgbClr val="620C78"/>
              </a:solidFill>
              <a:effectLst/>
              <a:uLnTx/>
              <a:uFillTx/>
              <a:latin typeface="Ancizar Sans" panose="020B0602040300000003" pitchFamily="34" charset="0"/>
              <a:ea typeface="+mj-ea"/>
              <a:cs typeface="Ancizar Serif"/>
            </a:endParaRPr>
          </a:p>
        </p:txBody>
      </p:sp>
      <p:sp>
        <p:nvSpPr>
          <p:cNvPr id="7" name="Título 1">
            <a:extLst>
              <a:ext uri="{FF2B5EF4-FFF2-40B4-BE49-F238E27FC236}">
                <a16:creationId xmlns:a16="http://schemas.microsoft.com/office/drawing/2014/main" id="{CEAD0529-9E49-9BB8-DD68-7729B9BB24B1}"/>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s-CO" sz="3200" b="0" i="0" u="none" strike="noStrike" kern="1200" cap="none" spc="0" normalizeH="0" baseline="0" noProof="0" dirty="0">
                <a:ln>
                  <a:noFill/>
                </a:ln>
                <a:solidFill>
                  <a:srgbClr val="620C78"/>
                </a:solidFill>
                <a:effectLst/>
                <a:uLnTx/>
                <a:uFillTx/>
                <a:latin typeface="Ancizar Serif Extrabold" panose="020A0902070300000003" pitchFamily="18" charset="0"/>
                <a:ea typeface="+mj-ea"/>
                <a:cs typeface="Ancizar Sans Extrabold"/>
              </a:rPr>
              <a:t>Procesos Gaussianos</a:t>
            </a:r>
          </a:p>
        </p:txBody>
      </p:sp>
      <p:pic>
        <p:nvPicPr>
          <p:cNvPr id="12" name="Imagen 11">
            <a:extLst>
              <a:ext uri="{FF2B5EF4-FFF2-40B4-BE49-F238E27FC236}">
                <a16:creationId xmlns:a16="http://schemas.microsoft.com/office/drawing/2014/main" id="{4DC95A7D-4218-657E-8540-4FA52BF180B3}"/>
              </a:ext>
            </a:extLst>
          </p:cNvPr>
          <p:cNvPicPr>
            <a:picLocks noChangeAspect="1"/>
          </p:cNvPicPr>
          <p:nvPr/>
        </p:nvPicPr>
        <p:blipFill>
          <a:blip r:embed="rId3"/>
          <a:srcRect/>
          <a:stretch/>
        </p:blipFill>
        <p:spPr>
          <a:xfrm>
            <a:off x="746165" y="1132139"/>
            <a:ext cx="3600000" cy="2879221"/>
          </a:xfrm>
          <a:prstGeom prst="rect">
            <a:avLst/>
          </a:prstGeom>
        </p:spPr>
      </p:pic>
      <p:pic>
        <p:nvPicPr>
          <p:cNvPr id="14" name="Imagen 13">
            <a:extLst>
              <a:ext uri="{FF2B5EF4-FFF2-40B4-BE49-F238E27FC236}">
                <a16:creationId xmlns:a16="http://schemas.microsoft.com/office/drawing/2014/main" id="{6C350DB0-A024-6D8A-C40E-05D62AB30E93}"/>
              </a:ext>
            </a:extLst>
          </p:cNvPr>
          <p:cNvPicPr>
            <a:picLocks noChangeAspect="1"/>
          </p:cNvPicPr>
          <p:nvPr/>
        </p:nvPicPr>
        <p:blipFill>
          <a:blip r:embed="rId4"/>
          <a:srcRect/>
          <a:stretch/>
        </p:blipFill>
        <p:spPr>
          <a:xfrm>
            <a:off x="4572000" y="1132139"/>
            <a:ext cx="3600000" cy="2879221"/>
          </a:xfrm>
          <a:prstGeom prst="rect">
            <a:avLst/>
          </a:prstGeom>
        </p:spPr>
      </p:pic>
    </p:spTree>
    <p:extLst>
      <p:ext uri="{BB962C8B-B14F-4D97-AF65-F5344CB8AC3E}">
        <p14:creationId xmlns:p14="http://schemas.microsoft.com/office/powerpoint/2010/main" val="2585708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CB61A60-625E-A11D-BA11-55D143E9437C}"/>
              </a:ext>
            </a:extLst>
          </p:cNvPr>
          <p:cNvPicPr>
            <a:picLocks noChangeAspect="1"/>
          </p:cNvPicPr>
          <p:nvPr/>
        </p:nvPicPr>
        <p:blipFill>
          <a:blip r:embed="rId2"/>
          <a:srcRect/>
          <a:stretch/>
        </p:blipFill>
        <p:spPr>
          <a:xfrm>
            <a:off x="624757" y="1212272"/>
            <a:ext cx="3600000" cy="2721675"/>
          </a:xfrm>
          <a:prstGeom prst="rect">
            <a:avLst/>
          </a:prstGeom>
        </p:spPr>
      </p:pic>
      <p:pic>
        <p:nvPicPr>
          <p:cNvPr id="8" name="Imagen 7">
            <a:extLst>
              <a:ext uri="{FF2B5EF4-FFF2-40B4-BE49-F238E27FC236}">
                <a16:creationId xmlns:a16="http://schemas.microsoft.com/office/drawing/2014/main" id="{791C5A6A-3963-9CDA-6B82-DCD9022669C8}"/>
              </a:ext>
            </a:extLst>
          </p:cNvPr>
          <p:cNvPicPr>
            <a:picLocks noChangeAspect="1"/>
          </p:cNvPicPr>
          <p:nvPr/>
        </p:nvPicPr>
        <p:blipFill>
          <a:blip r:embed="rId3"/>
          <a:srcRect/>
          <a:stretch/>
        </p:blipFill>
        <p:spPr>
          <a:xfrm>
            <a:off x="4760464" y="1200677"/>
            <a:ext cx="3600000" cy="2721675"/>
          </a:xfrm>
          <a:prstGeom prst="rect">
            <a:avLst/>
          </a:prstGeom>
        </p:spPr>
      </p:pic>
      <p:sp>
        <p:nvSpPr>
          <p:cNvPr id="10" name="Título 1">
            <a:extLst>
              <a:ext uri="{FF2B5EF4-FFF2-40B4-BE49-F238E27FC236}">
                <a16:creationId xmlns:a16="http://schemas.microsoft.com/office/drawing/2014/main" id="{7F12267A-7441-D707-F542-66C6D6E64AF9}"/>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Comparación</a:t>
            </a:r>
            <a:endParaRPr lang="es-ES" sz="1400" spc="300" dirty="0">
              <a:solidFill>
                <a:schemeClr val="accent1"/>
              </a:solidFill>
              <a:latin typeface="Ancizar Sans" panose="020B0602040300000003" pitchFamily="34" charset="0"/>
              <a:cs typeface="Ancizar Serif"/>
            </a:endParaRPr>
          </a:p>
        </p:txBody>
      </p:sp>
      <p:sp>
        <p:nvSpPr>
          <p:cNvPr id="12" name="Título 1">
            <a:extLst>
              <a:ext uri="{FF2B5EF4-FFF2-40B4-BE49-F238E27FC236}">
                <a16:creationId xmlns:a16="http://schemas.microsoft.com/office/drawing/2014/main" id="{2250A49A-9FE5-EB91-443F-2E18A767E2B5}"/>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Procesos Gaussianos</a:t>
            </a:r>
            <a:endParaRPr lang="es-CO" sz="3200" noProof="0" dirty="0">
              <a:solidFill>
                <a:schemeClr val="accent1"/>
              </a:solidFill>
              <a:latin typeface="Ancizar Serif Extrabold" panose="020A0902070300000003" pitchFamily="18" charset="0"/>
              <a:cs typeface="Ancizar Sans Extrabold"/>
            </a:endParaRPr>
          </a:p>
        </p:txBody>
      </p:sp>
      <p:sp>
        <p:nvSpPr>
          <p:cNvPr id="13" name="Marcador de número de diapositiva 12">
            <a:extLst>
              <a:ext uri="{FF2B5EF4-FFF2-40B4-BE49-F238E27FC236}">
                <a16:creationId xmlns:a16="http://schemas.microsoft.com/office/drawing/2014/main" id="{3F70AE0E-E7B1-E9F9-0A10-DAD41E4B2AB6}"/>
              </a:ext>
            </a:extLst>
          </p:cNvPr>
          <p:cNvSpPr>
            <a:spLocks noGrp="1"/>
          </p:cNvSpPr>
          <p:nvPr>
            <p:ph type="sldNum" sz="quarter" idx="12"/>
          </p:nvPr>
        </p:nvSpPr>
        <p:spPr/>
        <p:txBody>
          <a:bodyPr/>
          <a:lstStyle/>
          <a:p>
            <a:r>
              <a:rPr lang="es-ES"/>
              <a:t>Página </a:t>
            </a:r>
            <a:fld id="{90BC2BA4-81C0-F544-BD72-C8CB9DA7C802}" type="slidenum">
              <a:rPr lang="es-ES" smtClean="0"/>
              <a:pPr/>
              <a:t>13</a:t>
            </a:fld>
            <a:r>
              <a:rPr lang="es-ES"/>
              <a:t> </a:t>
            </a:r>
            <a:endParaRPr lang="es-ES" dirty="0"/>
          </a:p>
        </p:txBody>
      </p:sp>
    </p:spTree>
    <p:extLst>
      <p:ext uri="{BB962C8B-B14F-4D97-AF65-F5344CB8AC3E}">
        <p14:creationId xmlns:p14="http://schemas.microsoft.com/office/powerpoint/2010/main" val="104675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94BF4E3-11DC-B5F4-5F1F-83A2C490EACD}"/>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9D23688A-E8D3-E76E-7B9E-EF43D6049FDE}"/>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6934DE91-987C-3391-B9B1-B7260A968A96}"/>
              </a:ext>
            </a:extLst>
          </p:cNvPr>
          <p:cNvSpPr>
            <a:spLocks noGrp="1"/>
          </p:cNvSpPr>
          <p:nvPr>
            <p:ph type="sldNum" sz="quarter" idx="12"/>
          </p:nvPr>
        </p:nvSpPr>
        <p:spPr/>
        <p:txBody>
          <a:bodyPr/>
          <a:lstStyle/>
          <a:p>
            <a:fld id="{90BC2BA4-81C0-F544-BD72-C8CB9DA7C802}" type="slidenum">
              <a:rPr lang="es-CO" noProof="0" smtClean="0"/>
              <a:pPr/>
              <a:t>14</a:t>
            </a:fld>
            <a:endParaRPr lang="es-CO" noProof="0" dirty="0"/>
          </a:p>
        </p:txBody>
      </p:sp>
      <p:sp>
        <p:nvSpPr>
          <p:cNvPr id="5" name="Título 1">
            <a:extLst>
              <a:ext uri="{FF2B5EF4-FFF2-40B4-BE49-F238E27FC236}">
                <a16:creationId xmlns:a16="http://schemas.microsoft.com/office/drawing/2014/main" id="{8B1C12B3-FCDC-2717-D971-0E6F8AA1AE72}"/>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Comparación de los mejores modelos</a:t>
            </a:r>
            <a:endParaRPr lang="es-ES" sz="1400" spc="300" dirty="0">
              <a:solidFill>
                <a:schemeClr val="accent1"/>
              </a:solidFill>
              <a:latin typeface="Ancizar Sans" panose="020B0602040300000003" pitchFamily="34" charset="0"/>
              <a:cs typeface="Ancizar Serif"/>
            </a:endParaRPr>
          </a:p>
        </p:txBody>
      </p:sp>
      <p:sp>
        <p:nvSpPr>
          <p:cNvPr id="7" name="Título 1">
            <a:extLst>
              <a:ext uri="{FF2B5EF4-FFF2-40B4-BE49-F238E27FC236}">
                <a16:creationId xmlns:a16="http://schemas.microsoft.com/office/drawing/2014/main" id="{4F085529-A004-10C7-5B7C-8351E04EF4CE}"/>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Resumen de modelos </a:t>
            </a:r>
            <a:endParaRPr lang="es-CO" sz="3200" noProof="0" dirty="0">
              <a:solidFill>
                <a:schemeClr val="accent1"/>
              </a:solidFill>
              <a:latin typeface="Ancizar Serif Extrabold" panose="020A0902070300000003" pitchFamily="18" charset="0"/>
              <a:cs typeface="Ancizar Sans Extrabold"/>
            </a:endParaRPr>
          </a:p>
        </p:txBody>
      </p:sp>
      <p:graphicFrame>
        <p:nvGraphicFramePr>
          <p:cNvPr id="6" name="Tabla 5">
            <a:extLst>
              <a:ext uri="{FF2B5EF4-FFF2-40B4-BE49-F238E27FC236}">
                <a16:creationId xmlns:a16="http://schemas.microsoft.com/office/drawing/2014/main" id="{B86B4550-1277-C2FB-BF06-59808BAE34A6}"/>
              </a:ext>
            </a:extLst>
          </p:cNvPr>
          <p:cNvGraphicFramePr>
            <a:graphicFrameLocks noGrp="1"/>
          </p:cNvGraphicFramePr>
          <p:nvPr>
            <p:extLst>
              <p:ext uri="{D42A27DB-BD31-4B8C-83A1-F6EECF244321}">
                <p14:modId xmlns:p14="http://schemas.microsoft.com/office/powerpoint/2010/main" val="2842583670"/>
              </p:ext>
            </p:extLst>
          </p:nvPr>
        </p:nvGraphicFramePr>
        <p:xfrm>
          <a:off x="767817" y="1293745"/>
          <a:ext cx="7678168" cy="2762230"/>
        </p:xfrm>
        <a:graphic>
          <a:graphicData uri="http://schemas.openxmlformats.org/drawingml/2006/table">
            <a:tbl>
              <a:tblPr>
                <a:tableStyleId>{5C22544A-7EE6-4342-B048-85BDC9FD1C3A}</a:tableStyleId>
              </a:tblPr>
              <a:tblGrid>
                <a:gridCol w="2291560">
                  <a:extLst>
                    <a:ext uri="{9D8B030D-6E8A-4147-A177-3AD203B41FA5}">
                      <a16:colId xmlns:a16="http://schemas.microsoft.com/office/drawing/2014/main" val="2969693119"/>
                    </a:ext>
                  </a:extLst>
                </a:gridCol>
                <a:gridCol w="1058505">
                  <a:extLst>
                    <a:ext uri="{9D8B030D-6E8A-4147-A177-3AD203B41FA5}">
                      <a16:colId xmlns:a16="http://schemas.microsoft.com/office/drawing/2014/main" val="4107587526"/>
                    </a:ext>
                  </a:extLst>
                </a:gridCol>
                <a:gridCol w="1305488">
                  <a:extLst>
                    <a:ext uri="{9D8B030D-6E8A-4147-A177-3AD203B41FA5}">
                      <a16:colId xmlns:a16="http://schemas.microsoft.com/office/drawing/2014/main" val="2994788919"/>
                    </a:ext>
                  </a:extLst>
                </a:gridCol>
                <a:gridCol w="1717127">
                  <a:extLst>
                    <a:ext uri="{9D8B030D-6E8A-4147-A177-3AD203B41FA5}">
                      <a16:colId xmlns:a16="http://schemas.microsoft.com/office/drawing/2014/main" val="3959729359"/>
                    </a:ext>
                  </a:extLst>
                </a:gridCol>
                <a:gridCol w="1305488">
                  <a:extLst>
                    <a:ext uri="{9D8B030D-6E8A-4147-A177-3AD203B41FA5}">
                      <a16:colId xmlns:a16="http://schemas.microsoft.com/office/drawing/2014/main" val="2873732910"/>
                    </a:ext>
                  </a:extLst>
                </a:gridCol>
              </a:tblGrid>
              <a:tr h="393274">
                <a:tc gridSpan="5">
                  <a:txBody>
                    <a:bodyPr/>
                    <a:lstStyle/>
                    <a:p>
                      <a:pPr algn="ctr" fontAlgn="b">
                        <a:buNone/>
                      </a:pPr>
                      <a:r>
                        <a:rPr lang="es-CO" sz="1000" b="1" u="none" strike="noStrike" dirty="0">
                          <a:solidFill>
                            <a:srgbClr val="000000"/>
                          </a:solidFill>
                          <a:effectLst/>
                        </a:rPr>
                        <a:t>Modelos con densidad de movimientos</a:t>
                      </a:r>
                      <a:endParaRPr lang="es-CO" sz="10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911099885"/>
                  </a:ext>
                </a:extLst>
              </a:tr>
              <a:tr h="352956">
                <a:tc>
                  <a:txBody>
                    <a:bodyPr/>
                    <a:lstStyle/>
                    <a:p>
                      <a:pPr algn="ctr" fontAlgn="b">
                        <a:buNone/>
                      </a:pPr>
                      <a:r>
                        <a:rPr lang="es-CO" sz="1100" b="1" i="0" u="none" strike="noStrike" dirty="0">
                          <a:solidFill>
                            <a:srgbClr val="000000"/>
                          </a:solidFill>
                          <a:effectLst/>
                          <a:latin typeface="Aptos Narrow" panose="020B0004020202020204" pitchFamily="34" charset="0"/>
                        </a:rPr>
                        <a:t>Kernel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R²</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RMSE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MAE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LogLik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525388952"/>
                  </a:ext>
                </a:extLst>
              </a:tr>
              <a:tr h="288000">
                <a:tc>
                  <a:txBody>
                    <a:bodyPr/>
                    <a:lstStyle/>
                    <a:p>
                      <a:pPr algn="ctr" fontAlgn="b">
                        <a:buNone/>
                      </a:pPr>
                      <a:r>
                        <a:rPr lang="es-CO" sz="1100" b="0" i="0" u="none" strike="noStrike" dirty="0">
                          <a:solidFill>
                            <a:srgbClr val="000000"/>
                          </a:solidFill>
                          <a:effectLst/>
                          <a:latin typeface="Aptos Narrow" panose="020B0004020202020204" pitchFamily="34" charset="0"/>
                        </a:rPr>
                        <a:t>RBF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a:solidFill>
                            <a:srgbClr val="000000"/>
                          </a:solidFill>
                          <a:effectLst/>
                          <a:latin typeface="Aptos Narrow" panose="020B0004020202020204" pitchFamily="34" charset="0"/>
                        </a:rPr>
                        <a:t>0,524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a:solidFill>
                            <a:srgbClr val="000000"/>
                          </a:solidFill>
                          <a:effectLst/>
                          <a:latin typeface="Aptos Narrow" panose="020B0004020202020204" pitchFamily="34" charset="0"/>
                        </a:rPr>
                        <a:t>1,059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a:solidFill>
                            <a:srgbClr val="000000"/>
                          </a:solidFill>
                          <a:effectLst/>
                          <a:latin typeface="Aptos Narrow" panose="020B0004020202020204" pitchFamily="34" charset="0"/>
                        </a:rPr>
                        <a:t>0,786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a:solidFill>
                            <a:srgbClr val="000000"/>
                          </a:solidFill>
                          <a:effectLst/>
                          <a:latin typeface="Aptos Narrow" panose="020B0004020202020204" pitchFamily="34" charset="0"/>
                        </a:rPr>
                        <a:t>-647,821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96870425"/>
                  </a:ext>
                </a:extLst>
              </a:tr>
              <a:tr h="288000">
                <a:tc>
                  <a:txBody>
                    <a:bodyPr/>
                    <a:lstStyle/>
                    <a:p>
                      <a:pPr algn="ctr" fontAlgn="b">
                        <a:buNone/>
                      </a:pPr>
                      <a:r>
                        <a:rPr lang="es-CO" sz="1100" b="1" i="0" u="none" strike="noStrike" dirty="0">
                          <a:solidFill>
                            <a:srgbClr val="000000"/>
                          </a:solidFill>
                          <a:effectLst/>
                          <a:latin typeface="Aptos Narrow" panose="020B0004020202020204" pitchFamily="34" charset="0"/>
                        </a:rPr>
                        <a:t>Matérn 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0,631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0,933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0,645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-431,394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extLst>
                  <a:ext uri="{0D108BD9-81ED-4DB2-BD59-A6C34878D82A}">
                    <a16:rowId xmlns:a16="http://schemas.microsoft.com/office/drawing/2014/main" val="8953249"/>
                  </a:ext>
                </a:extLst>
              </a:tr>
              <a:tr h="288000">
                <a:tc>
                  <a:txBody>
                    <a:bodyPr/>
                    <a:lstStyle/>
                    <a:p>
                      <a:pPr algn="ctr" fontAlgn="b">
                        <a:buNone/>
                      </a:pPr>
                      <a:r>
                        <a:rPr lang="es-CO" sz="1100" b="0" i="0" u="none" strike="noStrike" dirty="0">
                          <a:solidFill>
                            <a:srgbClr val="000000"/>
                          </a:solidFill>
                          <a:effectLst/>
                          <a:latin typeface="Aptos Narrow" panose="020B0004020202020204" pitchFamily="34" charset="0"/>
                        </a:rPr>
                        <a:t>Constant × Matérn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0,593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0,980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-378,805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14098811"/>
                  </a:ext>
                </a:extLst>
              </a:tr>
              <a:tr h="288000">
                <a:tc>
                  <a:txBody>
                    <a:bodyPr/>
                    <a:lstStyle/>
                    <a:p>
                      <a:pPr algn="ctr" fontAlgn="b">
                        <a:buNone/>
                      </a:pPr>
                      <a:r>
                        <a:rPr lang="es-CO" sz="1100" b="1" i="0" u="none" strike="noStrike" dirty="0">
                          <a:solidFill>
                            <a:srgbClr val="000000"/>
                          </a:solidFill>
                          <a:effectLst/>
                          <a:latin typeface="Aptos Narrow" panose="020B0004020202020204" pitchFamily="34" charset="0"/>
                        </a:rPr>
                        <a:t>Constant × Matérn + White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0,614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0,955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0,718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1100" b="1" i="0" u="none" strike="noStrike" dirty="0">
                          <a:solidFill>
                            <a:srgbClr val="000000"/>
                          </a:solidFill>
                          <a:effectLst/>
                          <a:latin typeface="Aptos Narrow" panose="020B0004020202020204" pitchFamily="34" charset="0"/>
                        </a:rPr>
                        <a:t>-363,240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extLst>
                  <a:ext uri="{0D108BD9-81ED-4DB2-BD59-A6C34878D82A}">
                    <a16:rowId xmlns:a16="http://schemas.microsoft.com/office/drawing/2014/main" val="1993462920"/>
                  </a:ext>
                </a:extLst>
              </a:tr>
              <a:tr h="288000">
                <a:tc>
                  <a:txBody>
                    <a:bodyPr/>
                    <a:lstStyle/>
                    <a:p>
                      <a:pPr algn="ctr" fontAlgn="b">
                        <a:buNone/>
                      </a:pPr>
                      <a:r>
                        <a:rPr lang="es-CO" sz="1100" b="0" i="0" u="none" strike="noStrike" dirty="0">
                          <a:solidFill>
                            <a:srgbClr val="000000"/>
                          </a:solidFill>
                          <a:effectLst/>
                          <a:latin typeface="Aptos Narrow" panose="020B0004020202020204" pitchFamily="34" charset="0"/>
                        </a:rPr>
                        <a:t>Rational Quadratic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0,566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1,012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0,760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-425,060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1785721"/>
                  </a:ext>
                </a:extLst>
              </a:tr>
              <a:tr h="288000">
                <a:tc>
                  <a:txBody>
                    <a:bodyPr/>
                    <a:lstStyle/>
                    <a:p>
                      <a:pPr algn="ctr" fontAlgn="b">
                        <a:buNone/>
                      </a:pPr>
                      <a:r>
                        <a:rPr lang="es-CO" sz="1100" b="0" i="0" u="none" strike="noStrike">
                          <a:solidFill>
                            <a:srgbClr val="000000"/>
                          </a:solidFill>
                          <a:effectLst/>
                          <a:latin typeface="Aptos Narrow" panose="020B0004020202020204" pitchFamily="34" charset="0"/>
                        </a:rPr>
                        <a:t>Constant × RQ</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a:solidFill>
                            <a:srgbClr val="000000"/>
                          </a:solidFill>
                          <a:effectLst/>
                          <a:latin typeface="Aptos Narrow" panose="020B0004020202020204" pitchFamily="34" charset="0"/>
                        </a:rPr>
                        <a:t>0,580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0,995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0,736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-384,332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700961"/>
                  </a:ext>
                </a:extLst>
              </a:tr>
              <a:tr h="288000">
                <a:tc>
                  <a:txBody>
                    <a:bodyPr/>
                    <a:lstStyle/>
                    <a:p>
                      <a:pPr algn="ctr" fontAlgn="b">
                        <a:buNone/>
                      </a:pPr>
                      <a:r>
                        <a:rPr lang="es-CO" sz="1100" b="0" i="0" u="none" strike="noStrike" dirty="0">
                          <a:solidFill>
                            <a:srgbClr val="000000"/>
                          </a:solidFill>
                          <a:effectLst/>
                          <a:latin typeface="Aptos Narrow" panose="020B0004020202020204" pitchFamily="34" charset="0"/>
                        </a:rPr>
                        <a:t>Constant × RQ + White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0,592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0,982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0,725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r>
                        <a:rPr lang="es-CO" sz="1100" b="0" i="0" u="none" strike="noStrike" dirty="0">
                          <a:solidFill>
                            <a:srgbClr val="000000"/>
                          </a:solidFill>
                          <a:effectLst/>
                          <a:latin typeface="Aptos Narrow" panose="020B0004020202020204" pitchFamily="34" charset="0"/>
                        </a:rPr>
                        <a:t>-374,105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extLst>
                  <a:ext uri="{0D108BD9-81ED-4DB2-BD59-A6C34878D82A}">
                    <a16:rowId xmlns:a16="http://schemas.microsoft.com/office/drawing/2014/main" val="1445808705"/>
                  </a:ext>
                </a:extLst>
              </a:tr>
            </a:tbl>
          </a:graphicData>
        </a:graphic>
      </p:graphicFrame>
    </p:spTree>
    <p:extLst>
      <p:ext uri="{BB962C8B-B14F-4D97-AF65-F5344CB8AC3E}">
        <p14:creationId xmlns:p14="http://schemas.microsoft.com/office/powerpoint/2010/main" val="563086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B76A-7600-BBF6-C9F5-6438C37E3975}"/>
            </a:ext>
          </a:extLst>
        </p:cNvPr>
        <p:cNvGrpSpPr/>
        <p:nvPr/>
      </p:nvGrpSpPr>
      <p:grpSpPr>
        <a:xfrm>
          <a:off x="0" y="0"/>
          <a:ext cx="0" cy="0"/>
          <a:chOff x="0" y="0"/>
          <a:chExt cx="0" cy="0"/>
        </a:xfrm>
      </p:grpSpPr>
      <p:sp>
        <p:nvSpPr>
          <p:cNvPr id="10" name="Título 1">
            <a:extLst>
              <a:ext uri="{FF2B5EF4-FFF2-40B4-BE49-F238E27FC236}">
                <a16:creationId xmlns:a16="http://schemas.microsoft.com/office/drawing/2014/main" id="{474706B3-3436-4244-7E2A-7C3462393D49}"/>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Resultados con Matérn compuesto</a:t>
            </a:r>
            <a:endParaRPr lang="es-ES" sz="1400" spc="300" dirty="0">
              <a:solidFill>
                <a:schemeClr val="accent1"/>
              </a:solidFill>
              <a:latin typeface="Ancizar Sans" panose="020B0602040300000003" pitchFamily="34" charset="0"/>
              <a:cs typeface="Ancizar Serif"/>
            </a:endParaRPr>
          </a:p>
        </p:txBody>
      </p:sp>
      <p:sp>
        <p:nvSpPr>
          <p:cNvPr id="12" name="Título 1">
            <a:extLst>
              <a:ext uri="{FF2B5EF4-FFF2-40B4-BE49-F238E27FC236}">
                <a16:creationId xmlns:a16="http://schemas.microsoft.com/office/drawing/2014/main" id="{353E85C3-558A-9AB6-B516-BA1A6587B676}"/>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Procesos Gaussianos</a:t>
            </a:r>
            <a:endParaRPr lang="es-CO" sz="3200" noProof="0" dirty="0">
              <a:solidFill>
                <a:schemeClr val="accent1"/>
              </a:solidFill>
              <a:latin typeface="Ancizar Serif Extrabold" panose="020A0902070300000003" pitchFamily="18" charset="0"/>
              <a:cs typeface="Ancizar Sans Extrabold"/>
            </a:endParaRPr>
          </a:p>
        </p:txBody>
      </p:sp>
      <p:sp>
        <p:nvSpPr>
          <p:cNvPr id="13" name="Marcador de número de diapositiva 12">
            <a:extLst>
              <a:ext uri="{FF2B5EF4-FFF2-40B4-BE49-F238E27FC236}">
                <a16:creationId xmlns:a16="http://schemas.microsoft.com/office/drawing/2014/main" id="{CC5CF8F2-766E-E3F6-D0B9-C9EE563B5A49}"/>
              </a:ext>
            </a:extLst>
          </p:cNvPr>
          <p:cNvSpPr>
            <a:spLocks noGrp="1"/>
          </p:cNvSpPr>
          <p:nvPr>
            <p:ph type="sldNum" sz="quarter" idx="12"/>
          </p:nvPr>
        </p:nvSpPr>
        <p:spPr/>
        <p:txBody>
          <a:bodyPr/>
          <a:lstStyle/>
          <a:p>
            <a:r>
              <a:rPr lang="es-ES"/>
              <a:t>Página </a:t>
            </a:r>
            <a:fld id="{90BC2BA4-81C0-F544-BD72-C8CB9DA7C802}" type="slidenum">
              <a:rPr lang="es-ES" smtClean="0"/>
              <a:pPr/>
              <a:t>15</a:t>
            </a:fld>
            <a:r>
              <a:rPr lang="es-ES"/>
              <a:t> </a:t>
            </a:r>
            <a:endParaRPr lang="es-ES" dirty="0"/>
          </a:p>
        </p:txBody>
      </p:sp>
      <p:pic>
        <p:nvPicPr>
          <p:cNvPr id="3" name="Imagen 2">
            <a:extLst>
              <a:ext uri="{FF2B5EF4-FFF2-40B4-BE49-F238E27FC236}">
                <a16:creationId xmlns:a16="http://schemas.microsoft.com/office/drawing/2014/main" id="{B9581EB3-F383-128A-02AE-AF772E4D0D32}"/>
              </a:ext>
            </a:extLst>
          </p:cNvPr>
          <p:cNvPicPr>
            <a:picLocks noChangeAspect="1"/>
          </p:cNvPicPr>
          <p:nvPr/>
        </p:nvPicPr>
        <p:blipFill>
          <a:blip r:embed="rId2"/>
          <a:stretch>
            <a:fillRect/>
          </a:stretch>
        </p:blipFill>
        <p:spPr>
          <a:xfrm>
            <a:off x="35425" y="1476678"/>
            <a:ext cx="5078440" cy="2520000"/>
          </a:xfrm>
          <a:prstGeom prst="rect">
            <a:avLst/>
          </a:prstGeom>
        </p:spPr>
      </p:pic>
      <p:pic>
        <p:nvPicPr>
          <p:cNvPr id="4" name="Imagen 3">
            <a:extLst>
              <a:ext uri="{FF2B5EF4-FFF2-40B4-BE49-F238E27FC236}">
                <a16:creationId xmlns:a16="http://schemas.microsoft.com/office/drawing/2014/main" id="{E5BB3AD7-9DD7-04D9-8822-2C0445DEA402}"/>
              </a:ext>
            </a:extLst>
          </p:cNvPr>
          <p:cNvPicPr>
            <a:picLocks noChangeAspect="1"/>
          </p:cNvPicPr>
          <p:nvPr/>
        </p:nvPicPr>
        <p:blipFill>
          <a:blip r:embed="rId3"/>
          <a:stretch>
            <a:fillRect/>
          </a:stretch>
        </p:blipFill>
        <p:spPr>
          <a:xfrm>
            <a:off x="5294489" y="741891"/>
            <a:ext cx="3659718" cy="3659718"/>
          </a:xfrm>
          <a:prstGeom prst="rect">
            <a:avLst/>
          </a:prstGeom>
        </p:spPr>
      </p:pic>
    </p:spTree>
    <p:extLst>
      <p:ext uri="{BB962C8B-B14F-4D97-AF65-F5344CB8AC3E}">
        <p14:creationId xmlns:p14="http://schemas.microsoft.com/office/powerpoint/2010/main" val="3802432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D41CAEA-2A32-2D08-F92F-3A4AD07EB9B2}"/>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CF939025-041C-9C75-4358-EE0F65605AFC}"/>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7CADCEBC-3BA7-6324-5972-FD250388F148}"/>
              </a:ext>
            </a:extLst>
          </p:cNvPr>
          <p:cNvSpPr>
            <a:spLocks noGrp="1"/>
          </p:cNvSpPr>
          <p:nvPr>
            <p:ph type="sldNum" sz="quarter" idx="12"/>
          </p:nvPr>
        </p:nvSpPr>
        <p:spPr/>
        <p:txBody>
          <a:bodyPr/>
          <a:lstStyle/>
          <a:p>
            <a:fld id="{90BC2BA4-81C0-F544-BD72-C8CB9DA7C802}" type="slidenum">
              <a:rPr lang="es-CO" noProof="0" smtClean="0"/>
              <a:pPr/>
              <a:t>16</a:t>
            </a:fld>
            <a:endParaRPr lang="es-CO" noProof="0" dirty="0"/>
          </a:p>
        </p:txBody>
      </p:sp>
      <p:sp>
        <p:nvSpPr>
          <p:cNvPr id="5" name="Título 1">
            <a:extLst>
              <a:ext uri="{FF2B5EF4-FFF2-40B4-BE49-F238E27FC236}">
                <a16:creationId xmlns:a16="http://schemas.microsoft.com/office/drawing/2014/main" id="{2C107471-CDF3-23B9-D0CF-02179E635A9D}"/>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Comparación de los mejores modelos</a:t>
            </a:r>
            <a:endParaRPr lang="es-ES" sz="1400" spc="300" dirty="0">
              <a:solidFill>
                <a:schemeClr val="accent1"/>
              </a:solidFill>
              <a:latin typeface="Ancizar Sans" panose="020B0602040300000003" pitchFamily="34" charset="0"/>
              <a:cs typeface="Ancizar Serif"/>
            </a:endParaRPr>
          </a:p>
        </p:txBody>
      </p:sp>
      <p:sp>
        <p:nvSpPr>
          <p:cNvPr id="7" name="Título 1">
            <a:extLst>
              <a:ext uri="{FF2B5EF4-FFF2-40B4-BE49-F238E27FC236}">
                <a16:creationId xmlns:a16="http://schemas.microsoft.com/office/drawing/2014/main" id="{2B18A0EA-1436-9B69-C3A2-D7A8E76DAE6C}"/>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Resumen de modelos </a:t>
            </a:r>
            <a:endParaRPr lang="es-CO" sz="3200" noProof="0" dirty="0">
              <a:solidFill>
                <a:schemeClr val="accent1"/>
              </a:solidFill>
              <a:latin typeface="Ancizar Serif Extrabold" panose="020A0902070300000003" pitchFamily="18" charset="0"/>
              <a:cs typeface="Ancizar Sans Extrabold"/>
            </a:endParaRPr>
          </a:p>
        </p:txBody>
      </p:sp>
      <p:graphicFrame>
        <p:nvGraphicFramePr>
          <p:cNvPr id="6" name="Tabla 5">
            <a:extLst>
              <a:ext uri="{FF2B5EF4-FFF2-40B4-BE49-F238E27FC236}">
                <a16:creationId xmlns:a16="http://schemas.microsoft.com/office/drawing/2014/main" id="{A7AC7F80-4391-A335-A2B2-2BE6FF5F2F7C}"/>
              </a:ext>
            </a:extLst>
          </p:cNvPr>
          <p:cNvGraphicFramePr>
            <a:graphicFrameLocks noGrp="1"/>
          </p:cNvGraphicFramePr>
          <p:nvPr>
            <p:extLst>
              <p:ext uri="{D42A27DB-BD31-4B8C-83A1-F6EECF244321}">
                <p14:modId xmlns:p14="http://schemas.microsoft.com/office/powerpoint/2010/main" val="4268036391"/>
              </p:ext>
            </p:extLst>
          </p:nvPr>
        </p:nvGraphicFramePr>
        <p:xfrm>
          <a:off x="301255" y="1690553"/>
          <a:ext cx="8229600" cy="1091865"/>
        </p:xfrm>
        <a:graphic>
          <a:graphicData uri="http://schemas.openxmlformats.org/drawingml/2006/table">
            <a:tbl>
              <a:tblPr>
                <a:tableStyleId>{5C22544A-7EE6-4342-B048-85BDC9FD1C3A}</a:tableStyleId>
              </a:tblPr>
              <a:tblGrid>
                <a:gridCol w="1085520">
                  <a:extLst>
                    <a:ext uri="{9D8B030D-6E8A-4147-A177-3AD203B41FA5}">
                      <a16:colId xmlns:a16="http://schemas.microsoft.com/office/drawing/2014/main" val="2969693119"/>
                    </a:ext>
                  </a:extLst>
                </a:gridCol>
                <a:gridCol w="630959">
                  <a:extLst>
                    <a:ext uri="{9D8B030D-6E8A-4147-A177-3AD203B41FA5}">
                      <a16:colId xmlns:a16="http://schemas.microsoft.com/office/drawing/2014/main" val="4107587526"/>
                    </a:ext>
                  </a:extLst>
                </a:gridCol>
                <a:gridCol w="474915">
                  <a:extLst>
                    <a:ext uri="{9D8B030D-6E8A-4147-A177-3AD203B41FA5}">
                      <a16:colId xmlns:a16="http://schemas.microsoft.com/office/drawing/2014/main" val="2994788919"/>
                    </a:ext>
                  </a:extLst>
                </a:gridCol>
                <a:gridCol w="474915">
                  <a:extLst>
                    <a:ext uri="{9D8B030D-6E8A-4147-A177-3AD203B41FA5}">
                      <a16:colId xmlns:a16="http://schemas.microsoft.com/office/drawing/2014/main" val="3959729359"/>
                    </a:ext>
                  </a:extLst>
                </a:gridCol>
                <a:gridCol w="542760">
                  <a:extLst>
                    <a:ext uri="{9D8B030D-6E8A-4147-A177-3AD203B41FA5}">
                      <a16:colId xmlns:a16="http://schemas.microsoft.com/office/drawing/2014/main" val="2873732910"/>
                    </a:ext>
                  </a:extLst>
                </a:gridCol>
                <a:gridCol w="542760">
                  <a:extLst>
                    <a:ext uri="{9D8B030D-6E8A-4147-A177-3AD203B41FA5}">
                      <a16:colId xmlns:a16="http://schemas.microsoft.com/office/drawing/2014/main" val="567764648"/>
                    </a:ext>
                  </a:extLst>
                </a:gridCol>
                <a:gridCol w="983753">
                  <a:extLst>
                    <a:ext uri="{9D8B030D-6E8A-4147-A177-3AD203B41FA5}">
                      <a16:colId xmlns:a16="http://schemas.microsoft.com/office/drawing/2014/main" val="2112980287"/>
                    </a:ext>
                  </a:extLst>
                </a:gridCol>
                <a:gridCol w="3494018">
                  <a:extLst>
                    <a:ext uri="{9D8B030D-6E8A-4147-A177-3AD203B41FA5}">
                      <a16:colId xmlns:a16="http://schemas.microsoft.com/office/drawing/2014/main" val="2644886848"/>
                    </a:ext>
                  </a:extLst>
                </a:gridCol>
              </a:tblGrid>
              <a:tr h="168250">
                <a:tc gridSpan="8">
                  <a:txBody>
                    <a:bodyPr/>
                    <a:lstStyle/>
                    <a:p>
                      <a:pPr algn="ctr" fontAlgn="b">
                        <a:buNone/>
                      </a:pPr>
                      <a:r>
                        <a:rPr lang="es-CO" sz="800" b="1" u="none" strike="noStrike" dirty="0">
                          <a:solidFill>
                            <a:srgbClr val="000000"/>
                          </a:solidFill>
                          <a:effectLst/>
                        </a:rPr>
                        <a:t>Modelos con densidad de movimientos</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911099885"/>
                  </a:ext>
                </a:extLst>
              </a:tr>
              <a:tr h="168250">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Modelo</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R² / Pseudo R²</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RMSE</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MAE</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AIC</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LogLik</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Dependencia espacial</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defTabSz="457200" rtl="0" eaLnBrk="1" fontAlgn="b" latinLnBrk="0" hangingPunct="1">
                        <a:buNone/>
                      </a:pPr>
                      <a:r>
                        <a:rPr lang="es-CO" sz="800" b="1" u="none" strike="noStrike" kern="1200" dirty="0">
                          <a:solidFill>
                            <a:srgbClr val="000000"/>
                          </a:solidFill>
                          <a:effectLst/>
                          <a:latin typeface="+mn-lt"/>
                          <a:ea typeface="+mn-ea"/>
                          <a:cs typeface="+mn-cs"/>
                        </a:rPr>
                        <a:t>Comentarios</a:t>
                      </a: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525388952"/>
                  </a:ext>
                </a:extLst>
              </a:tr>
              <a:tr h="168250">
                <a:tc>
                  <a:txBody>
                    <a:bodyPr/>
                    <a:lstStyle/>
                    <a:p>
                      <a:pPr algn="ctr" fontAlgn="b">
                        <a:buNone/>
                      </a:pPr>
                      <a:r>
                        <a:rPr lang="es-CO" sz="800" b="1" u="none" strike="noStrike" dirty="0">
                          <a:solidFill>
                            <a:srgbClr val="000000"/>
                          </a:solidFill>
                          <a:effectLst/>
                        </a:rPr>
                        <a:t>SAR</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0.636</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0,910</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0,700</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960.97</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-473.49</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b">
                        <a:buNone/>
                      </a:pPr>
                      <a:r>
                        <a:rPr lang="es-CO" sz="800" b="1" u="none" strike="noStrike" dirty="0">
                          <a:solidFill>
                            <a:srgbClr val="000000"/>
                          </a:solidFill>
                          <a:effectLst/>
                        </a:rPr>
                        <a:t>WY</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b">
                        <a:buNone/>
                      </a:pPr>
                      <a:r>
                        <a:rPr lang="es-CO" sz="800" b="1" u="none" strike="noStrike" dirty="0">
                          <a:solidFill>
                            <a:srgbClr val="000000"/>
                          </a:solidFill>
                          <a:effectLst/>
                        </a:rPr>
                        <a:t>Mejor ajuste global. Elimina la autocorrelación espacial residual.</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extLst>
                  <a:ext uri="{0D108BD9-81ED-4DB2-BD59-A6C34878D82A}">
                    <a16:rowId xmlns:a16="http://schemas.microsoft.com/office/drawing/2014/main" val="1296870425"/>
                  </a:ext>
                </a:extLst>
              </a:tr>
              <a:tr h="168250">
                <a:tc>
                  <a:txBody>
                    <a:bodyPr/>
                    <a:lstStyle/>
                    <a:p>
                      <a:pPr algn="ctr" fontAlgn="b">
                        <a:buNone/>
                      </a:pPr>
                      <a:r>
                        <a:rPr lang="es-CO" sz="800" u="none" strike="noStrike" dirty="0">
                          <a:solidFill>
                            <a:srgbClr val="000000"/>
                          </a:solidFill>
                          <a:effectLst/>
                        </a:rPr>
                        <a:t>SAR Regímenes (SKATER)</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r>
                        <a:rPr lang="es-CO" sz="800" u="none" strike="noStrike" dirty="0">
                          <a:solidFill>
                            <a:srgbClr val="000000"/>
                          </a:solidFill>
                          <a:effectLst/>
                        </a:rPr>
                        <a:t>0.632</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r>
                        <a:rPr lang="es-CO" sz="800" u="none" strike="noStrike" dirty="0">
                          <a:solidFill>
                            <a:srgbClr val="000000"/>
                          </a:solidFill>
                          <a:effectLst/>
                        </a:rPr>
                        <a:t>965.60</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ctr">
                        <a:buNone/>
                      </a:pPr>
                      <a:r>
                        <a:rPr lang="es-CO" sz="800" u="none" strike="noStrike" dirty="0">
                          <a:solidFill>
                            <a:srgbClr val="000000"/>
                          </a:solidFill>
                          <a:effectLst/>
                        </a:rPr>
                        <a:t>-496.80</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b">
                        <a:buNone/>
                      </a:pPr>
                      <a:r>
                        <a:rPr lang="es-CO" sz="800" u="none" strike="noStrike" dirty="0">
                          <a:solidFill>
                            <a:srgbClr val="000000"/>
                          </a:solidFill>
                          <a:effectLst/>
                        </a:rPr>
                        <a:t>WY + Regímenes</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tc>
                  <a:txBody>
                    <a:bodyPr/>
                    <a:lstStyle/>
                    <a:p>
                      <a:pPr algn="ctr" fontAlgn="b">
                        <a:buNone/>
                      </a:pPr>
                      <a:r>
                        <a:rPr lang="es-CO" sz="800" u="none" strike="noStrike" dirty="0">
                          <a:solidFill>
                            <a:srgbClr val="000000"/>
                          </a:solidFill>
                          <a:effectLst/>
                        </a:rPr>
                        <a:t>No mejora significativamente respecto al SAR global.</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7EC"/>
                    </a:solidFill>
                  </a:tcPr>
                </a:tc>
                <a:extLst>
                  <a:ext uri="{0D108BD9-81ED-4DB2-BD59-A6C34878D82A}">
                    <a16:rowId xmlns:a16="http://schemas.microsoft.com/office/drawing/2014/main" val="8953249"/>
                  </a:ext>
                </a:extLst>
              </a:tr>
              <a:tr h="168250">
                <a:tc>
                  <a:txBody>
                    <a:bodyPr/>
                    <a:lstStyle/>
                    <a:p>
                      <a:pPr algn="ctr" fontAlgn="b">
                        <a:buNone/>
                      </a:pPr>
                      <a:r>
                        <a:rPr lang="es-CO" sz="800" b="1" u="none" strike="noStrike" dirty="0">
                          <a:solidFill>
                            <a:srgbClr val="000000"/>
                          </a:solidFill>
                          <a:effectLst/>
                        </a:rPr>
                        <a:t>Matérn 0.5</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0,631</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0,933</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0,645</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ctr">
                        <a:buNone/>
                      </a:pPr>
                      <a:r>
                        <a:rPr lang="es-CO" sz="800" b="1" u="none" strike="noStrike" dirty="0">
                          <a:solidFill>
                            <a:srgbClr val="000000"/>
                          </a:solidFill>
                          <a:effectLst/>
                        </a:rPr>
                        <a:t>-431,394</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b">
                        <a:buNone/>
                      </a:pPr>
                      <a:r>
                        <a:rPr lang="es-CO" sz="800" b="1" u="none" strike="noStrike" dirty="0">
                          <a:solidFill>
                            <a:srgbClr val="000000"/>
                          </a:solidFill>
                          <a:effectLst/>
                        </a:rPr>
                        <a:t>Criterio de cercanía</a:t>
                      </a: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tc>
                  <a:txBody>
                    <a:bodyPr/>
                    <a:lstStyle/>
                    <a:p>
                      <a:pPr algn="ctr" fontAlgn="b">
                        <a:buNone/>
                      </a:pPr>
                      <a:endParaRPr lang="es-CO" sz="800" b="1"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4FC"/>
                    </a:solidFill>
                  </a:tcPr>
                </a:tc>
                <a:extLst>
                  <a:ext uri="{0D108BD9-81ED-4DB2-BD59-A6C34878D82A}">
                    <a16:rowId xmlns:a16="http://schemas.microsoft.com/office/drawing/2014/main" val="714098811"/>
                  </a:ext>
                </a:extLst>
              </a:tr>
              <a:tr h="168250">
                <a:tc>
                  <a:txBody>
                    <a:bodyPr/>
                    <a:lstStyle/>
                    <a:p>
                      <a:pPr algn="ctr" fontAlgn="b">
                        <a:buNone/>
                      </a:pPr>
                      <a:r>
                        <a:rPr lang="es-CO" sz="800" u="none" strike="noStrike" dirty="0">
                          <a:solidFill>
                            <a:srgbClr val="000000"/>
                          </a:solidFill>
                          <a:effectLst/>
                        </a:rPr>
                        <a:t>Constant × Matérn + White</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algn="ctr" fontAlgn="ctr">
                        <a:buNone/>
                      </a:pPr>
                      <a:r>
                        <a:rPr lang="es-CO" sz="800" u="none" strike="noStrike" dirty="0">
                          <a:solidFill>
                            <a:srgbClr val="000000"/>
                          </a:solidFill>
                          <a:effectLst/>
                        </a:rPr>
                        <a:t>0,614</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algn="ctr" fontAlgn="ctr">
                        <a:buNone/>
                      </a:pPr>
                      <a:r>
                        <a:rPr lang="es-CO" sz="800" u="none" strike="noStrike" dirty="0">
                          <a:solidFill>
                            <a:srgbClr val="000000"/>
                          </a:solidFill>
                          <a:effectLst/>
                        </a:rPr>
                        <a:t>0,955</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algn="ctr" fontAlgn="ctr">
                        <a:buNone/>
                      </a:pPr>
                      <a:r>
                        <a:rPr lang="es-CO" sz="800" u="none" strike="noStrike" dirty="0">
                          <a:solidFill>
                            <a:srgbClr val="000000"/>
                          </a:solidFill>
                          <a:effectLst/>
                        </a:rPr>
                        <a:t>0,718</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algn="ctr" fontAlgn="ctr">
                        <a:buNone/>
                      </a:pP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algn="ctr" fontAlgn="ctr">
                        <a:buNone/>
                      </a:pPr>
                      <a:r>
                        <a:rPr lang="es-CO" sz="800" u="none" strike="noStrike" dirty="0">
                          <a:solidFill>
                            <a:srgbClr val="000000"/>
                          </a:solidFill>
                          <a:effectLst/>
                        </a:rPr>
                        <a:t>-363,240</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algn="ctr" fontAlgn="b">
                        <a:buNone/>
                      </a:pPr>
                      <a:r>
                        <a:rPr lang="es-CO" sz="800" u="none" strike="noStrike" dirty="0">
                          <a:solidFill>
                            <a:srgbClr val="000000"/>
                          </a:solidFill>
                          <a:effectLst/>
                        </a:rPr>
                        <a:t>Criterio de cercanía</a:t>
                      </a: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algn="ctr" fontAlgn="b">
                        <a:buNone/>
                      </a:pPr>
                      <a:endParaRPr lang="es-CO" sz="800" b="0" i="0" u="none" strike="noStrike" dirty="0">
                        <a:solidFill>
                          <a:srgbClr val="000000"/>
                        </a:solidFill>
                        <a:effectLst/>
                        <a:latin typeface="Aptos Narrow" panose="020B0004020202020204" pitchFamily="34" charset="0"/>
                      </a:endParaRPr>
                    </a:p>
                  </a:txBody>
                  <a:tcPr marL="6775" marR="6775" marT="67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461785721"/>
                  </a:ext>
                </a:extLst>
              </a:tr>
            </a:tbl>
          </a:graphicData>
        </a:graphic>
      </p:graphicFrame>
    </p:spTree>
    <p:extLst>
      <p:ext uri="{BB962C8B-B14F-4D97-AF65-F5344CB8AC3E}">
        <p14:creationId xmlns:p14="http://schemas.microsoft.com/office/powerpoint/2010/main" val="2644953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7E2CA43-D20D-BF68-DB92-87CF2090519F}"/>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F7C27BD8-E144-23C5-1418-9A3704ADE563}"/>
              </a:ext>
            </a:extLst>
          </p:cNvPr>
          <p:cNvSpPr txBox="1"/>
          <p:nvPr/>
        </p:nvSpPr>
        <p:spPr>
          <a:xfrm>
            <a:off x="259080" y="4679274"/>
            <a:ext cx="3116580" cy="369332"/>
          </a:xfrm>
          <a:prstGeom prst="rect">
            <a:avLst/>
          </a:prstGeom>
          <a:noFill/>
        </p:spPr>
        <p:txBody>
          <a:bodyPr wrap="square" rtlCol="0">
            <a:spAutoFit/>
          </a:bodyPr>
          <a:lstStyle/>
          <a:p>
            <a:r>
              <a:rPr lang="es-CO" sz="900" i="1" dirty="0">
                <a:solidFill>
                  <a:schemeClr val="bg2"/>
                </a:solidFill>
                <a:latin typeface="Ancizar Sans" panose="020B0602040300000003" pitchFamily="34" charset="0"/>
              </a:rPr>
              <a:t>Facultad de Minas</a:t>
            </a:r>
          </a:p>
          <a:p>
            <a:r>
              <a:rPr lang="es-CO" sz="900" i="1" dirty="0">
                <a:solidFill>
                  <a:schemeClr val="bg2"/>
                </a:solidFill>
                <a:latin typeface="Ancizar Sans" panose="020B0602040300000003" pitchFamily="34" charset="0"/>
              </a:rPr>
              <a:t>Sede Medellín</a:t>
            </a:r>
          </a:p>
        </p:txBody>
      </p:sp>
      <p:sp>
        <p:nvSpPr>
          <p:cNvPr id="6" name="Marcador de número de diapositiva 5">
            <a:extLst>
              <a:ext uri="{FF2B5EF4-FFF2-40B4-BE49-F238E27FC236}">
                <a16:creationId xmlns:a16="http://schemas.microsoft.com/office/drawing/2014/main" id="{2174DB57-58B5-5391-EEE1-437B2BA04B92}"/>
              </a:ext>
            </a:extLst>
          </p:cNvPr>
          <p:cNvSpPr>
            <a:spLocks noGrp="1"/>
          </p:cNvSpPr>
          <p:nvPr>
            <p:ph type="sldNum" sz="quarter" idx="12"/>
          </p:nvPr>
        </p:nvSpPr>
        <p:spPr/>
        <p:txBody>
          <a:bodyPr/>
          <a:lstStyle/>
          <a:p>
            <a:fld id="{90BC2BA4-81C0-F544-BD72-C8CB9DA7C802}" type="slidenum">
              <a:rPr lang="es-ES" smtClean="0"/>
              <a:pPr/>
              <a:t>17</a:t>
            </a:fld>
            <a:endParaRPr lang="es-ES" dirty="0"/>
          </a:p>
        </p:txBody>
      </p:sp>
      <p:sp>
        <p:nvSpPr>
          <p:cNvPr id="3" name="Título 1">
            <a:extLst>
              <a:ext uri="{FF2B5EF4-FFF2-40B4-BE49-F238E27FC236}">
                <a16:creationId xmlns:a16="http://schemas.microsoft.com/office/drawing/2014/main" id="{723C06C6-287A-6514-D2B4-56D1517F52DD}"/>
              </a:ext>
            </a:extLst>
          </p:cNvPr>
          <p:cNvSpPr txBox="1">
            <a:spLocks/>
          </p:cNvSpPr>
          <p:nvPr/>
        </p:nvSpPr>
        <p:spPr>
          <a:xfrm>
            <a:off x="301256" y="454838"/>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Conclusiones</a:t>
            </a:r>
            <a:endParaRPr lang="es-CO" sz="3200" noProof="0" dirty="0">
              <a:solidFill>
                <a:schemeClr val="accent1"/>
              </a:solidFill>
              <a:latin typeface="Ancizar Serif Extrabold" panose="020A0902070300000003" pitchFamily="18" charset="0"/>
              <a:cs typeface="Ancizar Sans Extrabold"/>
            </a:endParaRPr>
          </a:p>
        </p:txBody>
      </p:sp>
      <p:sp>
        <p:nvSpPr>
          <p:cNvPr id="8" name="Título 1">
            <a:extLst>
              <a:ext uri="{FF2B5EF4-FFF2-40B4-BE49-F238E27FC236}">
                <a16:creationId xmlns:a16="http://schemas.microsoft.com/office/drawing/2014/main" id="{B4424834-F672-7B3E-FA4A-D6538414FCA1}"/>
              </a:ext>
            </a:extLst>
          </p:cNvPr>
          <p:cNvSpPr txBox="1">
            <a:spLocks/>
          </p:cNvSpPr>
          <p:nvPr/>
        </p:nvSpPr>
        <p:spPr>
          <a:xfrm>
            <a:off x="520996" y="1180026"/>
            <a:ext cx="8144539" cy="30172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71450" indent="-171450" algn="l">
              <a:buFont typeface="Arial" panose="020B0604020202020204" pitchFamily="34" charset="0"/>
              <a:buChar char="•"/>
            </a:pPr>
            <a:endParaRPr lang="es-CO" sz="1400" b="1" dirty="0">
              <a:latin typeface="+mn-lt"/>
            </a:endParaRPr>
          </a:p>
        </p:txBody>
      </p:sp>
      <p:sp>
        <p:nvSpPr>
          <p:cNvPr id="2" name="CuadroTexto 1">
            <a:extLst>
              <a:ext uri="{FF2B5EF4-FFF2-40B4-BE49-F238E27FC236}">
                <a16:creationId xmlns:a16="http://schemas.microsoft.com/office/drawing/2014/main" id="{C2A27E1A-1C32-4F93-C31C-8D10CBBE40EB}"/>
              </a:ext>
            </a:extLst>
          </p:cNvPr>
          <p:cNvSpPr txBox="1"/>
          <p:nvPr/>
        </p:nvSpPr>
        <p:spPr>
          <a:xfrm>
            <a:off x="478465" y="773946"/>
            <a:ext cx="8144539" cy="3754874"/>
          </a:xfrm>
          <a:prstGeom prst="rect">
            <a:avLst/>
          </a:prstGeom>
          <a:noFill/>
        </p:spPr>
        <p:txBody>
          <a:bodyPr wrap="square" rtlCol="0">
            <a:spAutoFit/>
          </a:bodyPr>
          <a:lstStyle/>
          <a:p>
            <a:pPr marL="285750" indent="-285750">
              <a:buFont typeface="Arial" panose="020B0604020202020204" pitchFamily="34" charset="0"/>
              <a:buChar char="•"/>
            </a:pPr>
            <a:endParaRPr lang="es-CO" sz="1400" dirty="0"/>
          </a:p>
          <a:p>
            <a:pPr marL="285750" indent="-285750">
              <a:buFont typeface="Arial" panose="020B0604020202020204" pitchFamily="34" charset="0"/>
              <a:buChar char="•"/>
            </a:pPr>
            <a:r>
              <a:rPr lang="es-CO" sz="1400" dirty="0"/>
              <a:t>La inclusión de coordenadas espaciales permitió mejorar el desempeño de los procesos gaussianos, evidenciando la existencia de una estructura espacial residual que no es completamente explicada por las variables ambientales consideradas.</a:t>
            </a:r>
          </a:p>
          <a:p>
            <a:pPr marL="285750" indent="-285750">
              <a:buFont typeface="Arial" panose="020B0604020202020204" pitchFamily="34" charset="0"/>
              <a:buChar char="•"/>
            </a:pPr>
            <a:endParaRPr lang="es-CO" sz="1400" dirty="0"/>
          </a:p>
          <a:p>
            <a:pPr marL="285750" indent="-285750">
              <a:buFont typeface="Arial" panose="020B0604020202020204" pitchFamily="34" charset="0"/>
              <a:buChar char="•"/>
            </a:pPr>
            <a:r>
              <a:rPr lang="es-CO" sz="1400" dirty="0"/>
              <a:t>El modelo Matérn simple presentó mejor capacidad predictiva sobre el conjunto de validación, mientras que el modelo compuesto Constant × Matérn + White presentó una mayor verosimilitud marginal, indicando una mejor representación probabilística de la estructura del fenómeno  al separar la variabilidad estructurada de aquella asociada a factores no explicados por las variables incluidas.</a:t>
            </a:r>
          </a:p>
          <a:p>
            <a:endParaRPr lang="es-CO" sz="1400" dirty="0"/>
          </a:p>
          <a:p>
            <a:pPr marL="285750" indent="-285750">
              <a:buFont typeface="Arial" panose="020B0604020202020204" pitchFamily="34" charset="0"/>
              <a:buChar char="•"/>
            </a:pPr>
            <a:r>
              <a:rPr lang="es-CO" sz="1400" dirty="0"/>
              <a:t>Los procesos gaussianos permitieron representar la densidad de movimientos en masa como un fenómeno continuo e incorporar incertidumbre asociada a cada predicción, proporcionando una alternativa flexible para analizar la variabilidad espacial del fenómeno.</a:t>
            </a:r>
          </a:p>
          <a:p>
            <a:pPr marL="285750" indent="-285750">
              <a:buFont typeface="Arial" panose="020B0604020202020204" pitchFamily="34" charset="0"/>
              <a:buChar char="•"/>
            </a:pPr>
            <a:endParaRPr lang="es-CO" sz="1400" dirty="0"/>
          </a:p>
          <a:p>
            <a:pPr marL="285750" indent="-285750">
              <a:buFont typeface="Arial" panose="020B0604020202020204" pitchFamily="34" charset="0"/>
              <a:buChar char="•"/>
            </a:pPr>
            <a:r>
              <a:rPr lang="es-CO" sz="1400" dirty="0"/>
              <a:t>Los resultados evidencian que la distribución de la densidad de movimientos en masa presenta patrones espaciales complejos, donde la similitud entre unidades territoriales no depende únicamente de sus características ambientales, sino también de su configuración espacial.</a:t>
            </a:r>
          </a:p>
        </p:txBody>
      </p:sp>
    </p:spTree>
    <p:extLst>
      <p:ext uri="{BB962C8B-B14F-4D97-AF65-F5344CB8AC3E}">
        <p14:creationId xmlns:p14="http://schemas.microsoft.com/office/powerpoint/2010/main" val="3633512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1C83587-F021-3372-D75A-DE3E78DB1F55}"/>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70A2BB38-BC3C-31BC-5E05-493FD6E4767F}"/>
              </a:ext>
            </a:extLst>
          </p:cNvPr>
          <p:cNvSpPr txBox="1"/>
          <p:nvPr/>
        </p:nvSpPr>
        <p:spPr>
          <a:xfrm>
            <a:off x="259080" y="4679274"/>
            <a:ext cx="3116580" cy="369332"/>
          </a:xfrm>
          <a:prstGeom prst="rect">
            <a:avLst/>
          </a:prstGeom>
          <a:noFill/>
        </p:spPr>
        <p:txBody>
          <a:bodyPr wrap="square" rtlCol="0">
            <a:spAutoFit/>
          </a:bodyPr>
          <a:lstStyle/>
          <a:p>
            <a:r>
              <a:rPr lang="es-CO" sz="900" i="1" dirty="0">
                <a:solidFill>
                  <a:schemeClr val="bg2"/>
                </a:solidFill>
                <a:latin typeface="Ancizar Sans" panose="020B0602040300000003" pitchFamily="34" charset="0"/>
              </a:rPr>
              <a:t>Facultad de Minas</a:t>
            </a:r>
          </a:p>
          <a:p>
            <a:r>
              <a:rPr lang="es-CO" sz="900" i="1" dirty="0">
                <a:solidFill>
                  <a:schemeClr val="bg2"/>
                </a:solidFill>
                <a:latin typeface="Ancizar Sans" panose="020B0602040300000003" pitchFamily="34" charset="0"/>
              </a:rPr>
              <a:t>Sede Medellín</a:t>
            </a:r>
          </a:p>
        </p:txBody>
      </p:sp>
      <p:sp>
        <p:nvSpPr>
          <p:cNvPr id="2" name="CuadroTexto 1">
            <a:extLst>
              <a:ext uri="{FF2B5EF4-FFF2-40B4-BE49-F238E27FC236}">
                <a16:creationId xmlns:a16="http://schemas.microsoft.com/office/drawing/2014/main" id="{74A1D23E-2FD4-9C48-9B09-01F5862E2AC3}"/>
              </a:ext>
            </a:extLst>
          </p:cNvPr>
          <p:cNvSpPr txBox="1"/>
          <p:nvPr/>
        </p:nvSpPr>
        <p:spPr>
          <a:xfrm>
            <a:off x="477376" y="1458437"/>
            <a:ext cx="7920000" cy="1171988"/>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342900" indent="-342900">
              <a:lnSpc>
                <a:spcPct val="150000"/>
              </a:lnSpc>
              <a:buClr>
                <a:schemeClr val="accent1"/>
              </a:buClr>
              <a:buFont typeface="+mj-lt"/>
              <a:buAutoNum type="arabicPeriod"/>
            </a:pPr>
            <a:r>
              <a:rPr lang="es-CO" sz="1200" dirty="0"/>
              <a:t>Geoportal SIMMA (Servicio Geológico Colombiano): https://simma.sgc.gov.co/#/</a:t>
            </a:r>
          </a:p>
          <a:p>
            <a:pPr marL="342900" indent="-342900">
              <a:lnSpc>
                <a:spcPct val="150000"/>
              </a:lnSpc>
              <a:buClr>
                <a:schemeClr val="accent1"/>
              </a:buClr>
              <a:buFont typeface="+mj-lt"/>
              <a:buAutoNum type="arabicPeriod"/>
            </a:pPr>
            <a:r>
              <a:rPr lang="es-CO" sz="1200" dirty="0"/>
              <a:t>Geoportal SIRMED (Alcaldía de Medellín): https://www.medellin.gov.co/sirmed</a:t>
            </a:r>
          </a:p>
          <a:p>
            <a:pPr marL="342900" indent="-342900">
              <a:lnSpc>
                <a:spcPct val="150000"/>
              </a:lnSpc>
              <a:buClr>
                <a:schemeClr val="accent1"/>
              </a:buClr>
              <a:buFont typeface="+mj-lt"/>
              <a:buAutoNum type="arabicPeriod"/>
            </a:pPr>
            <a:r>
              <a:rPr lang="es-CO" sz="1200" dirty="0"/>
              <a:t>Geoportal GeoMedellín (Alcaldía de Medellín): https://www.medellin.gov.co/geomedellin/aplicaciones</a:t>
            </a:r>
          </a:p>
          <a:p>
            <a:pPr marL="342900" indent="-342900">
              <a:lnSpc>
                <a:spcPct val="150000"/>
              </a:lnSpc>
              <a:buClr>
                <a:schemeClr val="accent1"/>
              </a:buClr>
              <a:buFont typeface="+mj-lt"/>
              <a:buAutoNum type="arabicPeriod"/>
            </a:pPr>
            <a:r>
              <a:rPr lang="es-CO" sz="1200" dirty="0"/>
              <a:t>MIGG (Servicio Geológico Colombiano): https://miig.sgc.gov.co/Paginas/advanced.aspx</a:t>
            </a:r>
          </a:p>
        </p:txBody>
      </p:sp>
      <p:sp>
        <p:nvSpPr>
          <p:cNvPr id="6" name="Marcador de número de diapositiva 5">
            <a:extLst>
              <a:ext uri="{FF2B5EF4-FFF2-40B4-BE49-F238E27FC236}">
                <a16:creationId xmlns:a16="http://schemas.microsoft.com/office/drawing/2014/main" id="{2CBDF852-5747-61C2-4CA6-43D1A94F8138}"/>
              </a:ext>
            </a:extLst>
          </p:cNvPr>
          <p:cNvSpPr>
            <a:spLocks noGrp="1"/>
          </p:cNvSpPr>
          <p:nvPr>
            <p:ph type="sldNum" sz="quarter" idx="12"/>
          </p:nvPr>
        </p:nvSpPr>
        <p:spPr/>
        <p:txBody>
          <a:bodyPr/>
          <a:lstStyle/>
          <a:p>
            <a:fld id="{90BC2BA4-81C0-F544-BD72-C8CB9DA7C802}" type="slidenum">
              <a:rPr lang="es-ES" smtClean="0"/>
              <a:pPr/>
              <a:t>18</a:t>
            </a:fld>
            <a:endParaRPr lang="es-ES" dirty="0"/>
          </a:p>
        </p:txBody>
      </p:sp>
      <p:sp>
        <p:nvSpPr>
          <p:cNvPr id="3" name="Título 1">
            <a:extLst>
              <a:ext uri="{FF2B5EF4-FFF2-40B4-BE49-F238E27FC236}">
                <a16:creationId xmlns:a16="http://schemas.microsoft.com/office/drawing/2014/main" id="{59311A83-6A2B-C47D-5B8F-B258F3C43096}"/>
              </a:ext>
            </a:extLst>
          </p:cNvPr>
          <p:cNvSpPr txBox="1">
            <a:spLocks/>
          </p:cNvSpPr>
          <p:nvPr/>
        </p:nvSpPr>
        <p:spPr>
          <a:xfrm>
            <a:off x="259080" y="370204"/>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Referencias</a:t>
            </a:r>
          </a:p>
        </p:txBody>
      </p:sp>
      <p:sp>
        <p:nvSpPr>
          <p:cNvPr id="7" name="Título 1">
            <a:extLst>
              <a:ext uri="{FF2B5EF4-FFF2-40B4-BE49-F238E27FC236}">
                <a16:creationId xmlns:a16="http://schemas.microsoft.com/office/drawing/2014/main" id="{34272980-91DB-DEA4-BCF6-9FF39C5C0A9E}"/>
              </a:ext>
            </a:extLst>
          </p:cNvPr>
          <p:cNvSpPr txBox="1">
            <a:spLocks/>
          </p:cNvSpPr>
          <p:nvPr/>
        </p:nvSpPr>
        <p:spPr>
          <a:xfrm>
            <a:off x="477377" y="1199023"/>
            <a:ext cx="2233166" cy="1817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Fuentes de datos</a:t>
            </a:r>
            <a:endParaRPr lang="es-ES" sz="1400" spc="300" dirty="0">
              <a:solidFill>
                <a:schemeClr val="accent1"/>
              </a:solidFill>
              <a:latin typeface="Ancizar Sans" panose="020B0602040300000003" pitchFamily="34" charset="0"/>
              <a:cs typeface="Ancizar Serif"/>
            </a:endParaRPr>
          </a:p>
        </p:txBody>
      </p:sp>
      <p:sp>
        <p:nvSpPr>
          <p:cNvPr id="8" name="Título 1">
            <a:extLst>
              <a:ext uri="{FF2B5EF4-FFF2-40B4-BE49-F238E27FC236}">
                <a16:creationId xmlns:a16="http://schemas.microsoft.com/office/drawing/2014/main" id="{A26F8C11-7E41-18B8-34BB-31FA5F5C81B8}"/>
              </a:ext>
            </a:extLst>
          </p:cNvPr>
          <p:cNvSpPr txBox="1">
            <a:spLocks/>
          </p:cNvSpPr>
          <p:nvPr/>
        </p:nvSpPr>
        <p:spPr>
          <a:xfrm>
            <a:off x="477378" y="2802179"/>
            <a:ext cx="2233166" cy="1817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Bibliografía</a:t>
            </a:r>
            <a:endParaRPr lang="es-ES" sz="1400" spc="300" dirty="0">
              <a:solidFill>
                <a:schemeClr val="accent1"/>
              </a:solidFill>
              <a:latin typeface="Ancizar Sans" panose="020B0602040300000003" pitchFamily="34" charset="0"/>
              <a:cs typeface="Ancizar Serif"/>
            </a:endParaRPr>
          </a:p>
        </p:txBody>
      </p:sp>
      <p:sp>
        <p:nvSpPr>
          <p:cNvPr id="9" name="CuadroTexto 8">
            <a:extLst>
              <a:ext uri="{FF2B5EF4-FFF2-40B4-BE49-F238E27FC236}">
                <a16:creationId xmlns:a16="http://schemas.microsoft.com/office/drawing/2014/main" id="{94D1A142-52C8-CC56-25F9-EE1B30324BB4}"/>
              </a:ext>
            </a:extLst>
          </p:cNvPr>
          <p:cNvSpPr txBox="1"/>
          <p:nvPr/>
        </p:nvSpPr>
        <p:spPr>
          <a:xfrm>
            <a:off x="477377" y="3079668"/>
            <a:ext cx="8104921" cy="276999"/>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a:buClr>
                <a:schemeClr val="accent1"/>
              </a:buClr>
            </a:pPr>
            <a:r>
              <a:rPr lang="es-CO" sz="1200" dirty="0"/>
              <a:t>https://edieraristizabal.github.io/Libro_AnalisisGeoespacial/</a:t>
            </a:r>
          </a:p>
        </p:txBody>
      </p:sp>
      <p:cxnSp>
        <p:nvCxnSpPr>
          <p:cNvPr id="5" name="Conector recto 4">
            <a:extLst>
              <a:ext uri="{FF2B5EF4-FFF2-40B4-BE49-F238E27FC236}">
                <a16:creationId xmlns:a16="http://schemas.microsoft.com/office/drawing/2014/main" id="{5751D36F-0E75-CCFC-3030-4153973977BE}"/>
              </a:ext>
            </a:extLst>
          </p:cNvPr>
          <p:cNvCxnSpPr/>
          <p:nvPr/>
        </p:nvCxnSpPr>
        <p:spPr>
          <a:xfrm>
            <a:off x="529041" y="2705214"/>
            <a:ext cx="7920000" cy="0"/>
          </a:xfrm>
          <a:prstGeom prst="line">
            <a:avLst/>
          </a:prstGeom>
          <a:ln w="12700">
            <a:solidFill>
              <a:schemeClr val="accent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264096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p:cNvSpPr txBox="1"/>
          <p:nvPr/>
        </p:nvSpPr>
        <p:spPr>
          <a:xfrm>
            <a:off x="3525258" y="2571750"/>
            <a:ext cx="2093483" cy="502702"/>
          </a:xfrm>
          <a:prstGeom prst="rect">
            <a:avLst/>
          </a:prstGeom>
          <a:noFill/>
        </p:spPr>
        <p:txBody>
          <a:bodyPr wrap="square" rtlCol="0">
            <a:spAutoFit/>
          </a:bodyPr>
          <a:lstStyle/>
          <a:p>
            <a:pPr algn="ctr">
              <a:lnSpc>
                <a:spcPct val="80000"/>
              </a:lnSpc>
            </a:pPr>
            <a:r>
              <a:rPr lang="ro-RO" sz="3200" i="1" dirty="0">
                <a:solidFill>
                  <a:schemeClr val="bg2"/>
                </a:solidFill>
                <a:latin typeface="Ancizar Serif"/>
                <a:cs typeface="Ancizar Serif"/>
              </a:rPr>
              <a:t>Gracias</a:t>
            </a:r>
          </a:p>
        </p:txBody>
      </p:sp>
      <p:sp>
        <p:nvSpPr>
          <p:cNvPr id="3" name="Marcador de número de diapositiva 2">
            <a:extLst>
              <a:ext uri="{FF2B5EF4-FFF2-40B4-BE49-F238E27FC236}">
                <a16:creationId xmlns:a16="http://schemas.microsoft.com/office/drawing/2014/main" id="{D246A0C8-F2FD-4F7E-1C1F-1636098F9B5F}"/>
              </a:ext>
            </a:extLst>
          </p:cNvPr>
          <p:cNvSpPr>
            <a:spLocks noGrp="1"/>
          </p:cNvSpPr>
          <p:nvPr>
            <p:ph type="sldNum" sz="quarter" idx="12"/>
          </p:nvPr>
        </p:nvSpPr>
        <p:spPr/>
        <p:txBody>
          <a:bodyPr/>
          <a:lstStyle/>
          <a:p>
            <a:fld id="{90BC2BA4-81C0-F544-BD72-C8CB9DA7C802}" type="slidenum">
              <a:rPr lang="es-ES" smtClean="0"/>
              <a:pPr/>
              <a:t>19</a:t>
            </a:fld>
            <a:endParaRPr lang="es-ES" dirty="0"/>
          </a:p>
        </p:txBody>
      </p:sp>
    </p:spTree>
    <p:extLst>
      <p:ext uri="{BB962C8B-B14F-4D97-AF65-F5344CB8AC3E}">
        <p14:creationId xmlns:p14="http://schemas.microsoft.com/office/powerpoint/2010/main" val="4132190908"/>
      </p:ext>
    </p:extLst>
  </p:cSld>
  <p:clrMapOvr>
    <a:masterClrMapping/>
  </p:clrMapOvr>
</p:sld>
</file>

<file path=ppt/theme/theme1.xml><?xml version="1.0" encoding="utf-8"?>
<a:theme xmlns:a="http://schemas.openxmlformats.org/drawingml/2006/main" name="Plantilla-presentacion">
  <a:themeElements>
    <a:clrScheme name="UNAL 2024">
      <a:dk1>
        <a:srgbClr val="29272D"/>
      </a:dk1>
      <a:lt1>
        <a:srgbClr val="F7F5F2"/>
      </a:lt1>
      <a:dk2>
        <a:srgbClr val="481F63"/>
      </a:dk2>
      <a:lt2>
        <a:srgbClr val="F8ECCD"/>
      </a:lt2>
      <a:accent1>
        <a:srgbClr val="620C78"/>
      </a:accent1>
      <a:accent2>
        <a:srgbClr val="FFB93E"/>
      </a:accent2>
      <a:accent3>
        <a:srgbClr val="06784F"/>
      </a:accent3>
      <a:accent4>
        <a:srgbClr val="14C486"/>
      </a:accent4>
      <a:accent5>
        <a:srgbClr val="9F00C4"/>
      </a:accent5>
      <a:accent6>
        <a:srgbClr val="F79646"/>
      </a:accent6>
      <a:hlink>
        <a:srgbClr val="14C486"/>
      </a:hlink>
      <a:folHlink>
        <a:srgbClr val="9F00C4"/>
      </a:folHlink>
    </a:clrScheme>
    <a:fontScheme name="OCE">
      <a:majorFont>
        <a:latin typeface="Ancizar Serif Extrabold"/>
        <a:ea typeface=""/>
        <a:cs typeface=""/>
      </a:majorFont>
      <a:minorFont>
        <a:latin typeface="Ancizar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4774</TotalTime>
  <Words>1316</Words>
  <Application>Microsoft Office PowerPoint</Application>
  <PresentationFormat>Presentación en pantalla (16:9)</PresentationFormat>
  <Paragraphs>276</Paragraphs>
  <Slides>19</Slides>
  <Notes>4</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19</vt:i4>
      </vt:variant>
    </vt:vector>
  </HeadingPairs>
  <TitlesOfParts>
    <vt:vector size="29" baseType="lpstr">
      <vt:lpstr>Ancizar Sans</vt:lpstr>
      <vt:lpstr>Ancizar Sans Light</vt:lpstr>
      <vt:lpstr>Ancizar Serif</vt:lpstr>
      <vt:lpstr>Ancizar Serif Extrabold</vt:lpstr>
      <vt:lpstr>Ancizar Serif Semibold</vt:lpstr>
      <vt:lpstr>Aptos</vt:lpstr>
      <vt:lpstr>Aptos Narrow</vt:lpstr>
      <vt:lpstr>Arial</vt:lpstr>
      <vt:lpstr>Cambria Math</vt:lpstr>
      <vt:lpstr>Plantilla-presentacion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Paola</dc:creator>
  <cp:lastModifiedBy>valeria Madariaga cuello</cp:lastModifiedBy>
  <cp:revision>94</cp:revision>
  <dcterms:created xsi:type="dcterms:W3CDTF">2024-06-25T17:03:54Z</dcterms:created>
  <dcterms:modified xsi:type="dcterms:W3CDTF">2026-07-31T12:16:43Z</dcterms:modified>
</cp:coreProperties>
</file>