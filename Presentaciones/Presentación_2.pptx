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33"/>
  </p:notesMasterIdLst>
  <p:sldIdLst>
    <p:sldId id="264" r:id="rId2"/>
    <p:sldId id="266" r:id="rId3"/>
    <p:sldId id="318" r:id="rId4"/>
    <p:sldId id="314" r:id="rId5"/>
    <p:sldId id="310" r:id="rId6"/>
    <p:sldId id="311" r:id="rId7"/>
    <p:sldId id="320" r:id="rId8"/>
    <p:sldId id="287" r:id="rId9"/>
    <p:sldId id="321" r:id="rId10"/>
    <p:sldId id="332" r:id="rId11"/>
    <p:sldId id="313" r:id="rId12"/>
    <p:sldId id="288" r:id="rId13"/>
    <p:sldId id="303" r:id="rId14"/>
    <p:sldId id="324" r:id="rId15"/>
    <p:sldId id="304" r:id="rId16"/>
    <p:sldId id="325" r:id="rId17"/>
    <p:sldId id="335" r:id="rId18"/>
    <p:sldId id="336" r:id="rId19"/>
    <p:sldId id="298" r:id="rId20"/>
    <p:sldId id="326" r:id="rId21"/>
    <p:sldId id="333" r:id="rId22"/>
    <p:sldId id="327" r:id="rId23"/>
    <p:sldId id="301" r:id="rId24"/>
    <p:sldId id="329" r:id="rId25"/>
    <p:sldId id="342" r:id="rId26"/>
    <p:sldId id="344" r:id="rId27"/>
    <p:sldId id="330" r:id="rId28"/>
    <p:sldId id="345" r:id="rId29"/>
    <p:sldId id="339" r:id="rId30"/>
    <p:sldId id="337" r:id="rId31"/>
    <p:sldId id="260" r:id="rId32"/>
  </p:sldIdLst>
  <p:sldSz cx="9144000" cy="5143500" type="screen16x9"/>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5240DA6-C43A-C126-C362-4896432FFE2C}" name="valeria Madariaga cuello" initials="vM" userId="S::vmadariagac@unal.edu.co::91f6536e-3937-4a12-82df-3e7df24074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620C78"/>
    <a:srgbClr val="4A095A"/>
    <a:srgbClr val="FFB93E"/>
    <a:srgbClr val="F4D9FB"/>
    <a:srgbClr val="F7E4FC"/>
    <a:srgbClr val="E8AFF7"/>
    <a:srgbClr val="F2E6CC"/>
    <a:srgbClr val="E03A00"/>
    <a:srgbClr val="172B7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969" autoAdjust="0"/>
  </p:normalViewPr>
  <p:slideViewPr>
    <p:cSldViewPr snapToGrid="0" snapToObjects="1">
      <p:cViewPr varScale="1">
        <p:scale>
          <a:sx n="146" d="100"/>
          <a:sy n="146" d="100"/>
        </p:scale>
        <p:origin x="594" y="114"/>
      </p:cViewPr>
      <p:guideLst>
        <p:guide orient="horz" pos="2160"/>
        <p:guide pos="2880"/>
        <p:guide orient="horz" pos="16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806D32-3F26-4A60-B79B-32791D3BB2C9}" type="datetimeFigureOut">
              <a:rPr lang="es-CO" smtClean="0"/>
              <a:t>15/07/2026</a:t>
            </a:fld>
            <a:endParaRPr lang="es-CO"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F695FE-B573-405B-994F-FAFC23062642}" type="slidenum">
              <a:rPr lang="es-CO" smtClean="0"/>
              <a:t>‹Nº›</a:t>
            </a:fld>
            <a:endParaRPr lang="es-CO" dirty="0"/>
          </a:p>
        </p:txBody>
      </p:sp>
    </p:spTree>
    <p:extLst>
      <p:ext uri="{BB962C8B-B14F-4D97-AF65-F5344CB8AC3E}">
        <p14:creationId xmlns:p14="http://schemas.microsoft.com/office/powerpoint/2010/main" val="2262910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F98E4-0AFB-4F3C-935F-173FEC9716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7193B3-F3D9-84CB-2D34-162CA5AD43BD}"/>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D813E517-8A47-52A4-84ED-A648B51E2BA0}"/>
              </a:ext>
            </a:extLst>
          </p:cNvPr>
          <p:cNvSpPr>
            <a:spLocks noGrp="1"/>
          </p:cNvSpPr>
          <p:nvPr>
            <p:ph type="body" idx="1"/>
          </p:nvPr>
        </p:nvSpPr>
        <p:spPr/>
        <p:txBody>
          <a:bodyPr/>
          <a:lstStyle/>
          <a:p>
            <a:r>
              <a:rPr lang="es-CO" dirty="0"/>
              <a:t>El análisis por comunas evidencia una marcada heterogeneidad espacial en la distribución de los movimientos en masa registrados en Medellín. Las comunas Popular, Santa Cruz, Villa Hermosa, San Javier y Manrique presentan los mayores índices de concentración relativa, registrando una proporción de movimientos considerablemente superior a la esperada según el porcentaje de área que representan dentro del municipio. En contraste, comunas rurales como Santa Elena, San Antonio de Prado y Palmitas, pese a ocupar una fracción importante del territorio municipal, presentan una baja participación relativa en el inventario histórico de movimientos en masa. Estos resultados indican que la ocurrencia de movimientos en masa está influenciada por factores territoriales que trascienden el tamaño de las unidades administrativas, lo que justifica analizar variables condicionantes como la geología, las coberturas del suelo y, en etapas posteriores, la pendiente.</a:t>
            </a:r>
          </a:p>
        </p:txBody>
      </p:sp>
      <p:sp>
        <p:nvSpPr>
          <p:cNvPr id="4" name="Marcador de número de diapositiva 3">
            <a:extLst>
              <a:ext uri="{FF2B5EF4-FFF2-40B4-BE49-F238E27FC236}">
                <a16:creationId xmlns:a16="http://schemas.microsoft.com/office/drawing/2014/main" id="{5B06844D-A6F6-5F0C-7351-A9FA620EF5C2}"/>
              </a:ext>
            </a:extLst>
          </p:cNvPr>
          <p:cNvSpPr>
            <a:spLocks noGrp="1"/>
          </p:cNvSpPr>
          <p:nvPr>
            <p:ph type="sldNum" sz="quarter" idx="5"/>
          </p:nvPr>
        </p:nvSpPr>
        <p:spPr/>
        <p:txBody>
          <a:bodyPr/>
          <a:lstStyle/>
          <a:p>
            <a:fld id="{46F695FE-B573-405B-994F-FAFC23062642}" type="slidenum">
              <a:rPr lang="es-CO" smtClean="0"/>
              <a:t>3</a:t>
            </a:fld>
            <a:endParaRPr lang="es-CO" dirty="0"/>
          </a:p>
        </p:txBody>
      </p:sp>
    </p:spTree>
    <p:extLst>
      <p:ext uri="{BB962C8B-B14F-4D97-AF65-F5344CB8AC3E}">
        <p14:creationId xmlns:p14="http://schemas.microsoft.com/office/powerpoint/2010/main" val="110742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DD918-0A80-CECA-EB08-611B40492D1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204B60-09FC-4599-01D3-6D059BAECBCD}"/>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355CC6E5-D63B-3E91-2756-22283C1D1E2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6785BE2-C62B-1FFF-5986-0952DA80AE11}"/>
              </a:ext>
            </a:extLst>
          </p:cNvPr>
          <p:cNvSpPr>
            <a:spLocks noGrp="1"/>
          </p:cNvSpPr>
          <p:nvPr>
            <p:ph type="sldNum" sz="quarter" idx="5"/>
          </p:nvPr>
        </p:nvSpPr>
        <p:spPr/>
        <p:txBody>
          <a:bodyPr/>
          <a:lstStyle/>
          <a:p>
            <a:fld id="{46F695FE-B573-405B-994F-FAFC23062642}" type="slidenum">
              <a:rPr lang="es-CO" smtClean="0"/>
              <a:t>5</a:t>
            </a:fld>
            <a:endParaRPr lang="es-CO" dirty="0"/>
          </a:p>
        </p:txBody>
      </p:sp>
    </p:spTree>
    <p:extLst>
      <p:ext uri="{BB962C8B-B14F-4D97-AF65-F5344CB8AC3E}">
        <p14:creationId xmlns:p14="http://schemas.microsoft.com/office/powerpoint/2010/main" val="2786232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FBC4A-9496-2A4C-01A4-D4BE20EA60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F94B01F-35D0-6E7F-4A8A-632ACF6DC628}"/>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C9D7E632-CE4F-FE66-D31C-F45F72103C1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7A46CAC-F1E3-B74B-61D7-D6C79683F0AB}"/>
              </a:ext>
            </a:extLst>
          </p:cNvPr>
          <p:cNvSpPr>
            <a:spLocks noGrp="1"/>
          </p:cNvSpPr>
          <p:nvPr>
            <p:ph type="sldNum" sz="quarter" idx="5"/>
          </p:nvPr>
        </p:nvSpPr>
        <p:spPr/>
        <p:txBody>
          <a:bodyPr/>
          <a:lstStyle/>
          <a:p>
            <a:fld id="{46F695FE-B573-405B-994F-FAFC23062642}" type="slidenum">
              <a:rPr lang="es-CO" smtClean="0"/>
              <a:t>6</a:t>
            </a:fld>
            <a:endParaRPr lang="es-CO" dirty="0"/>
          </a:p>
        </p:txBody>
      </p:sp>
    </p:spTree>
    <p:extLst>
      <p:ext uri="{BB962C8B-B14F-4D97-AF65-F5344CB8AC3E}">
        <p14:creationId xmlns:p14="http://schemas.microsoft.com/office/powerpoint/2010/main" val="561813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2D884-B755-502B-C229-6FE455A23B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66C15AF-BF0A-8F9E-ABEC-B5B42E771140}"/>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B00E0E7D-48C2-376C-5766-1B46708491A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FB96267-7A2F-5451-049B-D84A4E1DFA56}"/>
              </a:ext>
            </a:extLst>
          </p:cNvPr>
          <p:cNvSpPr>
            <a:spLocks noGrp="1"/>
          </p:cNvSpPr>
          <p:nvPr>
            <p:ph type="sldNum" sz="quarter" idx="5"/>
          </p:nvPr>
        </p:nvSpPr>
        <p:spPr/>
        <p:txBody>
          <a:bodyPr/>
          <a:lstStyle/>
          <a:p>
            <a:fld id="{46F695FE-B573-405B-994F-FAFC23062642}" type="slidenum">
              <a:rPr lang="es-CO" smtClean="0"/>
              <a:t>8</a:t>
            </a:fld>
            <a:endParaRPr lang="es-CO" dirty="0"/>
          </a:p>
        </p:txBody>
      </p:sp>
    </p:spTree>
    <p:extLst>
      <p:ext uri="{BB962C8B-B14F-4D97-AF65-F5344CB8AC3E}">
        <p14:creationId xmlns:p14="http://schemas.microsoft.com/office/powerpoint/2010/main" val="1453127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70B1-B00E-D38F-C0DD-B69824519D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919540B-AF00-810A-CD9B-F287CB30B7C2}"/>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F836570F-AE91-5D2E-983D-6AE7CC5D528B}"/>
              </a:ext>
            </a:extLst>
          </p:cNvPr>
          <p:cNvSpPr>
            <a:spLocks noGrp="1"/>
          </p:cNvSpPr>
          <p:nvPr>
            <p:ph type="body" idx="1"/>
          </p:nvPr>
        </p:nvSpPr>
        <p:spPr/>
        <p:txBody>
          <a:bodyPr/>
          <a:lstStyle/>
          <a:p>
            <a:r>
              <a:rPr lang="es-CO" b="1" dirty="0"/>
              <a:t>Territorios artificializados</a:t>
            </a:r>
            <a:r>
              <a:rPr lang="es-CO" dirty="0"/>
              <a:t> presentan una ocurrencia de movimientos </a:t>
            </a:r>
            <a:r>
              <a:rPr lang="es-CO" b="1" dirty="0"/>
              <a:t>2.1 veces superior</a:t>
            </a:r>
            <a:r>
              <a:rPr lang="es-CO" dirty="0"/>
              <a:t> a la esperada. Esto puede asociarse a cortes de ladera, urbanización, modificaciones del drenaje y sobrecarga de taludes. </a:t>
            </a:r>
            <a:r>
              <a:rPr lang="es-CO" b="1" dirty="0"/>
              <a:t>Bosques y áreas seminaturales</a:t>
            </a:r>
            <a:r>
              <a:rPr lang="es-CO" dirty="0"/>
              <a:t> muestran una ocurrencia ligeramente inferior a la esperada, posiblemente debido al efecto protector de la cobertura vegetal sobre la estabilidad superficial. </a:t>
            </a:r>
            <a:r>
              <a:rPr lang="es-CO" b="1" dirty="0"/>
              <a:t>Territorios agrícolas</a:t>
            </a:r>
            <a:r>
              <a:rPr lang="es-CO" dirty="0"/>
              <a:t> presentan una baja representación relativa, aunque la interpretación debe considerar el tipo de uso agrícola y su localización dentro del municipio.</a:t>
            </a:r>
          </a:p>
        </p:txBody>
      </p:sp>
      <p:sp>
        <p:nvSpPr>
          <p:cNvPr id="4" name="Marcador de número de diapositiva 3">
            <a:extLst>
              <a:ext uri="{FF2B5EF4-FFF2-40B4-BE49-F238E27FC236}">
                <a16:creationId xmlns:a16="http://schemas.microsoft.com/office/drawing/2014/main" id="{AEDDDCE1-D633-977F-71A4-A67BA3350675}"/>
              </a:ext>
            </a:extLst>
          </p:cNvPr>
          <p:cNvSpPr>
            <a:spLocks noGrp="1"/>
          </p:cNvSpPr>
          <p:nvPr>
            <p:ph type="sldNum" sz="quarter" idx="5"/>
          </p:nvPr>
        </p:nvSpPr>
        <p:spPr/>
        <p:txBody>
          <a:bodyPr/>
          <a:lstStyle/>
          <a:p>
            <a:fld id="{46F695FE-B573-405B-994F-FAFC23062642}" type="slidenum">
              <a:rPr lang="es-CO" smtClean="0"/>
              <a:t>10</a:t>
            </a:fld>
            <a:endParaRPr lang="es-CO" dirty="0"/>
          </a:p>
        </p:txBody>
      </p:sp>
    </p:spTree>
    <p:extLst>
      <p:ext uri="{BB962C8B-B14F-4D97-AF65-F5344CB8AC3E}">
        <p14:creationId xmlns:p14="http://schemas.microsoft.com/office/powerpoint/2010/main" val="45064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1B6FB-D153-01D8-A927-E2DB47A6DAE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0B95E53-D72B-2DE1-BEC2-6F6DAFC48E94}"/>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89A7B5FD-511D-3CA3-A984-BCC5964184AF}"/>
              </a:ext>
            </a:extLst>
          </p:cNvPr>
          <p:cNvSpPr>
            <a:spLocks noGrp="1"/>
          </p:cNvSpPr>
          <p:nvPr>
            <p:ph type="body" idx="1"/>
          </p:nvPr>
        </p:nvSpPr>
        <p:spPr/>
        <p:txBody>
          <a:bodyPr/>
          <a:lstStyle/>
          <a:p>
            <a:r>
              <a:rPr lang="es-CO" b="1" dirty="0"/>
              <a:t>Territorios artificializados</a:t>
            </a:r>
            <a:r>
              <a:rPr lang="es-CO" dirty="0"/>
              <a:t> presentan una ocurrencia de movimientos </a:t>
            </a:r>
            <a:r>
              <a:rPr lang="es-CO" b="1" dirty="0"/>
              <a:t>2.1 veces superior</a:t>
            </a:r>
            <a:r>
              <a:rPr lang="es-CO" dirty="0"/>
              <a:t> a la esperada. Esto puede asociarse a cortes de ladera, urbanización, modificaciones del drenaje y sobrecarga de taludes. </a:t>
            </a:r>
            <a:r>
              <a:rPr lang="es-CO" b="1" dirty="0"/>
              <a:t>Bosques y áreas seminaturales</a:t>
            </a:r>
            <a:r>
              <a:rPr lang="es-CO" dirty="0"/>
              <a:t> muestran una ocurrencia ligeramente inferior a la esperada, posiblemente debido al efecto protector de la cobertura vegetal sobre la estabilidad superficial. </a:t>
            </a:r>
            <a:r>
              <a:rPr lang="es-CO" b="1" dirty="0"/>
              <a:t>Territorios agrícolas</a:t>
            </a:r>
            <a:r>
              <a:rPr lang="es-CO" dirty="0"/>
              <a:t> presentan una baja representación relativa, aunque la interpretación debe considerar el tipo de uso agrícola y su localización dentro del municipio.</a:t>
            </a:r>
          </a:p>
        </p:txBody>
      </p:sp>
      <p:sp>
        <p:nvSpPr>
          <p:cNvPr id="4" name="Marcador de número de diapositiva 3">
            <a:extLst>
              <a:ext uri="{FF2B5EF4-FFF2-40B4-BE49-F238E27FC236}">
                <a16:creationId xmlns:a16="http://schemas.microsoft.com/office/drawing/2014/main" id="{D55C86EA-929E-55A3-1B8A-C3B5EA321A3F}"/>
              </a:ext>
            </a:extLst>
          </p:cNvPr>
          <p:cNvSpPr>
            <a:spLocks noGrp="1"/>
          </p:cNvSpPr>
          <p:nvPr>
            <p:ph type="sldNum" sz="quarter" idx="5"/>
          </p:nvPr>
        </p:nvSpPr>
        <p:spPr/>
        <p:txBody>
          <a:bodyPr/>
          <a:lstStyle/>
          <a:p>
            <a:fld id="{46F695FE-B573-405B-994F-FAFC23062642}" type="slidenum">
              <a:rPr lang="es-CO" smtClean="0"/>
              <a:t>13</a:t>
            </a:fld>
            <a:endParaRPr lang="es-CO" dirty="0"/>
          </a:p>
        </p:txBody>
      </p:sp>
    </p:spTree>
    <p:extLst>
      <p:ext uri="{BB962C8B-B14F-4D97-AF65-F5344CB8AC3E}">
        <p14:creationId xmlns:p14="http://schemas.microsoft.com/office/powerpoint/2010/main" val="415101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0C1A5-9486-C4F9-66AA-0D82D87A2B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095FC14-4672-52B8-974A-BA7E549486D3}"/>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C7AE0E30-42D3-1373-77D9-5F17B39621D1}"/>
              </a:ext>
            </a:extLst>
          </p:cNvPr>
          <p:cNvSpPr>
            <a:spLocks noGrp="1"/>
          </p:cNvSpPr>
          <p:nvPr>
            <p:ph type="body" idx="1"/>
          </p:nvPr>
        </p:nvSpPr>
        <p:spPr/>
        <p:txBody>
          <a:bodyPr/>
          <a:lstStyle/>
          <a:p>
            <a:r>
              <a:rPr lang="es-CO" dirty="0"/>
              <a:t>Los barrios con un alto número de movimientos en masa tienden a localizarse cerca de otros barrios con altos valores, mientras que los barrios con bajos valores también tienden a agruparse espacialmente.</a:t>
            </a:r>
          </a:p>
        </p:txBody>
      </p:sp>
      <p:sp>
        <p:nvSpPr>
          <p:cNvPr id="4" name="Marcador de número de diapositiva 3">
            <a:extLst>
              <a:ext uri="{FF2B5EF4-FFF2-40B4-BE49-F238E27FC236}">
                <a16:creationId xmlns:a16="http://schemas.microsoft.com/office/drawing/2014/main" id="{93D8DCCA-10A2-243A-A79D-D37173F7E673}"/>
              </a:ext>
            </a:extLst>
          </p:cNvPr>
          <p:cNvSpPr>
            <a:spLocks noGrp="1"/>
          </p:cNvSpPr>
          <p:nvPr>
            <p:ph type="sldNum" sz="quarter" idx="5"/>
          </p:nvPr>
        </p:nvSpPr>
        <p:spPr/>
        <p:txBody>
          <a:bodyPr/>
          <a:lstStyle/>
          <a:p>
            <a:fld id="{46F695FE-B573-405B-994F-FAFC23062642}" type="slidenum">
              <a:rPr lang="es-CO" smtClean="0"/>
              <a:t>15</a:t>
            </a:fld>
            <a:endParaRPr lang="es-CO" dirty="0"/>
          </a:p>
        </p:txBody>
      </p:sp>
    </p:spTree>
    <p:extLst>
      <p:ext uri="{BB962C8B-B14F-4D97-AF65-F5344CB8AC3E}">
        <p14:creationId xmlns:p14="http://schemas.microsoft.com/office/powerpoint/2010/main" val="4251271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3C57D-AD90-E18D-148B-2C4DE64750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4E7338-B945-E3FE-ED43-85E7791270A5}"/>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1875B8CB-8E60-030E-BD52-8174AE83173B}"/>
              </a:ext>
            </a:extLst>
          </p:cNvPr>
          <p:cNvSpPr>
            <a:spLocks noGrp="1"/>
          </p:cNvSpPr>
          <p:nvPr>
            <p:ph type="body" idx="1"/>
          </p:nvPr>
        </p:nvSpPr>
        <p:spPr/>
        <p:txBody>
          <a:bodyPr/>
          <a:lstStyle/>
          <a:p>
            <a:r>
              <a:rPr lang="es-CO" b="1" dirty="0"/>
              <a:t>Territorios artificializados</a:t>
            </a:r>
            <a:r>
              <a:rPr lang="es-CO" dirty="0"/>
              <a:t> presentan una ocurrencia de movimientos </a:t>
            </a:r>
            <a:r>
              <a:rPr lang="es-CO" b="1" dirty="0"/>
              <a:t>2.1 veces superior</a:t>
            </a:r>
            <a:r>
              <a:rPr lang="es-CO" dirty="0"/>
              <a:t> a la esperada. Esto puede asociarse a cortes de ladera, urbanización, modificaciones del drenaje y sobrecarga de taludes. </a:t>
            </a:r>
            <a:r>
              <a:rPr lang="es-CO" b="1" dirty="0"/>
              <a:t>Bosques y áreas seminaturales</a:t>
            </a:r>
            <a:r>
              <a:rPr lang="es-CO" dirty="0"/>
              <a:t> muestran una ocurrencia ligeramente inferior a la esperada, posiblemente debido al efecto protector de la cobertura vegetal sobre la estabilidad superficial. </a:t>
            </a:r>
            <a:r>
              <a:rPr lang="es-CO" b="1" dirty="0"/>
              <a:t>Territorios agrícolas</a:t>
            </a:r>
            <a:r>
              <a:rPr lang="es-CO" dirty="0"/>
              <a:t> presentan una baja representación relativa, aunque la interpretación debe considerar el tipo de uso agrícola y su localización dentro del municipio.</a:t>
            </a:r>
          </a:p>
        </p:txBody>
      </p:sp>
      <p:sp>
        <p:nvSpPr>
          <p:cNvPr id="4" name="Marcador de número de diapositiva 3">
            <a:extLst>
              <a:ext uri="{FF2B5EF4-FFF2-40B4-BE49-F238E27FC236}">
                <a16:creationId xmlns:a16="http://schemas.microsoft.com/office/drawing/2014/main" id="{25780C66-F1D3-1763-89A2-723B5CB87665}"/>
              </a:ext>
            </a:extLst>
          </p:cNvPr>
          <p:cNvSpPr>
            <a:spLocks noGrp="1"/>
          </p:cNvSpPr>
          <p:nvPr>
            <p:ph type="sldNum" sz="quarter" idx="5"/>
          </p:nvPr>
        </p:nvSpPr>
        <p:spPr/>
        <p:txBody>
          <a:bodyPr/>
          <a:lstStyle/>
          <a:p>
            <a:fld id="{46F695FE-B573-405B-994F-FAFC23062642}" type="slidenum">
              <a:rPr lang="es-CO" smtClean="0"/>
              <a:t>17</a:t>
            </a:fld>
            <a:endParaRPr lang="es-CO" dirty="0"/>
          </a:p>
        </p:txBody>
      </p:sp>
    </p:spTree>
    <p:extLst>
      <p:ext uri="{BB962C8B-B14F-4D97-AF65-F5344CB8AC3E}">
        <p14:creationId xmlns:p14="http://schemas.microsoft.com/office/powerpoint/2010/main" val="3606888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B86F0-9A20-250A-27A6-1D55874963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48D751-0080-DE71-A9CA-894F9BBA243D}"/>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3AA791B1-A331-97ED-E7E8-567E952608EB}"/>
              </a:ext>
            </a:extLst>
          </p:cNvPr>
          <p:cNvSpPr>
            <a:spLocks noGrp="1"/>
          </p:cNvSpPr>
          <p:nvPr>
            <p:ph type="body" idx="1"/>
          </p:nvPr>
        </p:nvSpPr>
        <p:spPr/>
        <p:txBody>
          <a:bodyPr/>
          <a:lstStyle/>
          <a:p>
            <a:r>
              <a:rPr lang="es-CO" b="1" dirty="0"/>
              <a:t>Territorios artificializados</a:t>
            </a:r>
            <a:r>
              <a:rPr lang="es-CO" dirty="0"/>
              <a:t> presentan una ocurrencia de movimientos </a:t>
            </a:r>
            <a:r>
              <a:rPr lang="es-CO" b="1" dirty="0"/>
              <a:t>2.1 veces superior</a:t>
            </a:r>
            <a:r>
              <a:rPr lang="es-CO" dirty="0"/>
              <a:t> a la esperada. Esto puede asociarse a cortes de ladera, urbanización, modificaciones del drenaje y sobrecarga de taludes. </a:t>
            </a:r>
            <a:r>
              <a:rPr lang="es-CO" b="1" dirty="0"/>
              <a:t>Bosques y áreas seminaturales</a:t>
            </a:r>
            <a:r>
              <a:rPr lang="es-CO" dirty="0"/>
              <a:t> muestran una ocurrencia ligeramente inferior a la esperada, posiblemente debido al efecto protector de la cobertura vegetal sobre la estabilidad superficial. </a:t>
            </a:r>
            <a:r>
              <a:rPr lang="es-CO" b="1" dirty="0"/>
              <a:t>Territorios agrícolas</a:t>
            </a:r>
            <a:r>
              <a:rPr lang="es-CO" dirty="0"/>
              <a:t> presentan una baja representación relativa, aunque la interpretación debe considerar el tipo de uso agrícola y su localización dentro del municipio.</a:t>
            </a:r>
          </a:p>
        </p:txBody>
      </p:sp>
      <p:sp>
        <p:nvSpPr>
          <p:cNvPr id="4" name="Marcador de número de diapositiva 3">
            <a:extLst>
              <a:ext uri="{FF2B5EF4-FFF2-40B4-BE49-F238E27FC236}">
                <a16:creationId xmlns:a16="http://schemas.microsoft.com/office/drawing/2014/main" id="{F13491C9-8DB9-24A1-DE4C-32EF2A5A605F}"/>
              </a:ext>
            </a:extLst>
          </p:cNvPr>
          <p:cNvSpPr>
            <a:spLocks noGrp="1"/>
          </p:cNvSpPr>
          <p:nvPr>
            <p:ph type="sldNum" sz="quarter" idx="5"/>
          </p:nvPr>
        </p:nvSpPr>
        <p:spPr/>
        <p:txBody>
          <a:bodyPr/>
          <a:lstStyle/>
          <a:p>
            <a:fld id="{46F695FE-B573-405B-994F-FAFC23062642}" type="slidenum">
              <a:rPr lang="es-CO" smtClean="0"/>
              <a:t>19</a:t>
            </a:fld>
            <a:endParaRPr lang="es-CO" dirty="0"/>
          </a:p>
        </p:txBody>
      </p:sp>
    </p:spTree>
    <p:extLst>
      <p:ext uri="{BB962C8B-B14F-4D97-AF65-F5344CB8AC3E}">
        <p14:creationId xmlns:p14="http://schemas.microsoft.com/office/powerpoint/2010/main" val="4075925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25616-0297-2CF2-9BB8-0811AF870F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7195DB5-A4CE-1ADB-C088-52B88E3FE00B}"/>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1AB5CFDD-0295-E09B-775B-BE7EFF7CEFEB}"/>
              </a:ext>
            </a:extLst>
          </p:cNvPr>
          <p:cNvSpPr>
            <a:spLocks noGrp="1"/>
          </p:cNvSpPr>
          <p:nvPr>
            <p:ph type="body" idx="1"/>
          </p:nvPr>
        </p:nvSpPr>
        <p:spPr/>
        <p:txBody>
          <a:bodyPr/>
          <a:lstStyle/>
          <a:p>
            <a:r>
              <a:rPr lang="es-CO" b="1" dirty="0"/>
              <a:t>Territorios artificializados</a:t>
            </a:r>
            <a:r>
              <a:rPr lang="es-CO" dirty="0"/>
              <a:t> presentan una ocurrencia de movimientos </a:t>
            </a:r>
            <a:r>
              <a:rPr lang="es-CO" b="1" dirty="0"/>
              <a:t>2.1 veces superior</a:t>
            </a:r>
            <a:r>
              <a:rPr lang="es-CO" dirty="0"/>
              <a:t> a la esperada. Esto puede asociarse a cortes de ladera, urbanización, modificaciones del drenaje y sobrecarga de taludes. </a:t>
            </a:r>
            <a:r>
              <a:rPr lang="es-CO" b="1" dirty="0"/>
              <a:t>Bosques y áreas seminaturales</a:t>
            </a:r>
            <a:r>
              <a:rPr lang="es-CO" dirty="0"/>
              <a:t> muestran una ocurrencia ligeramente inferior a la esperada, posiblemente debido al efecto protector de la cobertura vegetal sobre la estabilidad superficial. </a:t>
            </a:r>
            <a:r>
              <a:rPr lang="es-CO" b="1" dirty="0"/>
              <a:t>Territorios agrícolas</a:t>
            </a:r>
            <a:r>
              <a:rPr lang="es-CO" dirty="0"/>
              <a:t> presentan una baja representación relativa, aunque la interpretación debe considerar el tipo de uso agrícola y su localización dentro del municipio.</a:t>
            </a:r>
          </a:p>
        </p:txBody>
      </p:sp>
      <p:sp>
        <p:nvSpPr>
          <p:cNvPr id="4" name="Marcador de número de diapositiva 3">
            <a:extLst>
              <a:ext uri="{FF2B5EF4-FFF2-40B4-BE49-F238E27FC236}">
                <a16:creationId xmlns:a16="http://schemas.microsoft.com/office/drawing/2014/main" id="{33D05066-7054-D7EE-7FC8-9674AFAE69ED}"/>
              </a:ext>
            </a:extLst>
          </p:cNvPr>
          <p:cNvSpPr>
            <a:spLocks noGrp="1"/>
          </p:cNvSpPr>
          <p:nvPr>
            <p:ph type="sldNum" sz="quarter" idx="5"/>
          </p:nvPr>
        </p:nvSpPr>
        <p:spPr/>
        <p:txBody>
          <a:bodyPr/>
          <a:lstStyle/>
          <a:p>
            <a:fld id="{46F695FE-B573-405B-994F-FAFC23062642}" type="slidenum">
              <a:rPr lang="es-CO" smtClean="0"/>
              <a:t>21</a:t>
            </a:fld>
            <a:endParaRPr lang="es-CO" dirty="0"/>
          </a:p>
        </p:txBody>
      </p:sp>
    </p:spTree>
    <p:extLst>
      <p:ext uri="{BB962C8B-B14F-4D97-AF65-F5344CB8AC3E}">
        <p14:creationId xmlns:p14="http://schemas.microsoft.com/office/powerpoint/2010/main" val="1592812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403E0-9FF0-7C03-47DC-0703F1473AD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DFEAF5-408A-072E-362E-9064551B06FC}"/>
              </a:ext>
            </a:extLst>
          </p:cNvPr>
          <p:cNvSpPr>
            <a:spLocks noGrp="1" noRot="1" noChangeAspect="1"/>
          </p:cNvSpPr>
          <p:nvPr>
            <p:ph type="sldImg"/>
          </p:nvPr>
        </p:nvSpPr>
        <p:spPr/>
        <p:txBody>
          <a:bodyPr/>
          <a:lstStyle/>
          <a:p>
            <a:endParaRPr lang="es-CO" dirty="0"/>
          </a:p>
        </p:txBody>
      </p:sp>
      <p:sp>
        <p:nvSpPr>
          <p:cNvPr id="3" name="Marcador de notas 2">
            <a:extLst>
              <a:ext uri="{FF2B5EF4-FFF2-40B4-BE49-F238E27FC236}">
                <a16:creationId xmlns:a16="http://schemas.microsoft.com/office/drawing/2014/main" id="{8448A65F-5750-167C-1779-36E34B3A9E9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5E81854-BC4A-254E-FB43-434824905A53}"/>
              </a:ext>
            </a:extLst>
          </p:cNvPr>
          <p:cNvSpPr>
            <a:spLocks noGrp="1"/>
          </p:cNvSpPr>
          <p:nvPr>
            <p:ph type="sldNum" sz="quarter" idx="5"/>
          </p:nvPr>
        </p:nvSpPr>
        <p:spPr/>
        <p:txBody>
          <a:bodyPr/>
          <a:lstStyle/>
          <a:p>
            <a:fld id="{46F695FE-B573-405B-994F-FAFC23062642}" type="slidenum">
              <a:rPr lang="es-CO" smtClean="0"/>
              <a:t>23</a:t>
            </a:fld>
            <a:endParaRPr lang="es-CO" dirty="0"/>
          </a:p>
        </p:txBody>
      </p:sp>
    </p:spTree>
    <p:extLst>
      <p:ext uri="{BB962C8B-B14F-4D97-AF65-F5344CB8AC3E}">
        <p14:creationId xmlns:p14="http://schemas.microsoft.com/office/powerpoint/2010/main" val="3586538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1597819"/>
            <a:ext cx="7772400" cy="1102519"/>
          </a:xfrm>
        </p:spPr>
        <p:txBody>
          <a:bodyPr/>
          <a:lstStyle/>
          <a:p>
            <a:r>
              <a:rPr lang="es-ES"/>
              <a:t>Haga clic para modificar el estilo de título del patrón</a:t>
            </a:r>
          </a:p>
        </p:txBody>
      </p:sp>
      <p:sp>
        <p:nvSpPr>
          <p:cNvPr id="3" name="Subtítulo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833DC620-E659-49B0-9EFB-BB66AA813A77}" type="datetime1">
              <a:rPr lang="es-ES" smtClean="0"/>
              <a:t>15/07/2026</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90BC2BA4-81C0-F544-BD72-C8CB9DA7C802}" type="slidenum">
              <a:rPr lang="es-ES" smtClean="0"/>
              <a:t>‹Nº›</a:t>
            </a:fld>
            <a:endParaRPr lang="es-ES" dirty="0"/>
          </a:p>
        </p:txBody>
      </p:sp>
    </p:spTree>
    <p:extLst>
      <p:ext uri="{BB962C8B-B14F-4D97-AF65-F5344CB8AC3E}">
        <p14:creationId xmlns:p14="http://schemas.microsoft.com/office/powerpoint/2010/main" val="208117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368595"/>
            <a:ext cx="8229600" cy="694634"/>
          </a:xfrm>
        </p:spPr>
        <p:txBody>
          <a:bodyPr>
            <a:noAutofit/>
          </a:bodyPr>
          <a:lstStyle>
            <a:lvl1pPr>
              <a:defRPr sz="2800">
                <a:solidFill>
                  <a:schemeClr val="tx2"/>
                </a:solidFill>
              </a:defRPr>
            </a:lvl1pPr>
          </a:lstStyle>
          <a:p>
            <a:r>
              <a:rPr lang="es-ES" dirty="0"/>
              <a:t>Haga clic para modificar el estilo de título del patrón</a:t>
            </a:r>
          </a:p>
        </p:txBody>
      </p:sp>
      <p:sp>
        <p:nvSpPr>
          <p:cNvPr id="3" name="Marcador de contenido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F477E6E-80CA-4637-84D1-CB00AA43C9A5}" type="datetime1">
              <a:rPr lang="es-ES" smtClean="0"/>
              <a:t>15/07/2026</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301256" y="18054"/>
            <a:ext cx="2133600" cy="273844"/>
          </a:xfrm>
        </p:spPr>
        <p:txBody>
          <a:bodyPr/>
          <a:lstStyle>
            <a:lvl1pPr algn="l">
              <a:defRPr sz="900"/>
            </a:lvl1pPr>
          </a:lstStyle>
          <a:p>
            <a:r>
              <a:rPr lang="es-ES" dirty="0"/>
              <a:t>Página </a:t>
            </a:r>
            <a:fld id="{90BC2BA4-81C0-F544-BD72-C8CB9DA7C802}" type="slidenum">
              <a:rPr lang="es-ES" smtClean="0"/>
              <a:pPr/>
              <a:t>‹Nº›</a:t>
            </a:fld>
            <a:r>
              <a:rPr lang="es-ES" dirty="0"/>
              <a:t> </a:t>
            </a:r>
          </a:p>
        </p:txBody>
      </p:sp>
    </p:spTree>
    <p:extLst>
      <p:ext uri="{BB962C8B-B14F-4D97-AF65-F5344CB8AC3E}">
        <p14:creationId xmlns:p14="http://schemas.microsoft.com/office/powerpoint/2010/main" val="310055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2299790"/>
            <a:ext cx="7772400" cy="1021556"/>
          </a:xfrm>
        </p:spPr>
        <p:txBody>
          <a:bodyPr anchor="t"/>
          <a:lstStyle>
            <a:lvl1pPr algn="l">
              <a:defRPr sz="4000" b="1" cap="all"/>
            </a:lvl1pPr>
          </a:lstStyle>
          <a:p>
            <a:r>
              <a:rPr lang="es-ES" dirty="0"/>
              <a:t>Haga clic para modificar el estilo de título del patrón</a:t>
            </a:r>
          </a:p>
        </p:txBody>
      </p:sp>
      <p:sp>
        <p:nvSpPr>
          <p:cNvPr id="3" name="Marcador de texto 2"/>
          <p:cNvSpPr>
            <a:spLocks noGrp="1"/>
          </p:cNvSpPr>
          <p:nvPr>
            <p:ph type="body" idx="1"/>
          </p:nvPr>
        </p:nvSpPr>
        <p:spPr>
          <a:xfrm>
            <a:off x="722313" y="1174649"/>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Marcador de fecha 3"/>
          <p:cNvSpPr>
            <a:spLocks noGrp="1"/>
          </p:cNvSpPr>
          <p:nvPr>
            <p:ph type="dt" sz="half" idx="10"/>
          </p:nvPr>
        </p:nvSpPr>
        <p:spPr/>
        <p:txBody>
          <a:bodyPr/>
          <a:lstStyle/>
          <a:p>
            <a:fld id="{E72404BB-03C1-49D0-8ADB-9D0B173DA53B}" type="datetime1">
              <a:rPr lang="es-ES" smtClean="0"/>
              <a:t>15/07/2026</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1840981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2800"/>
            </a:lvl1pPr>
          </a:lstStyle>
          <a:p>
            <a:r>
              <a:rPr lang="es-ES" dirty="0"/>
              <a:t>Haga clic para modificar el estilo de título del patrón</a:t>
            </a:r>
          </a:p>
        </p:txBody>
      </p:sp>
      <p:sp>
        <p:nvSpPr>
          <p:cNvPr id="3" name="Marcador de contenido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2328A97A-0D3F-47CA-A347-054B7FE5852E}" type="datetime1">
              <a:rPr lang="es-ES" smtClean="0"/>
              <a:t>15/07/2026</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8" name="Marcador de número de diapositiva 5">
            <a:extLst>
              <a:ext uri="{FF2B5EF4-FFF2-40B4-BE49-F238E27FC236}">
                <a16:creationId xmlns:a16="http://schemas.microsoft.com/office/drawing/2014/main" id="{1D78991F-287D-0639-B3A9-25B72B76217C}"/>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3563036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2800"/>
            </a:lvl1pPr>
          </a:lstStyle>
          <a:p>
            <a:r>
              <a:rPr lang="es-ES"/>
              <a:t>Haga clic para modificar el estilo de título del patrón</a:t>
            </a:r>
          </a:p>
        </p:txBody>
      </p:sp>
      <p:sp>
        <p:nvSpPr>
          <p:cNvPr id="3" name="Marcador de texto 2"/>
          <p:cNvSpPr>
            <a:spLocks noGrp="1"/>
          </p:cNvSpPr>
          <p:nvPr>
            <p:ph type="body" idx="1"/>
          </p:nvPr>
        </p:nvSpPr>
        <p:spPr>
          <a:xfrm>
            <a:off x="457200" y="1151335"/>
            <a:ext cx="4040188" cy="479822"/>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Haga clic para modificar los estilos de texto del patrón</a:t>
            </a:r>
          </a:p>
        </p:txBody>
      </p:sp>
      <p:sp>
        <p:nvSpPr>
          <p:cNvPr id="4" name="Marcador de contenido 3"/>
          <p:cNvSpPr>
            <a:spLocks noGrp="1"/>
          </p:cNvSpPr>
          <p:nvPr>
            <p:ph sz="half" idx="2"/>
          </p:nvPr>
        </p:nvSpPr>
        <p:spPr>
          <a:xfrm>
            <a:off x="457200" y="1631156"/>
            <a:ext cx="4040188" cy="296346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Marcador de texto 4"/>
          <p:cNvSpPr>
            <a:spLocks noGrp="1"/>
          </p:cNvSpPr>
          <p:nvPr>
            <p:ph type="body" sz="quarter" idx="3"/>
          </p:nvPr>
        </p:nvSpPr>
        <p:spPr>
          <a:xfrm>
            <a:off x="4645026" y="1151335"/>
            <a:ext cx="4041775" cy="479822"/>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p:cNvSpPr>
            <a:spLocks noGrp="1"/>
          </p:cNvSpPr>
          <p:nvPr>
            <p:ph sz="quarter" idx="4"/>
          </p:nvPr>
        </p:nvSpPr>
        <p:spPr>
          <a:xfrm>
            <a:off x="4645026" y="1631156"/>
            <a:ext cx="4041775" cy="296346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791C8795-6BD1-4429-BD75-9B388C62CDEE}" type="datetime1">
              <a:rPr lang="es-ES" smtClean="0"/>
              <a:t>15/07/2026</a:t>
            </a:fld>
            <a:endParaRPr lang="es-ES" dirty="0"/>
          </a:p>
        </p:txBody>
      </p:sp>
      <p:sp>
        <p:nvSpPr>
          <p:cNvPr id="8" name="Marcador de pie de página 7"/>
          <p:cNvSpPr>
            <a:spLocks noGrp="1"/>
          </p:cNvSpPr>
          <p:nvPr>
            <p:ph type="ftr" sz="quarter" idx="11"/>
          </p:nvPr>
        </p:nvSpPr>
        <p:spPr/>
        <p:txBody>
          <a:bodyPr/>
          <a:lstStyle/>
          <a:p>
            <a:endParaRPr lang="es-ES" dirty="0"/>
          </a:p>
        </p:txBody>
      </p:sp>
      <p:sp>
        <p:nvSpPr>
          <p:cNvPr id="10" name="Marcador de número de diapositiva 5">
            <a:extLst>
              <a:ext uri="{FF2B5EF4-FFF2-40B4-BE49-F238E27FC236}">
                <a16:creationId xmlns:a16="http://schemas.microsoft.com/office/drawing/2014/main" id="{B2016B63-56CA-91C8-8D94-3736CC5DFAC1}"/>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1934548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2800"/>
            </a:lvl1pPr>
          </a:lstStyle>
          <a:p>
            <a:r>
              <a:rPr lang="es-ES" dirty="0"/>
              <a:t>Haga clic para modificar el estilo de título del patrón</a:t>
            </a:r>
          </a:p>
        </p:txBody>
      </p:sp>
      <p:sp>
        <p:nvSpPr>
          <p:cNvPr id="3" name="Marcador de fecha 2"/>
          <p:cNvSpPr>
            <a:spLocks noGrp="1"/>
          </p:cNvSpPr>
          <p:nvPr>
            <p:ph type="dt" sz="half" idx="10"/>
          </p:nvPr>
        </p:nvSpPr>
        <p:spPr/>
        <p:txBody>
          <a:bodyPr/>
          <a:lstStyle/>
          <a:p>
            <a:fld id="{B646A773-67CF-4861-89BB-2127413ABA21}" type="datetime1">
              <a:rPr lang="es-ES" smtClean="0"/>
              <a:t>15/07/2026</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7AED5BEC-1B11-157D-6B6B-7EC9DA3858D6}"/>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1268878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D8ADB17-4F6B-498B-894E-4985DAFC70C1}" type="datetime1">
              <a:rPr lang="es-ES" smtClean="0"/>
              <a:t>15/07/2026</a:t>
            </a:fld>
            <a:endParaRPr lang="es-ES" dirty="0"/>
          </a:p>
        </p:txBody>
      </p:sp>
      <p:sp>
        <p:nvSpPr>
          <p:cNvPr id="3" name="Marcador de pie de página 2"/>
          <p:cNvSpPr>
            <a:spLocks noGrp="1"/>
          </p:cNvSpPr>
          <p:nvPr>
            <p:ph type="ftr" sz="quarter" idx="11"/>
          </p:nvPr>
        </p:nvSpPr>
        <p:spPr/>
        <p:txBody>
          <a:bodyPr/>
          <a:lstStyle/>
          <a:p>
            <a:endParaRPr lang="es-ES" dirty="0"/>
          </a:p>
        </p:txBody>
      </p:sp>
      <p:sp>
        <p:nvSpPr>
          <p:cNvPr id="5" name="Marcador de número de diapositiva 5">
            <a:extLst>
              <a:ext uri="{FF2B5EF4-FFF2-40B4-BE49-F238E27FC236}">
                <a16:creationId xmlns:a16="http://schemas.microsoft.com/office/drawing/2014/main" id="{29E16D5E-FC12-627C-C32C-2D79CE9DAC8C}"/>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1818413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1" y="204787"/>
            <a:ext cx="3008313" cy="871538"/>
          </a:xfrm>
        </p:spPr>
        <p:txBody>
          <a:bodyPr anchor="b"/>
          <a:lstStyle>
            <a:lvl1pPr algn="l">
              <a:defRPr sz="2000" b="1"/>
            </a:lvl1pPr>
          </a:lstStyle>
          <a:p>
            <a:r>
              <a:rPr lang="es-ES"/>
              <a:t>Haga clic para modificar el estilo de título del patrón</a:t>
            </a:r>
          </a:p>
        </p:txBody>
      </p:sp>
      <p:sp>
        <p:nvSpPr>
          <p:cNvPr id="3" name="Marcador de contenido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Marcador de fecha 4"/>
          <p:cNvSpPr>
            <a:spLocks noGrp="1"/>
          </p:cNvSpPr>
          <p:nvPr>
            <p:ph type="dt" sz="half" idx="10"/>
          </p:nvPr>
        </p:nvSpPr>
        <p:spPr/>
        <p:txBody>
          <a:bodyPr/>
          <a:lstStyle/>
          <a:p>
            <a:fld id="{6E5F5D58-D3C6-4A98-BBED-E11D62DD4FB7}" type="datetime1">
              <a:rPr lang="es-ES" smtClean="0"/>
              <a:t>15/07/2026</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8" name="Marcador de número de diapositiva 5">
            <a:extLst>
              <a:ext uri="{FF2B5EF4-FFF2-40B4-BE49-F238E27FC236}">
                <a16:creationId xmlns:a16="http://schemas.microsoft.com/office/drawing/2014/main" id="{27E0BABE-B629-4063-8894-C3E903570FE1}"/>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3573977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3600450"/>
            <a:ext cx="5486400" cy="425054"/>
          </a:xfrm>
        </p:spPr>
        <p:txBody>
          <a:bodyPr anchor="b"/>
          <a:lstStyle>
            <a:lvl1pPr algn="l">
              <a:defRPr sz="2000" b="1"/>
            </a:lvl1pPr>
          </a:lstStyle>
          <a:p>
            <a:r>
              <a:rPr lang="es-ES"/>
              <a:t>Haga clic para modificar el estilo de título del patrón</a:t>
            </a:r>
          </a:p>
        </p:txBody>
      </p:sp>
      <p:sp>
        <p:nvSpPr>
          <p:cNvPr id="3" name="Marcador de posición de imagen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p>
        </p:txBody>
      </p:sp>
      <p:sp>
        <p:nvSpPr>
          <p:cNvPr id="4" name="Marcador de texto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Marcador de fecha 4"/>
          <p:cNvSpPr>
            <a:spLocks noGrp="1"/>
          </p:cNvSpPr>
          <p:nvPr>
            <p:ph type="dt" sz="half" idx="10"/>
          </p:nvPr>
        </p:nvSpPr>
        <p:spPr/>
        <p:txBody>
          <a:bodyPr/>
          <a:lstStyle/>
          <a:p>
            <a:fld id="{F6F8C981-BD54-46FE-919F-B5B29C8804F4}" type="datetime1">
              <a:rPr lang="es-ES" smtClean="0"/>
              <a:t>15/07/2026</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8" name="Marcador de número de diapositiva 5">
            <a:extLst>
              <a:ext uri="{FF2B5EF4-FFF2-40B4-BE49-F238E27FC236}">
                <a16:creationId xmlns:a16="http://schemas.microsoft.com/office/drawing/2014/main" id="{8F88F565-A7F0-7C19-A7F7-953C9727E2BF}"/>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dirty="0"/>
          </a:p>
        </p:txBody>
      </p:sp>
    </p:spTree>
    <p:extLst>
      <p:ext uri="{BB962C8B-B14F-4D97-AF65-F5344CB8AC3E}">
        <p14:creationId xmlns:p14="http://schemas.microsoft.com/office/powerpoint/2010/main" val="74998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311887"/>
            <a:ext cx="8229600" cy="751341"/>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DB30C37-EE32-4163-B0FE-3AD7FB21F6FB}" type="datetime1">
              <a:rPr lang="es-ES" smtClean="0"/>
              <a:t>15/07/2026</a:t>
            </a:fld>
            <a:endParaRPr lang="es-ES" dirty="0"/>
          </a:p>
        </p:txBody>
      </p:sp>
      <p:sp>
        <p:nvSpPr>
          <p:cNvPr id="5" name="Marcador de pie de página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90BC2BA4-81C0-F544-BD72-C8CB9DA7C802}" type="slidenum">
              <a:rPr lang="es-ES" smtClean="0"/>
              <a:t>‹Nº›</a:t>
            </a:fld>
            <a:endParaRPr lang="es-ES" dirty="0"/>
          </a:p>
        </p:txBody>
      </p:sp>
    </p:spTree>
    <p:extLst>
      <p:ext uri="{BB962C8B-B14F-4D97-AF65-F5344CB8AC3E}">
        <p14:creationId xmlns:p14="http://schemas.microsoft.com/office/powerpoint/2010/main" val="143161880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hf hdr="0" ftr="0" dt="0"/>
  <p:txStyles>
    <p:titleStyle>
      <a:lvl1pPr algn="ctr" defTabSz="4572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1767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p:cNvSpPr txBox="1">
            <a:spLocks/>
          </p:cNvSpPr>
          <p:nvPr/>
        </p:nvSpPr>
        <p:spPr>
          <a:xfrm>
            <a:off x="301256" y="1797807"/>
            <a:ext cx="8390798" cy="72758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ES" sz="4000" dirty="0">
                <a:solidFill>
                  <a:schemeClr val="accent1"/>
                </a:solidFill>
                <a:latin typeface="Ancizar Serif"/>
                <a:cs typeface="Ancizar Serif"/>
              </a:rPr>
              <a:t>Análisis Geoespacial</a:t>
            </a:r>
          </a:p>
        </p:txBody>
      </p:sp>
      <p:cxnSp>
        <p:nvCxnSpPr>
          <p:cNvPr id="4" name="Conector recto 3"/>
          <p:cNvCxnSpPr/>
          <p:nvPr/>
        </p:nvCxnSpPr>
        <p:spPr>
          <a:xfrm>
            <a:off x="1647943" y="3573640"/>
            <a:ext cx="5810117" cy="0"/>
          </a:xfrm>
          <a:prstGeom prst="line">
            <a:avLst/>
          </a:prstGeom>
          <a:ln w="12700">
            <a:solidFill>
              <a:schemeClr val="accent1"/>
            </a:solidFill>
          </a:ln>
          <a:effectLst/>
        </p:spPr>
        <p:style>
          <a:lnRef idx="2">
            <a:schemeClr val="dk1"/>
          </a:lnRef>
          <a:fillRef idx="0">
            <a:schemeClr val="dk1"/>
          </a:fillRef>
          <a:effectRef idx="1">
            <a:schemeClr val="dk1"/>
          </a:effectRef>
          <a:fontRef idx="minor">
            <a:schemeClr val="tx1"/>
          </a:fontRef>
        </p:style>
      </p:cxnSp>
      <p:sp>
        <p:nvSpPr>
          <p:cNvPr id="5" name="CuadroTexto 4"/>
          <p:cNvSpPr txBox="1"/>
          <p:nvPr/>
        </p:nvSpPr>
        <p:spPr>
          <a:xfrm>
            <a:off x="2406261" y="2696284"/>
            <a:ext cx="4119067" cy="369332"/>
          </a:xfrm>
          <a:prstGeom prst="rect">
            <a:avLst/>
          </a:prstGeom>
          <a:noFill/>
        </p:spPr>
        <p:txBody>
          <a:bodyPr wrap="square" rtlCol="0">
            <a:spAutoFit/>
          </a:bodyPr>
          <a:lstStyle/>
          <a:p>
            <a:pPr algn="ctr"/>
            <a:r>
              <a:rPr lang="es-ES" b="1" dirty="0">
                <a:solidFill>
                  <a:schemeClr val="accent5"/>
                </a:solidFill>
                <a:latin typeface="Ancizar Sans"/>
                <a:cs typeface="Ancizar Sans"/>
              </a:rPr>
              <a:t>Avance 2: Análisis de Puntos y Áreas</a:t>
            </a:r>
          </a:p>
        </p:txBody>
      </p:sp>
      <p:sp>
        <p:nvSpPr>
          <p:cNvPr id="7" name="Título 1"/>
          <p:cNvSpPr txBox="1">
            <a:spLocks/>
          </p:cNvSpPr>
          <p:nvPr/>
        </p:nvSpPr>
        <p:spPr>
          <a:xfrm>
            <a:off x="1483227" y="3502157"/>
            <a:ext cx="6201268" cy="72758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ES" sz="1800" dirty="0">
                <a:solidFill>
                  <a:schemeClr val="accent1"/>
                </a:solidFill>
                <a:latin typeface="Ancizar Serif"/>
                <a:cs typeface="Ancizar Serif"/>
              </a:rPr>
              <a:t>Presentado por Valeria Madariaga Cuello</a:t>
            </a:r>
          </a:p>
        </p:txBody>
      </p:sp>
      <p:sp>
        <p:nvSpPr>
          <p:cNvPr id="6" name="Marcador de número de diapositiva 5">
            <a:extLst>
              <a:ext uri="{FF2B5EF4-FFF2-40B4-BE49-F238E27FC236}">
                <a16:creationId xmlns:a16="http://schemas.microsoft.com/office/drawing/2014/main" id="{3D185DE8-C48F-FD75-EF42-14FD2D299470}"/>
              </a:ext>
            </a:extLst>
          </p:cNvPr>
          <p:cNvSpPr>
            <a:spLocks noGrp="1"/>
          </p:cNvSpPr>
          <p:nvPr>
            <p:ph type="sldNum" sz="quarter" idx="12"/>
          </p:nvPr>
        </p:nvSpPr>
        <p:spPr/>
        <p:txBody>
          <a:bodyPr/>
          <a:lstStyle/>
          <a:p>
            <a:fld id="{90BC2BA4-81C0-F544-BD72-C8CB9DA7C802}" type="slidenum">
              <a:rPr lang="es-ES" smtClean="0"/>
              <a:pPr/>
              <a:t>2</a:t>
            </a:fld>
            <a:endParaRPr lang="es-ES" dirty="0"/>
          </a:p>
        </p:txBody>
      </p:sp>
    </p:spTree>
    <p:extLst>
      <p:ext uri="{BB962C8B-B14F-4D97-AF65-F5344CB8AC3E}">
        <p14:creationId xmlns:p14="http://schemas.microsoft.com/office/powerpoint/2010/main" val="220442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CB995-4503-F841-5968-EA37FC790113}"/>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D630B507-27A5-159C-3A93-EBCF00018331}"/>
              </a:ext>
            </a:extLst>
          </p:cNvPr>
          <p:cNvSpPr>
            <a:spLocks noGrp="1"/>
          </p:cNvSpPr>
          <p:nvPr>
            <p:ph type="sldNum" sz="quarter" idx="12"/>
          </p:nvPr>
        </p:nvSpPr>
        <p:spPr/>
        <p:txBody>
          <a:bodyPr/>
          <a:lstStyle/>
          <a:p>
            <a:fld id="{90BC2BA4-81C0-F544-BD72-C8CB9DA7C802}" type="slidenum">
              <a:rPr lang="es-ES" smtClean="0"/>
              <a:pPr/>
              <a:t>3</a:t>
            </a:fld>
            <a:endParaRPr lang="es-ES" dirty="0"/>
          </a:p>
        </p:txBody>
      </p:sp>
      <p:sp>
        <p:nvSpPr>
          <p:cNvPr id="6" name="Título 1">
            <a:extLst>
              <a:ext uri="{FF2B5EF4-FFF2-40B4-BE49-F238E27FC236}">
                <a16:creationId xmlns:a16="http://schemas.microsoft.com/office/drawing/2014/main" id="{6CE9F234-70D9-5AF8-548F-F32ACC8B06CD}"/>
              </a:ext>
            </a:extLst>
          </p:cNvPr>
          <p:cNvSpPr txBox="1">
            <a:spLocks/>
          </p:cNvSpPr>
          <p:nvPr/>
        </p:nvSpPr>
        <p:spPr>
          <a:xfrm>
            <a:off x="643911" y="969588"/>
            <a:ext cx="7856178"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Contenido</a:t>
            </a:r>
          </a:p>
        </p:txBody>
      </p:sp>
      <p:sp>
        <p:nvSpPr>
          <p:cNvPr id="4" name="Título 1">
            <a:extLst>
              <a:ext uri="{FF2B5EF4-FFF2-40B4-BE49-F238E27FC236}">
                <a16:creationId xmlns:a16="http://schemas.microsoft.com/office/drawing/2014/main" id="{A17A11AD-6377-0C97-F911-3766B3C10247}"/>
              </a:ext>
            </a:extLst>
          </p:cNvPr>
          <p:cNvSpPr txBox="1">
            <a:spLocks/>
          </p:cNvSpPr>
          <p:nvPr/>
        </p:nvSpPr>
        <p:spPr>
          <a:xfrm>
            <a:off x="3080539" y="1658920"/>
            <a:ext cx="6063461" cy="223386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285750" indent="-285750" algn="l">
              <a:lnSpc>
                <a:spcPct val="150000"/>
              </a:lnSpc>
              <a:spcAft>
                <a:spcPts val="600"/>
              </a:spcAft>
              <a:buFont typeface="Arial" panose="020B0604020202020204" pitchFamily="34" charset="0"/>
              <a:buChar char="•"/>
            </a:pPr>
            <a:r>
              <a:rPr lang="es-CO" sz="1800" noProof="0" dirty="0">
                <a:latin typeface="Ancizar Serif Semibold" panose="020A0702070300000003" pitchFamily="18" charset="0"/>
                <a:cs typeface="Ancizar Sans Extrabold"/>
              </a:rPr>
              <a:t>Variables</a:t>
            </a:r>
          </a:p>
          <a:p>
            <a:pPr marL="285750" indent="-285750" algn="l">
              <a:lnSpc>
                <a:spcPct val="150000"/>
              </a:lnSpc>
              <a:spcAft>
                <a:spcPts val="600"/>
              </a:spcAft>
              <a:buFont typeface="Arial" panose="020B0604020202020204" pitchFamily="34" charset="0"/>
              <a:buChar char="•"/>
            </a:pPr>
            <a:r>
              <a:rPr lang="es-CO" sz="1800" dirty="0">
                <a:latin typeface="Ancizar Serif Semibold" panose="020A0702070300000003" pitchFamily="18" charset="0"/>
                <a:cs typeface="Ancizar Sans Extrabold"/>
              </a:rPr>
              <a:t>Análisis Exploratorio</a:t>
            </a:r>
            <a:endParaRPr lang="es-CO" sz="1800" noProof="0" dirty="0">
              <a:latin typeface="Ancizar Serif Semibold" panose="020A0702070300000003" pitchFamily="18" charset="0"/>
              <a:cs typeface="Ancizar Sans Extrabold"/>
            </a:endParaRPr>
          </a:p>
          <a:p>
            <a:pPr marL="285750" indent="-285750" algn="l">
              <a:lnSpc>
                <a:spcPct val="150000"/>
              </a:lnSpc>
              <a:spcAft>
                <a:spcPts val="600"/>
              </a:spcAft>
              <a:buFont typeface="Arial" panose="020B0604020202020204" pitchFamily="34" charset="0"/>
              <a:buChar char="•"/>
            </a:pPr>
            <a:r>
              <a:rPr lang="es-CO" sz="1800" dirty="0">
                <a:latin typeface="Ancizar Serif Semibold" panose="020A0702070300000003" pitchFamily="18" charset="0"/>
                <a:cs typeface="Ancizar Sans Extrabold"/>
              </a:rPr>
              <a:t>Modelos</a:t>
            </a:r>
          </a:p>
          <a:p>
            <a:pPr marL="285750" indent="-285750" algn="l">
              <a:lnSpc>
                <a:spcPct val="150000"/>
              </a:lnSpc>
              <a:spcAft>
                <a:spcPts val="600"/>
              </a:spcAft>
              <a:buFont typeface="Arial" panose="020B0604020202020204" pitchFamily="34" charset="0"/>
              <a:buChar char="•"/>
            </a:pPr>
            <a:r>
              <a:rPr lang="es-CO" sz="1800" noProof="0" dirty="0">
                <a:latin typeface="Ancizar Serif Semibold" panose="020A0702070300000003" pitchFamily="18" charset="0"/>
                <a:cs typeface="Ancizar Sans Extrabold"/>
              </a:rPr>
              <a:t>Conclusiones</a:t>
            </a:r>
          </a:p>
          <a:p>
            <a:pPr marL="285750" indent="-285750" algn="l">
              <a:lnSpc>
                <a:spcPct val="150000"/>
              </a:lnSpc>
              <a:spcAft>
                <a:spcPts val="600"/>
              </a:spcAft>
              <a:buFont typeface="Arial" panose="020B0604020202020204" pitchFamily="34" charset="0"/>
              <a:buChar char="•"/>
            </a:pPr>
            <a:r>
              <a:rPr lang="es-CO" sz="1800" dirty="0">
                <a:latin typeface="Ancizar Serif Semibold" panose="020A0702070300000003" pitchFamily="18" charset="0"/>
                <a:cs typeface="Ancizar Sans Extrabold"/>
              </a:rPr>
              <a:t>Referencias</a:t>
            </a:r>
            <a:endParaRPr lang="es-CO" sz="1800" noProof="0" dirty="0">
              <a:latin typeface="Ancizar Serif Semibold" panose="020A0702070300000003" pitchFamily="18" charset="0"/>
              <a:cs typeface="Ancizar Sans Extrabold"/>
            </a:endParaRPr>
          </a:p>
        </p:txBody>
      </p:sp>
    </p:spTree>
    <p:extLst>
      <p:ext uri="{BB962C8B-B14F-4D97-AF65-F5344CB8AC3E}">
        <p14:creationId xmlns:p14="http://schemas.microsoft.com/office/powerpoint/2010/main" val="3182886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E848083-AD70-9179-226B-5ECA8E06B627}"/>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72CF8AD2-34D9-8990-8923-BC14F7111F32}"/>
              </a:ext>
            </a:extLst>
          </p:cNvPr>
          <p:cNvSpPr txBox="1">
            <a:spLocks/>
          </p:cNvSpPr>
          <p:nvPr/>
        </p:nvSpPr>
        <p:spPr>
          <a:xfrm>
            <a:off x="2730878" y="2138253"/>
            <a:ext cx="1983075"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Variables</a:t>
            </a:r>
          </a:p>
        </p:txBody>
      </p:sp>
      <p:sp>
        <p:nvSpPr>
          <p:cNvPr id="10" name="CuadroTexto 9">
            <a:extLst>
              <a:ext uri="{FF2B5EF4-FFF2-40B4-BE49-F238E27FC236}">
                <a16:creationId xmlns:a16="http://schemas.microsoft.com/office/drawing/2014/main" id="{B414F1AB-6BC4-1EF1-6AB2-DC72DC0D0D1E}"/>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B63F8A09-6516-5CF1-593C-A5C6C4F408CE}"/>
              </a:ext>
            </a:extLst>
          </p:cNvPr>
          <p:cNvSpPr>
            <a:spLocks noGrp="1"/>
          </p:cNvSpPr>
          <p:nvPr>
            <p:ph type="sldNum" sz="quarter" idx="12"/>
          </p:nvPr>
        </p:nvSpPr>
        <p:spPr/>
        <p:txBody>
          <a:bodyPr/>
          <a:lstStyle/>
          <a:p>
            <a:fld id="{90BC2BA4-81C0-F544-BD72-C8CB9DA7C802}" type="slidenum">
              <a:rPr lang="es-CO" noProof="0" smtClean="0"/>
              <a:pPr/>
              <a:t>4</a:t>
            </a:fld>
            <a:endParaRPr lang="es-CO" noProof="0" dirty="0"/>
          </a:p>
        </p:txBody>
      </p:sp>
      <p:pic>
        <p:nvPicPr>
          <p:cNvPr id="2" name="Imagen 1">
            <a:extLst>
              <a:ext uri="{FF2B5EF4-FFF2-40B4-BE49-F238E27FC236}">
                <a16:creationId xmlns:a16="http://schemas.microsoft.com/office/drawing/2014/main" id="{0D48B94B-B499-ED44-7FEC-D06DF8B72665}"/>
              </a:ext>
            </a:extLst>
          </p:cNvPr>
          <p:cNvPicPr>
            <a:picLocks noChangeAspect="1"/>
          </p:cNvPicPr>
          <p:nvPr/>
        </p:nvPicPr>
        <p:blipFill>
          <a:blip r:embed="rId3"/>
          <a:srcRect/>
          <a:stretch/>
        </p:blipFill>
        <p:spPr>
          <a:xfrm>
            <a:off x="4713953" y="1706203"/>
            <a:ext cx="1440000" cy="1440000"/>
          </a:xfrm>
          <a:prstGeom prst="rect">
            <a:avLst/>
          </a:prstGeom>
        </p:spPr>
      </p:pic>
    </p:spTree>
    <p:extLst>
      <p:ext uri="{BB962C8B-B14F-4D97-AF65-F5344CB8AC3E}">
        <p14:creationId xmlns:p14="http://schemas.microsoft.com/office/powerpoint/2010/main" val="1889098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D1AEC-545B-B5D4-6B5F-BAF19F6DC389}"/>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CFC836A7-810D-7597-0E77-D3D6A713D097}"/>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
        <p:nvSpPr>
          <p:cNvPr id="3" name="Marcador de número de diapositiva 2">
            <a:extLst>
              <a:ext uri="{FF2B5EF4-FFF2-40B4-BE49-F238E27FC236}">
                <a16:creationId xmlns:a16="http://schemas.microsoft.com/office/drawing/2014/main" id="{87622254-24BB-4320-E67A-0B3DF00930F4}"/>
              </a:ext>
            </a:extLst>
          </p:cNvPr>
          <p:cNvSpPr>
            <a:spLocks noGrp="1"/>
          </p:cNvSpPr>
          <p:nvPr>
            <p:ph type="sldNum" sz="quarter" idx="12"/>
          </p:nvPr>
        </p:nvSpPr>
        <p:spPr/>
        <p:txBody>
          <a:bodyPr/>
          <a:lstStyle/>
          <a:p>
            <a:fld id="{90BC2BA4-81C0-F544-BD72-C8CB9DA7C802}" type="slidenum">
              <a:rPr lang="es-ES" smtClean="0"/>
              <a:pPr/>
              <a:t>5</a:t>
            </a:fld>
            <a:endParaRPr lang="es-ES" dirty="0"/>
          </a:p>
        </p:txBody>
      </p:sp>
      <p:pic>
        <p:nvPicPr>
          <p:cNvPr id="23" name="Imagen 22">
            <a:extLst>
              <a:ext uri="{FF2B5EF4-FFF2-40B4-BE49-F238E27FC236}">
                <a16:creationId xmlns:a16="http://schemas.microsoft.com/office/drawing/2014/main" id="{4FA8F2CE-8F4C-BB3F-12C7-6DA2468CE926}"/>
              </a:ext>
            </a:extLst>
          </p:cNvPr>
          <p:cNvPicPr>
            <a:picLocks noChangeAspect="1"/>
          </p:cNvPicPr>
          <p:nvPr/>
        </p:nvPicPr>
        <p:blipFill>
          <a:blip r:embed="rId3"/>
          <a:srcRect/>
          <a:stretch/>
        </p:blipFill>
        <p:spPr>
          <a:xfrm>
            <a:off x="186372" y="995726"/>
            <a:ext cx="4005352" cy="3539614"/>
          </a:xfrm>
          <a:prstGeom prst="rect">
            <a:avLst/>
          </a:prstGeom>
        </p:spPr>
      </p:pic>
      <p:pic>
        <p:nvPicPr>
          <p:cNvPr id="5" name="Imagen 4">
            <a:extLst>
              <a:ext uri="{FF2B5EF4-FFF2-40B4-BE49-F238E27FC236}">
                <a16:creationId xmlns:a16="http://schemas.microsoft.com/office/drawing/2014/main" id="{E6C630A7-8D26-5DF1-D211-B81945253BBE}"/>
              </a:ext>
            </a:extLst>
          </p:cNvPr>
          <p:cNvPicPr>
            <a:picLocks noChangeAspect="1"/>
          </p:cNvPicPr>
          <p:nvPr/>
        </p:nvPicPr>
        <p:blipFill>
          <a:blip r:embed="rId4"/>
          <a:srcRect/>
          <a:stretch/>
        </p:blipFill>
        <p:spPr>
          <a:xfrm>
            <a:off x="3672967" y="770347"/>
            <a:ext cx="5402377" cy="1716834"/>
          </a:xfrm>
          <a:prstGeom prst="rect">
            <a:avLst/>
          </a:prstGeom>
        </p:spPr>
      </p:pic>
      <p:sp>
        <p:nvSpPr>
          <p:cNvPr id="6" name="Título 1">
            <a:extLst>
              <a:ext uri="{FF2B5EF4-FFF2-40B4-BE49-F238E27FC236}">
                <a16:creationId xmlns:a16="http://schemas.microsoft.com/office/drawing/2014/main" id="{4F34384F-FBD7-339F-8E2E-8C4F6E4EA1A6}"/>
              </a:ext>
            </a:extLst>
          </p:cNvPr>
          <p:cNvSpPr txBox="1">
            <a:spLocks/>
          </p:cNvSpPr>
          <p:nvPr/>
        </p:nvSpPr>
        <p:spPr>
          <a:xfrm>
            <a:off x="301255" y="227649"/>
            <a:ext cx="2926039"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Variables</a:t>
            </a:r>
          </a:p>
        </p:txBody>
      </p:sp>
      <p:sp>
        <p:nvSpPr>
          <p:cNvPr id="8" name="Título 1">
            <a:extLst>
              <a:ext uri="{FF2B5EF4-FFF2-40B4-BE49-F238E27FC236}">
                <a16:creationId xmlns:a16="http://schemas.microsoft.com/office/drawing/2014/main" id="{AC36852F-300D-9426-F79A-405AA5742016}"/>
              </a:ext>
            </a:extLst>
          </p:cNvPr>
          <p:cNvSpPr txBox="1">
            <a:spLocks/>
          </p:cNvSpPr>
          <p:nvPr/>
        </p:nvSpPr>
        <p:spPr>
          <a:xfrm>
            <a:off x="301256" y="711949"/>
            <a:ext cx="3783880"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Puntos</a:t>
            </a:r>
            <a:endParaRPr lang="es-ES" sz="1400" spc="300" dirty="0">
              <a:solidFill>
                <a:schemeClr val="accent1"/>
              </a:solidFill>
              <a:latin typeface="Ancizar Sans" panose="020B0602040300000003" pitchFamily="34" charset="0"/>
              <a:cs typeface="Ancizar Serif"/>
            </a:endParaRPr>
          </a:p>
        </p:txBody>
      </p:sp>
    </p:spTree>
    <p:extLst>
      <p:ext uri="{BB962C8B-B14F-4D97-AF65-F5344CB8AC3E}">
        <p14:creationId xmlns:p14="http://schemas.microsoft.com/office/powerpoint/2010/main" val="1968540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A4332-D78F-C85B-8EEC-3570E575D9A8}"/>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05D6DB0E-8FDE-330C-71C5-C7AE2A9045EB}"/>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
        <p:nvSpPr>
          <p:cNvPr id="3" name="Marcador de número de diapositiva 2">
            <a:extLst>
              <a:ext uri="{FF2B5EF4-FFF2-40B4-BE49-F238E27FC236}">
                <a16:creationId xmlns:a16="http://schemas.microsoft.com/office/drawing/2014/main" id="{A84DCD1D-5C97-EAA7-2429-B5B21E7B36F9}"/>
              </a:ext>
            </a:extLst>
          </p:cNvPr>
          <p:cNvSpPr>
            <a:spLocks noGrp="1"/>
          </p:cNvSpPr>
          <p:nvPr>
            <p:ph type="sldNum" sz="quarter" idx="12"/>
          </p:nvPr>
        </p:nvSpPr>
        <p:spPr/>
        <p:txBody>
          <a:bodyPr/>
          <a:lstStyle/>
          <a:p>
            <a:fld id="{90BC2BA4-81C0-F544-BD72-C8CB9DA7C802}" type="slidenum">
              <a:rPr lang="es-ES" smtClean="0"/>
              <a:pPr/>
              <a:t>6</a:t>
            </a:fld>
            <a:endParaRPr lang="es-ES" dirty="0"/>
          </a:p>
        </p:txBody>
      </p:sp>
      <p:pic>
        <p:nvPicPr>
          <p:cNvPr id="2" name="Imagen 1">
            <a:extLst>
              <a:ext uri="{FF2B5EF4-FFF2-40B4-BE49-F238E27FC236}">
                <a16:creationId xmlns:a16="http://schemas.microsoft.com/office/drawing/2014/main" id="{14E1D620-115C-C5C8-0A6E-05A8C157142B}"/>
              </a:ext>
            </a:extLst>
          </p:cNvPr>
          <p:cNvPicPr>
            <a:picLocks noChangeAspect="1"/>
          </p:cNvPicPr>
          <p:nvPr/>
        </p:nvPicPr>
        <p:blipFill>
          <a:blip r:embed="rId3"/>
          <a:stretch>
            <a:fillRect/>
          </a:stretch>
        </p:blipFill>
        <p:spPr>
          <a:xfrm>
            <a:off x="301256" y="1062359"/>
            <a:ext cx="3960000" cy="3499535"/>
          </a:xfrm>
          <a:prstGeom prst="rect">
            <a:avLst/>
          </a:prstGeom>
        </p:spPr>
      </p:pic>
      <p:pic>
        <p:nvPicPr>
          <p:cNvPr id="9" name="Imagen 8">
            <a:extLst>
              <a:ext uri="{FF2B5EF4-FFF2-40B4-BE49-F238E27FC236}">
                <a16:creationId xmlns:a16="http://schemas.microsoft.com/office/drawing/2014/main" id="{5622F4FD-EAE7-E31D-C942-39D96DFA792B}"/>
              </a:ext>
            </a:extLst>
          </p:cNvPr>
          <p:cNvPicPr>
            <a:picLocks noChangeAspect="1"/>
          </p:cNvPicPr>
          <p:nvPr/>
        </p:nvPicPr>
        <p:blipFill>
          <a:blip r:embed="rId4"/>
          <a:stretch>
            <a:fillRect/>
          </a:stretch>
        </p:blipFill>
        <p:spPr>
          <a:xfrm>
            <a:off x="4432184" y="1433716"/>
            <a:ext cx="4476501" cy="2408199"/>
          </a:xfrm>
          <a:prstGeom prst="rect">
            <a:avLst/>
          </a:prstGeom>
        </p:spPr>
      </p:pic>
      <p:sp>
        <p:nvSpPr>
          <p:cNvPr id="5" name="Título 1">
            <a:extLst>
              <a:ext uri="{FF2B5EF4-FFF2-40B4-BE49-F238E27FC236}">
                <a16:creationId xmlns:a16="http://schemas.microsoft.com/office/drawing/2014/main" id="{C56DF782-D681-FD9E-5528-51E6D514EDF7}"/>
              </a:ext>
            </a:extLst>
          </p:cNvPr>
          <p:cNvSpPr txBox="1">
            <a:spLocks/>
          </p:cNvSpPr>
          <p:nvPr/>
        </p:nvSpPr>
        <p:spPr>
          <a:xfrm>
            <a:off x="301255" y="227649"/>
            <a:ext cx="2926039"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Variables</a:t>
            </a:r>
          </a:p>
        </p:txBody>
      </p:sp>
      <p:sp>
        <p:nvSpPr>
          <p:cNvPr id="7" name="Título 1">
            <a:extLst>
              <a:ext uri="{FF2B5EF4-FFF2-40B4-BE49-F238E27FC236}">
                <a16:creationId xmlns:a16="http://schemas.microsoft.com/office/drawing/2014/main" id="{AB64D76F-9EB7-AA2A-C423-8BFF44568D28}"/>
              </a:ext>
            </a:extLst>
          </p:cNvPr>
          <p:cNvSpPr txBox="1">
            <a:spLocks/>
          </p:cNvSpPr>
          <p:nvPr/>
        </p:nvSpPr>
        <p:spPr>
          <a:xfrm>
            <a:off x="301256" y="711949"/>
            <a:ext cx="3783880"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Áreas</a:t>
            </a:r>
            <a:endParaRPr lang="es-ES" sz="1400" spc="300" dirty="0">
              <a:solidFill>
                <a:schemeClr val="accent1"/>
              </a:solidFill>
              <a:latin typeface="Ancizar Sans" panose="020B0602040300000003" pitchFamily="34" charset="0"/>
              <a:cs typeface="Ancizar Serif"/>
            </a:endParaRPr>
          </a:p>
        </p:txBody>
      </p:sp>
    </p:spTree>
    <p:extLst>
      <p:ext uri="{BB962C8B-B14F-4D97-AF65-F5344CB8AC3E}">
        <p14:creationId xmlns:p14="http://schemas.microsoft.com/office/powerpoint/2010/main" val="441649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2D1904F-873A-111F-D333-F519A3610918}"/>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6CE907A4-DB3E-C0BF-42CA-FA1AFCB71A24}"/>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B19E4AD0-C3C6-0D51-57EB-3BE13C89AE18}"/>
              </a:ext>
            </a:extLst>
          </p:cNvPr>
          <p:cNvSpPr>
            <a:spLocks noGrp="1"/>
          </p:cNvSpPr>
          <p:nvPr>
            <p:ph type="sldNum" sz="quarter" idx="12"/>
          </p:nvPr>
        </p:nvSpPr>
        <p:spPr/>
        <p:txBody>
          <a:bodyPr/>
          <a:lstStyle/>
          <a:p>
            <a:fld id="{90BC2BA4-81C0-F544-BD72-C8CB9DA7C802}" type="slidenum">
              <a:rPr lang="es-CO" noProof="0" smtClean="0"/>
              <a:pPr/>
              <a:t>7</a:t>
            </a:fld>
            <a:endParaRPr lang="es-CO" noProof="0" dirty="0"/>
          </a:p>
        </p:txBody>
      </p:sp>
      <p:pic>
        <p:nvPicPr>
          <p:cNvPr id="3" name="Imagen 2">
            <a:extLst>
              <a:ext uri="{FF2B5EF4-FFF2-40B4-BE49-F238E27FC236}">
                <a16:creationId xmlns:a16="http://schemas.microsoft.com/office/drawing/2014/main" id="{3772EB0A-7AE8-7889-EB3D-5CEC9452CA40}"/>
              </a:ext>
            </a:extLst>
          </p:cNvPr>
          <p:cNvPicPr>
            <a:picLocks noChangeAspect="1"/>
          </p:cNvPicPr>
          <p:nvPr/>
        </p:nvPicPr>
        <p:blipFill>
          <a:blip r:embed="rId3"/>
          <a:stretch>
            <a:fillRect/>
          </a:stretch>
        </p:blipFill>
        <p:spPr>
          <a:xfrm>
            <a:off x="4219117" y="563634"/>
            <a:ext cx="4702909" cy="2187645"/>
          </a:xfrm>
          <a:prstGeom prst="rect">
            <a:avLst/>
          </a:prstGeom>
        </p:spPr>
      </p:pic>
      <p:pic>
        <p:nvPicPr>
          <p:cNvPr id="6" name="Imagen 5">
            <a:extLst>
              <a:ext uri="{FF2B5EF4-FFF2-40B4-BE49-F238E27FC236}">
                <a16:creationId xmlns:a16="http://schemas.microsoft.com/office/drawing/2014/main" id="{6DE6EA79-C151-C5CF-44AE-97A99CB2B337}"/>
              </a:ext>
            </a:extLst>
          </p:cNvPr>
          <p:cNvPicPr>
            <a:picLocks noChangeAspect="1"/>
          </p:cNvPicPr>
          <p:nvPr/>
        </p:nvPicPr>
        <p:blipFill>
          <a:blip r:embed="rId4"/>
          <a:srcRect/>
          <a:stretch/>
        </p:blipFill>
        <p:spPr>
          <a:xfrm>
            <a:off x="301255" y="1003595"/>
            <a:ext cx="3960000" cy="3483518"/>
          </a:xfrm>
          <a:prstGeom prst="rect">
            <a:avLst/>
          </a:prstGeom>
        </p:spPr>
      </p:pic>
      <p:sp>
        <p:nvSpPr>
          <p:cNvPr id="12" name="Rectángulo 11">
            <a:extLst>
              <a:ext uri="{FF2B5EF4-FFF2-40B4-BE49-F238E27FC236}">
                <a16:creationId xmlns:a16="http://schemas.microsoft.com/office/drawing/2014/main" id="{56690C45-806C-9E18-9009-17DF9DC1638C}"/>
              </a:ext>
            </a:extLst>
          </p:cNvPr>
          <p:cNvSpPr/>
          <p:nvPr/>
        </p:nvSpPr>
        <p:spPr>
          <a:xfrm>
            <a:off x="4269582" y="752873"/>
            <a:ext cx="4645070" cy="167148"/>
          </a:xfrm>
          <a:prstGeom prst="rect">
            <a:avLst/>
          </a:prstGeom>
          <a:no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sp>
        <p:nvSpPr>
          <p:cNvPr id="15" name="Rectángulo 14">
            <a:extLst>
              <a:ext uri="{FF2B5EF4-FFF2-40B4-BE49-F238E27FC236}">
                <a16:creationId xmlns:a16="http://schemas.microsoft.com/office/drawing/2014/main" id="{7F560368-4553-DA1A-E116-2E648C08147D}"/>
              </a:ext>
            </a:extLst>
          </p:cNvPr>
          <p:cNvSpPr/>
          <p:nvPr/>
        </p:nvSpPr>
        <p:spPr>
          <a:xfrm>
            <a:off x="4269582" y="920021"/>
            <a:ext cx="4645070" cy="167148"/>
          </a:xfrm>
          <a:prstGeom prst="rect">
            <a:avLst/>
          </a:prstGeom>
          <a:no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sp>
        <p:nvSpPr>
          <p:cNvPr id="27" name="Título 1">
            <a:extLst>
              <a:ext uri="{FF2B5EF4-FFF2-40B4-BE49-F238E27FC236}">
                <a16:creationId xmlns:a16="http://schemas.microsoft.com/office/drawing/2014/main" id="{6C0D47CB-5E74-09B3-26D5-EB93C04E5631}"/>
              </a:ext>
            </a:extLst>
          </p:cNvPr>
          <p:cNvSpPr txBox="1">
            <a:spLocks/>
          </p:cNvSpPr>
          <p:nvPr/>
        </p:nvSpPr>
        <p:spPr>
          <a:xfrm>
            <a:off x="301255" y="227649"/>
            <a:ext cx="2926039"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Variables</a:t>
            </a:r>
          </a:p>
        </p:txBody>
      </p:sp>
      <p:sp>
        <p:nvSpPr>
          <p:cNvPr id="29" name="Título 1">
            <a:extLst>
              <a:ext uri="{FF2B5EF4-FFF2-40B4-BE49-F238E27FC236}">
                <a16:creationId xmlns:a16="http://schemas.microsoft.com/office/drawing/2014/main" id="{57352BBB-D41E-805F-A64D-C1FA5E3F2A02}"/>
              </a:ext>
            </a:extLst>
          </p:cNvPr>
          <p:cNvSpPr txBox="1">
            <a:spLocks/>
          </p:cNvSpPr>
          <p:nvPr/>
        </p:nvSpPr>
        <p:spPr>
          <a:xfrm>
            <a:off x="301256" y="711949"/>
            <a:ext cx="3783880"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Áreas</a:t>
            </a:r>
            <a:endParaRPr lang="es-ES" sz="1400" spc="300" dirty="0">
              <a:solidFill>
                <a:schemeClr val="accent1"/>
              </a:solidFill>
              <a:latin typeface="Ancizar Sans" panose="020B0602040300000003" pitchFamily="34" charset="0"/>
              <a:cs typeface="Ancizar Serif"/>
            </a:endParaRPr>
          </a:p>
        </p:txBody>
      </p:sp>
    </p:spTree>
    <p:extLst>
      <p:ext uri="{BB962C8B-B14F-4D97-AF65-F5344CB8AC3E}">
        <p14:creationId xmlns:p14="http://schemas.microsoft.com/office/powerpoint/2010/main" val="1841737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A8D6C-77EA-4921-A155-9B7862BCB06B}"/>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D7F49E43-CE3C-8E26-C67C-3711D4A3FABC}"/>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pic>
        <p:nvPicPr>
          <p:cNvPr id="4" name="Imagen 3">
            <a:extLst>
              <a:ext uri="{FF2B5EF4-FFF2-40B4-BE49-F238E27FC236}">
                <a16:creationId xmlns:a16="http://schemas.microsoft.com/office/drawing/2014/main" id="{6F3082F2-B5A2-7309-4157-85915105D625}"/>
              </a:ext>
            </a:extLst>
          </p:cNvPr>
          <p:cNvPicPr>
            <a:picLocks noChangeAspect="1"/>
          </p:cNvPicPr>
          <p:nvPr/>
        </p:nvPicPr>
        <p:blipFill>
          <a:blip r:embed="rId3"/>
          <a:stretch>
            <a:fillRect/>
          </a:stretch>
        </p:blipFill>
        <p:spPr>
          <a:xfrm>
            <a:off x="301256" y="1070569"/>
            <a:ext cx="3960000" cy="3499536"/>
          </a:xfrm>
          <a:prstGeom prst="rect">
            <a:avLst/>
          </a:prstGeom>
        </p:spPr>
      </p:pic>
      <p:sp>
        <p:nvSpPr>
          <p:cNvPr id="3" name="Marcador de número de diapositiva 2">
            <a:extLst>
              <a:ext uri="{FF2B5EF4-FFF2-40B4-BE49-F238E27FC236}">
                <a16:creationId xmlns:a16="http://schemas.microsoft.com/office/drawing/2014/main" id="{A66155EE-6FDC-53CC-D12B-907E1D2508E6}"/>
              </a:ext>
            </a:extLst>
          </p:cNvPr>
          <p:cNvSpPr>
            <a:spLocks noGrp="1"/>
          </p:cNvSpPr>
          <p:nvPr>
            <p:ph type="sldNum" sz="quarter" idx="12"/>
          </p:nvPr>
        </p:nvSpPr>
        <p:spPr/>
        <p:txBody>
          <a:bodyPr/>
          <a:lstStyle/>
          <a:p>
            <a:fld id="{90BC2BA4-81C0-F544-BD72-C8CB9DA7C802}" type="slidenum">
              <a:rPr lang="es-ES" smtClean="0"/>
              <a:pPr/>
              <a:t>8</a:t>
            </a:fld>
            <a:endParaRPr lang="es-ES" dirty="0"/>
          </a:p>
        </p:txBody>
      </p:sp>
      <p:pic>
        <p:nvPicPr>
          <p:cNvPr id="5" name="Imagen 4">
            <a:extLst>
              <a:ext uri="{FF2B5EF4-FFF2-40B4-BE49-F238E27FC236}">
                <a16:creationId xmlns:a16="http://schemas.microsoft.com/office/drawing/2014/main" id="{C7C7FDBB-22CC-1DD2-95D5-CA1139F37103}"/>
              </a:ext>
            </a:extLst>
          </p:cNvPr>
          <p:cNvPicPr>
            <a:picLocks noChangeAspect="1"/>
          </p:cNvPicPr>
          <p:nvPr/>
        </p:nvPicPr>
        <p:blipFill>
          <a:blip r:embed="rId4"/>
          <a:srcRect/>
          <a:stretch/>
        </p:blipFill>
        <p:spPr>
          <a:xfrm>
            <a:off x="3799290" y="950169"/>
            <a:ext cx="5115361" cy="1207921"/>
          </a:xfrm>
          <a:prstGeom prst="rect">
            <a:avLst/>
          </a:prstGeom>
        </p:spPr>
      </p:pic>
      <p:sp>
        <p:nvSpPr>
          <p:cNvPr id="14" name="Rectángulo 13">
            <a:extLst>
              <a:ext uri="{FF2B5EF4-FFF2-40B4-BE49-F238E27FC236}">
                <a16:creationId xmlns:a16="http://schemas.microsoft.com/office/drawing/2014/main" id="{A5500AC1-10FF-1D7B-F4C6-02620D7B6192}"/>
              </a:ext>
            </a:extLst>
          </p:cNvPr>
          <p:cNvSpPr/>
          <p:nvPr/>
        </p:nvSpPr>
        <p:spPr>
          <a:xfrm>
            <a:off x="3866605" y="1223203"/>
            <a:ext cx="5022303" cy="181718"/>
          </a:xfrm>
          <a:prstGeom prst="rect">
            <a:avLst/>
          </a:prstGeom>
          <a:no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sp>
        <p:nvSpPr>
          <p:cNvPr id="7" name="Título 1">
            <a:extLst>
              <a:ext uri="{FF2B5EF4-FFF2-40B4-BE49-F238E27FC236}">
                <a16:creationId xmlns:a16="http://schemas.microsoft.com/office/drawing/2014/main" id="{4600C929-2662-D06E-2388-E351AA378506}"/>
              </a:ext>
            </a:extLst>
          </p:cNvPr>
          <p:cNvSpPr txBox="1">
            <a:spLocks/>
          </p:cNvSpPr>
          <p:nvPr/>
        </p:nvSpPr>
        <p:spPr>
          <a:xfrm>
            <a:off x="301255" y="227649"/>
            <a:ext cx="2926039"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Variables</a:t>
            </a:r>
          </a:p>
        </p:txBody>
      </p:sp>
      <p:sp>
        <p:nvSpPr>
          <p:cNvPr id="11" name="Título 1">
            <a:extLst>
              <a:ext uri="{FF2B5EF4-FFF2-40B4-BE49-F238E27FC236}">
                <a16:creationId xmlns:a16="http://schemas.microsoft.com/office/drawing/2014/main" id="{7317616A-A57A-E331-45E8-4C5D3DFFB66B}"/>
              </a:ext>
            </a:extLst>
          </p:cNvPr>
          <p:cNvSpPr txBox="1">
            <a:spLocks/>
          </p:cNvSpPr>
          <p:nvPr/>
        </p:nvSpPr>
        <p:spPr>
          <a:xfrm>
            <a:off x="301256" y="711949"/>
            <a:ext cx="3783880"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Áreas</a:t>
            </a:r>
            <a:endParaRPr lang="es-ES" sz="1400" spc="300" dirty="0">
              <a:solidFill>
                <a:schemeClr val="accent1"/>
              </a:solidFill>
              <a:latin typeface="Ancizar Sans" panose="020B0602040300000003" pitchFamily="34" charset="0"/>
              <a:cs typeface="Ancizar Serif"/>
            </a:endParaRPr>
          </a:p>
        </p:txBody>
      </p:sp>
    </p:spTree>
    <p:extLst>
      <p:ext uri="{BB962C8B-B14F-4D97-AF65-F5344CB8AC3E}">
        <p14:creationId xmlns:p14="http://schemas.microsoft.com/office/powerpoint/2010/main" val="3721975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3183EAD-6D0B-1F6C-725C-E6A3E5DA8342}"/>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FE28C714-E26B-F72B-57C3-D12ED23D1A97}"/>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4C0C56F7-C6E2-EDC4-C375-BEB56E196B59}"/>
              </a:ext>
            </a:extLst>
          </p:cNvPr>
          <p:cNvSpPr>
            <a:spLocks noGrp="1"/>
          </p:cNvSpPr>
          <p:nvPr>
            <p:ph type="sldNum" sz="quarter" idx="12"/>
          </p:nvPr>
        </p:nvSpPr>
        <p:spPr/>
        <p:txBody>
          <a:bodyPr/>
          <a:lstStyle/>
          <a:p>
            <a:fld id="{90BC2BA4-81C0-F544-BD72-C8CB9DA7C802}" type="slidenum">
              <a:rPr lang="es-CO" noProof="0" smtClean="0"/>
              <a:pPr/>
              <a:t>9</a:t>
            </a:fld>
            <a:endParaRPr lang="es-CO" noProof="0" dirty="0"/>
          </a:p>
        </p:txBody>
      </p:sp>
      <p:pic>
        <p:nvPicPr>
          <p:cNvPr id="4" name="Imagen 3">
            <a:extLst>
              <a:ext uri="{FF2B5EF4-FFF2-40B4-BE49-F238E27FC236}">
                <a16:creationId xmlns:a16="http://schemas.microsoft.com/office/drawing/2014/main" id="{F14844FA-55FA-FA27-6311-C3305EF6003B}"/>
              </a:ext>
            </a:extLst>
          </p:cNvPr>
          <p:cNvPicPr>
            <a:picLocks noChangeAspect="1"/>
          </p:cNvPicPr>
          <p:nvPr/>
        </p:nvPicPr>
        <p:blipFill>
          <a:blip r:embed="rId3"/>
          <a:srcRect/>
          <a:stretch/>
        </p:blipFill>
        <p:spPr>
          <a:xfrm>
            <a:off x="301256" y="1075236"/>
            <a:ext cx="3959999" cy="3499534"/>
          </a:xfrm>
          <a:prstGeom prst="rect">
            <a:avLst/>
          </a:prstGeom>
        </p:spPr>
      </p:pic>
      <p:pic>
        <p:nvPicPr>
          <p:cNvPr id="7" name="Imagen 6">
            <a:extLst>
              <a:ext uri="{FF2B5EF4-FFF2-40B4-BE49-F238E27FC236}">
                <a16:creationId xmlns:a16="http://schemas.microsoft.com/office/drawing/2014/main" id="{3BDD0CA9-457F-B499-6F33-68481E40BEC7}"/>
              </a:ext>
            </a:extLst>
          </p:cNvPr>
          <p:cNvPicPr>
            <a:picLocks noChangeAspect="1"/>
          </p:cNvPicPr>
          <p:nvPr/>
        </p:nvPicPr>
        <p:blipFill>
          <a:blip r:embed="rId4"/>
          <a:srcRect l="9221" r="9221"/>
          <a:stretch/>
        </p:blipFill>
        <p:spPr>
          <a:xfrm>
            <a:off x="5970439" y="1075236"/>
            <a:ext cx="910078" cy="2759366"/>
          </a:xfrm>
          <a:prstGeom prst="rect">
            <a:avLst/>
          </a:prstGeom>
        </p:spPr>
      </p:pic>
      <p:sp>
        <p:nvSpPr>
          <p:cNvPr id="18" name="Título 1">
            <a:extLst>
              <a:ext uri="{FF2B5EF4-FFF2-40B4-BE49-F238E27FC236}">
                <a16:creationId xmlns:a16="http://schemas.microsoft.com/office/drawing/2014/main" id="{9C227E91-57C2-EF30-C7CE-10F2CDB04BEB}"/>
              </a:ext>
            </a:extLst>
          </p:cNvPr>
          <p:cNvSpPr txBox="1">
            <a:spLocks/>
          </p:cNvSpPr>
          <p:nvPr/>
        </p:nvSpPr>
        <p:spPr>
          <a:xfrm>
            <a:off x="301255" y="227649"/>
            <a:ext cx="2926039"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Variables</a:t>
            </a:r>
          </a:p>
        </p:txBody>
      </p:sp>
      <p:sp>
        <p:nvSpPr>
          <p:cNvPr id="22" name="Título 1">
            <a:extLst>
              <a:ext uri="{FF2B5EF4-FFF2-40B4-BE49-F238E27FC236}">
                <a16:creationId xmlns:a16="http://schemas.microsoft.com/office/drawing/2014/main" id="{CA04A99B-1383-AA82-8A9F-40D861875AFD}"/>
              </a:ext>
            </a:extLst>
          </p:cNvPr>
          <p:cNvSpPr txBox="1">
            <a:spLocks/>
          </p:cNvSpPr>
          <p:nvPr/>
        </p:nvSpPr>
        <p:spPr>
          <a:xfrm>
            <a:off x="301256" y="711949"/>
            <a:ext cx="3783880"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Áreas</a:t>
            </a:r>
            <a:endParaRPr lang="es-ES" sz="1400" spc="300" dirty="0">
              <a:solidFill>
                <a:schemeClr val="accent1"/>
              </a:solidFill>
              <a:latin typeface="Ancizar Sans" panose="020B0602040300000003" pitchFamily="34" charset="0"/>
              <a:cs typeface="Ancizar Serif"/>
            </a:endParaRPr>
          </a:p>
        </p:txBody>
      </p:sp>
    </p:spTree>
    <p:extLst>
      <p:ext uri="{BB962C8B-B14F-4D97-AF65-F5344CB8AC3E}">
        <p14:creationId xmlns:p14="http://schemas.microsoft.com/office/powerpoint/2010/main" val="917885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196CA-93C1-B4D8-5F51-279B23895C64}"/>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4530BF8C-E7E0-3E69-B27D-A2FE8B6F7585}"/>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
        <p:nvSpPr>
          <p:cNvPr id="3" name="Marcador de número de diapositiva 2">
            <a:extLst>
              <a:ext uri="{FF2B5EF4-FFF2-40B4-BE49-F238E27FC236}">
                <a16:creationId xmlns:a16="http://schemas.microsoft.com/office/drawing/2014/main" id="{53EEB536-62F5-0609-7F41-2935CC1D9674}"/>
              </a:ext>
            </a:extLst>
          </p:cNvPr>
          <p:cNvSpPr>
            <a:spLocks noGrp="1"/>
          </p:cNvSpPr>
          <p:nvPr>
            <p:ph type="sldNum" sz="quarter" idx="12"/>
          </p:nvPr>
        </p:nvSpPr>
        <p:spPr/>
        <p:txBody>
          <a:bodyPr/>
          <a:lstStyle/>
          <a:p>
            <a:fld id="{90BC2BA4-81C0-F544-BD72-C8CB9DA7C802}" type="slidenum">
              <a:rPr lang="es-ES" smtClean="0"/>
              <a:pPr/>
              <a:t>10</a:t>
            </a:fld>
            <a:endParaRPr lang="es-ES" dirty="0"/>
          </a:p>
        </p:txBody>
      </p:sp>
      <p:sp>
        <p:nvSpPr>
          <p:cNvPr id="7" name="Título 1">
            <a:extLst>
              <a:ext uri="{FF2B5EF4-FFF2-40B4-BE49-F238E27FC236}">
                <a16:creationId xmlns:a16="http://schemas.microsoft.com/office/drawing/2014/main" id="{D81284BB-B958-6AEA-0A44-18725E5E9FA5}"/>
              </a:ext>
            </a:extLst>
          </p:cNvPr>
          <p:cNvSpPr txBox="1">
            <a:spLocks/>
          </p:cNvSpPr>
          <p:nvPr/>
        </p:nvSpPr>
        <p:spPr>
          <a:xfrm>
            <a:off x="2537306" y="2138253"/>
            <a:ext cx="352428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Análisis exploratorio</a:t>
            </a:r>
          </a:p>
        </p:txBody>
      </p:sp>
      <p:pic>
        <p:nvPicPr>
          <p:cNvPr id="11" name="Imagen 10" descr="tierra ">
            <a:extLst>
              <a:ext uri="{FF2B5EF4-FFF2-40B4-BE49-F238E27FC236}">
                <a16:creationId xmlns:a16="http://schemas.microsoft.com/office/drawing/2014/main" id="{0EFF94A4-A8B1-62E6-3790-BDCD1E080D24}"/>
              </a:ext>
            </a:extLst>
          </p:cNvPr>
          <p:cNvPicPr>
            <a:picLocks noChangeAspect="1"/>
          </p:cNvPicPr>
          <p:nvPr/>
        </p:nvPicPr>
        <p:blipFill>
          <a:blip r:embed="rId3"/>
          <a:stretch>
            <a:fillRect/>
          </a:stretch>
        </p:blipFill>
        <p:spPr>
          <a:xfrm>
            <a:off x="5007077" y="1750449"/>
            <a:ext cx="1440000" cy="1440000"/>
          </a:xfrm>
          <a:prstGeom prst="rect">
            <a:avLst/>
          </a:prstGeom>
        </p:spPr>
      </p:pic>
    </p:spTree>
    <p:extLst>
      <p:ext uri="{BB962C8B-B14F-4D97-AF65-F5344CB8AC3E}">
        <p14:creationId xmlns:p14="http://schemas.microsoft.com/office/powerpoint/2010/main" val="1297996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A1126D3-3FC9-C83A-7AAA-B3A07BA11428}"/>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C9E03F09-9E25-EA15-AFC3-2B0B0B9069E3}"/>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FD8853C2-EAA7-B149-2AA1-7FD9006B28E5}"/>
              </a:ext>
            </a:extLst>
          </p:cNvPr>
          <p:cNvSpPr>
            <a:spLocks noGrp="1"/>
          </p:cNvSpPr>
          <p:nvPr>
            <p:ph type="sldNum" sz="quarter" idx="12"/>
          </p:nvPr>
        </p:nvSpPr>
        <p:spPr/>
        <p:txBody>
          <a:bodyPr/>
          <a:lstStyle/>
          <a:p>
            <a:fld id="{90BC2BA4-81C0-F544-BD72-C8CB9DA7C802}" type="slidenum">
              <a:rPr lang="es-CO" noProof="0" smtClean="0"/>
              <a:pPr/>
              <a:t>11</a:t>
            </a:fld>
            <a:endParaRPr lang="es-CO" noProof="0" dirty="0"/>
          </a:p>
        </p:txBody>
      </p:sp>
      <p:pic>
        <p:nvPicPr>
          <p:cNvPr id="5" name="Imagen 4">
            <a:extLst>
              <a:ext uri="{FF2B5EF4-FFF2-40B4-BE49-F238E27FC236}">
                <a16:creationId xmlns:a16="http://schemas.microsoft.com/office/drawing/2014/main" id="{3217C5CB-D79B-02FB-A5DC-28263768266D}"/>
              </a:ext>
            </a:extLst>
          </p:cNvPr>
          <p:cNvPicPr>
            <a:picLocks noChangeAspect="1"/>
          </p:cNvPicPr>
          <p:nvPr/>
        </p:nvPicPr>
        <p:blipFill>
          <a:blip r:embed="rId3"/>
          <a:stretch>
            <a:fillRect/>
          </a:stretch>
        </p:blipFill>
        <p:spPr>
          <a:xfrm>
            <a:off x="367316" y="997758"/>
            <a:ext cx="2020093" cy="1980000"/>
          </a:xfrm>
          <a:prstGeom prst="rect">
            <a:avLst/>
          </a:prstGeom>
        </p:spPr>
      </p:pic>
      <p:pic>
        <p:nvPicPr>
          <p:cNvPr id="7" name="Imagen 6">
            <a:extLst>
              <a:ext uri="{FF2B5EF4-FFF2-40B4-BE49-F238E27FC236}">
                <a16:creationId xmlns:a16="http://schemas.microsoft.com/office/drawing/2014/main" id="{E50B4639-B7E7-D774-7DCF-8B3F2C14AB43}"/>
              </a:ext>
            </a:extLst>
          </p:cNvPr>
          <p:cNvPicPr>
            <a:picLocks noChangeAspect="1"/>
          </p:cNvPicPr>
          <p:nvPr/>
        </p:nvPicPr>
        <p:blipFill>
          <a:blip r:embed="rId4"/>
          <a:stretch>
            <a:fillRect/>
          </a:stretch>
        </p:blipFill>
        <p:spPr>
          <a:xfrm>
            <a:off x="367316" y="3026998"/>
            <a:ext cx="1800000" cy="1551464"/>
          </a:xfrm>
          <a:prstGeom prst="rect">
            <a:avLst/>
          </a:prstGeom>
        </p:spPr>
      </p:pic>
      <p:pic>
        <p:nvPicPr>
          <p:cNvPr id="13" name="Imagen 12">
            <a:extLst>
              <a:ext uri="{FF2B5EF4-FFF2-40B4-BE49-F238E27FC236}">
                <a16:creationId xmlns:a16="http://schemas.microsoft.com/office/drawing/2014/main" id="{70003BDD-8F10-649A-D4F1-EF868455B809}"/>
              </a:ext>
            </a:extLst>
          </p:cNvPr>
          <p:cNvPicPr>
            <a:picLocks noChangeAspect="1"/>
          </p:cNvPicPr>
          <p:nvPr/>
        </p:nvPicPr>
        <p:blipFill>
          <a:blip r:embed="rId5"/>
          <a:stretch>
            <a:fillRect/>
          </a:stretch>
        </p:blipFill>
        <p:spPr>
          <a:xfrm>
            <a:off x="4813976" y="1154584"/>
            <a:ext cx="4097425" cy="1336618"/>
          </a:xfrm>
          <a:prstGeom prst="rect">
            <a:avLst/>
          </a:prstGeom>
          <a:ln>
            <a:solidFill>
              <a:schemeClr val="accent1">
                <a:lumMod val="75000"/>
              </a:schemeClr>
            </a:solidFill>
          </a:ln>
        </p:spPr>
      </p:pic>
      <p:sp>
        <p:nvSpPr>
          <p:cNvPr id="15" name="Rectángulo: esquinas redondeadas 14">
            <a:extLst>
              <a:ext uri="{FF2B5EF4-FFF2-40B4-BE49-F238E27FC236}">
                <a16:creationId xmlns:a16="http://schemas.microsoft.com/office/drawing/2014/main" id="{58FCF865-5CFA-87BA-078C-22C61AC3FC0D}"/>
              </a:ext>
            </a:extLst>
          </p:cNvPr>
          <p:cNvSpPr/>
          <p:nvPr/>
        </p:nvSpPr>
        <p:spPr>
          <a:xfrm>
            <a:off x="2650258" y="1462122"/>
            <a:ext cx="2020093" cy="755458"/>
          </a:xfrm>
          <a:prstGeom prst="roundRect">
            <a:avLst/>
          </a:prstGeom>
          <a:solidFill>
            <a:srgbClr val="4A095A">
              <a:alpha val="50196"/>
            </a:srgb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800" dirty="0">
                <a:solidFill>
                  <a:srgbClr val="FFFFFF"/>
                </a:solidFill>
              </a:rPr>
              <a:t>El patrón observado para los movimientos en masa de Medellín está más cerca de sus vecinos más cercanos de lo que se esperaría en un patrón completamente aleatorio. </a:t>
            </a:r>
          </a:p>
        </p:txBody>
      </p:sp>
      <p:pic>
        <p:nvPicPr>
          <p:cNvPr id="17" name="Imagen 16">
            <a:extLst>
              <a:ext uri="{FF2B5EF4-FFF2-40B4-BE49-F238E27FC236}">
                <a16:creationId xmlns:a16="http://schemas.microsoft.com/office/drawing/2014/main" id="{0398F7EB-3273-ACFE-937D-5E402ECB04CC}"/>
              </a:ext>
            </a:extLst>
          </p:cNvPr>
          <p:cNvPicPr>
            <a:picLocks noChangeAspect="1"/>
          </p:cNvPicPr>
          <p:nvPr/>
        </p:nvPicPr>
        <p:blipFill>
          <a:blip r:embed="rId6"/>
          <a:srcRect/>
          <a:stretch/>
        </p:blipFill>
        <p:spPr>
          <a:xfrm>
            <a:off x="2885213" y="2637785"/>
            <a:ext cx="4097425" cy="1336617"/>
          </a:xfrm>
          <a:prstGeom prst="rect">
            <a:avLst/>
          </a:prstGeom>
          <a:ln>
            <a:solidFill>
              <a:srgbClr val="FFB93E"/>
            </a:solidFill>
          </a:ln>
        </p:spPr>
      </p:pic>
      <p:sp>
        <p:nvSpPr>
          <p:cNvPr id="19" name="Rectángulo: esquinas redondeadas 18">
            <a:extLst>
              <a:ext uri="{FF2B5EF4-FFF2-40B4-BE49-F238E27FC236}">
                <a16:creationId xmlns:a16="http://schemas.microsoft.com/office/drawing/2014/main" id="{04BA4968-099D-8602-1C55-370E1A74FFAB}"/>
              </a:ext>
            </a:extLst>
          </p:cNvPr>
          <p:cNvSpPr/>
          <p:nvPr/>
        </p:nvSpPr>
        <p:spPr>
          <a:xfrm>
            <a:off x="7046277" y="2998126"/>
            <a:ext cx="1865123" cy="744533"/>
          </a:xfrm>
          <a:prstGeom prst="roundRect">
            <a:avLst/>
          </a:prstGeom>
          <a:solidFill>
            <a:srgbClr val="FFB93E">
              <a:alpha val="50196"/>
            </a:srgbClr>
          </a:solidFill>
          <a:ln>
            <a:solidFill>
              <a:srgbClr val="FFB9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800" dirty="0">
                <a:solidFill>
                  <a:schemeClr val="tx1"/>
                </a:solidFill>
              </a:rPr>
              <a:t>Existen muchas ubicaciones dentro del municipio que están relativamente lejos del movimiento en masa más cercano</a:t>
            </a:r>
            <a:r>
              <a:rPr lang="es-CO" sz="800" dirty="0">
                <a:solidFill>
                  <a:schemeClr val="tx1"/>
                </a:solidFill>
              </a:rPr>
              <a:t>: el patrón tiene muchos huecos. </a:t>
            </a:r>
            <a:endParaRPr lang="es-CO" sz="400" dirty="0">
              <a:solidFill>
                <a:schemeClr val="tx1"/>
              </a:solidFill>
            </a:endParaRPr>
          </a:p>
        </p:txBody>
      </p:sp>
      <p:sp>
        <p:nvSpPr>
          <p:cNvPr id="21" name="Rectángulo: esquinas redondeadas 20">
            <a:extLst>
              <a:ext uri="{FF2B5EF4-FFF2-40B4-BE49-F238E27FC236}">
                <a16:creationId xmlns:a16="http://schemas.microsoft.com/office/drawing/2014/main" id="{5B71869D-1396-4385-94D6-1CEDC494827D}"/>
              </a:ext>
            </a:extLst>
          </p:cNvPr>
          <p:cNvSpPr/>
          <p:nvPr/>
        </p:nvSpPr>
        <p:spPr>
          <a:xfrm>
            <a:off x="3826649" y="4198878"/>
            <a:ext cx="4576230" cy="282450"/>
          </a:xfrm>
          <a:prstGeom prst="roundRect">
            <a:avLst/>
          </a:prstGeom>
          <a:solidFill>
            <a:srgbClr val="620C78"/>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100" b="1" dirty="0">
                <a:solidFill>
                  <a:srgbClr val="FFFFFF"/>
                </a:solidFill>
              </a:rPr>
              <a:t>Los movimientos en masa en Medellín están agrupados</a:t>
            </a:r>
            <a:endParaRPr lang="es-CO" sz="800" b="1" dirty="0">
              <a:solidFill>
                <a:srgbClr val="FFFFFF"/>
              </a:solidFill>
            </a:endParaRPr>
          </a:p>
        </p:txBody>
      </p:sp>
      <p:sp>
        <p:nvSpPr>
          <p:cNvPr id="25" name="Título 1">
            <a:extLst>
              <a:ext uri="{FF2B5EF4-FFF2-40B4-BE49-F238E27FC236}">
                <a16:creationId xmlns:a16="http://schemas.microsoft.com/office/drawing/2014/main" id="{F21BD580-78B0-D17D-C086-65E3DE37BFCB}"/>
              </a:ext>
            </a:extLst>
          </p:cNvPr>
          <p:cNvSpPr txBox="1">
            <a:spLocks/>
          </p:cNvSpPr>
          <p:nvPr/>
        </p:nvSpPr>
        <p:spPr>
          <a:xfrm>
            <a:off x="301255" y="280535"/>
            <a:ext cx="2926039"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Puntos</a:t>
            </a:r>
          </a:p>
        </p:txBody>
      </p:sp>
      <p:sp>
        <p:nvSpPr>
          <p:cNvPr id="27" name="Título 1">
            <a:extLst>
              <a:ext uri="{FF2B5EF4-FFF2-40B4-BE49-F238E27FC236}">
                <a16:creationId xmlns:a16="http://schemas.microsoft.com/office/drawing/2014/main" id="{7BCAE21F-E5D3-453B-8EED-DFF647E376D3}"/>
              </a:ext>
            </a:extLst>
          </p:cNvPr>
          <p:cNvSpPr txBox="1">
            <a:spLocks/>
          </p:cNvSpPr>
          <p:nvPr/>
        </p:nvSpPr>
        <p:spPr>
          <a:xfrm>
            <a:off x="301256" y="764835"/>
            <a:ext cx="3783880"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Patrones de puntos</a:t>
            </a:r>
            <a:endParaRPr lang="es-ES" sz="1400" spc="300" dirty="0">
              <a:solidFill>
                <a:schemeClr val="accent1"/>
              </a:solidFill>
              <a:latin typeface="Ancizar Sans" panose="020B0602040300000003" pitchFamily="34" charset="0"/>
              <a:cs typeface="Ancizar Serif"/>
            </a:endParaRPr>
          </a:p>
        </p:txBody>
      </p:sp>
    </p:spTree>
    <p:extLst>
      <p:ext uri="{BB962C8B-B14F-4D97-AF65-F5344CB8AC3E}">
        <p14:creationId xmlns:p14="http://schemas.microsoft.com/office/powerpoint/2010/main" val="3235755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1ACE1-0E07-102D-5B47-36FD45A449BF}"/>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99673A42-B591-F768-5392-E3F84B8E622B}"/>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
        <p:nvSpPr>
          <p:cNvPr id="3" name="Marcador de número de diapositiva 2">
            <a:extLst>
              <a:ext uri="{FF2B5EF4-FFF2-40B4-BE49-F238E27FC236}">
                <a16:creationId xmlns:a16="http://schemas.microsoft.com/office/drawing/2014/main" id="{DEB93B31-0867-C2D9-1FF6-9D783DCBA822}"/>
              </a:ext>
            </a:extLst>
          </p:cNvPr>
          <p:cNvSpPr>
            <a:spLocks noGrp="1"/>
          </p:cNvSpPr>
          <p:nvPr>
            <p:ph type="sldNum" sz="quarter" idx="12"/>
          </p:nvPr>
        </p:nvSpPr>
        <p:spPr/>
        <p:txBody>
          <a:bodyPr/>
          <a:lstStyle/>
          <a:p>
            <a:fld id="{90BC2BA4-81C0-F544-BD72-C8CB9DA7C802}" type="slidenum">
              <a:rPr lang="es-ES" smtClean="0"/>
              <a:pPr/>
              <a:t>12</a:t>
            </a:fld>
            <a:endParaRPr lang="es-ES" dirty="0"/>
          </a:p>
        </p:txBody>
      </p:sp>
      <p:grpSp>
        <p:nvGrpSpPr>
          <p:cNvPr id="17" name="Grupo 16">
            <a:extLst>
              <a:ext uri="{FF2B5EF4-FFF2-40B4-BE49-F238E27FC236}">
                <a16:creationId xmlns:a16="http://schemas.microsoft.com/office/drawing/2014/main" id="{AAE908BC-3711-A92D-CF0C-3E10426F370F}"/>
              </a:ext>
            </a:extLst>
          </p:cNvPr>
          <p:cNvGrpSpPr/>
          <p:nvPr/>
        </p:nvGrpSpPr>
        <p:grpSpPr>
          <a:xfrm>
            <a:off x="116364" y="1167539"/>
            <a:ext cx="1384197" cy="3118714"/>
            <a:chOff x="72632" y="1126410"/>
            <a:chExt cx="1384197" cy="3118714"/>
          </a:xfrm>
        </p:grpSpPr>
        <p:pic>
          <p:nvPicPr>
            <p:cNvPr id="8" name="Imagen 7">
              <a:extLst>
                <a:ext uri="{FF2B5EF4-FFF2-40B4-BE49-F238E27FC236}">
                  <a16:creationId xmlns:a16="http://schemas.microsoft.com/office/drawing/2014/main" id="{4BA2A937-9110-7FB3-EC42-3ED6352F2DAB}"/>
                </a:ext>
              </a:extLst>
            </p:cNvPr>
            <p:cNvPicPr>
              <a:picLocks noChangeAspect="1"/>
            </p:cNvPicPr>
            <p:nvPr/>
          </p:nvPicPr>
          <p:blipFill>
            <a:blip r:embed="rId2"/>
            <a:stretch>
              <a:fillRect/>
            </a:stretch>
          </p:blipFill>
          <p:spPr>
            <a:xfrm>
              <a:off x="72632" y="1126410"/>
              <a:ext cx="1384197" cy="3118714"/>
            </a:xfrm>
            <a:prstGeom prst="rect">
              <a:avLst/>
            </a:prstGeom>
          </p:spPr>
        </p:pic>
        <p:sp>
          <p:nvSpPr>
            <p:cNvPr id="16" name="Rectángulo 15">
              <a:extLst>
                <a:ext uri="{FF2B5EF4-FFF2-40B4-BE49-F238E27FC236}">
                  <a16:creationId xmlns:a16="http://schemas.microsoft.com/office/drawing/2014/main" id="{F0528477-E30F-EBD7-718A-375E0CC4B8C3}"/>
                </a:ext>
              </a:extLst>
            </p:cNvPr>
            <p:cNvSpPr/>
            <p:nvPr/>
          </p:nvSpPr>
          <p:spPr>
            <a:xfrm>
              <a:off x="72632" y="1850923"/>
              <a:ext cx="1384197" cy="88490"/>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grpSp>
      <p:sp>
        <p:nvSpPr>
          <p:cNvPr id="19" name="Título 1">
            <a:extLst>
              <a:ext uri="{FF2B5EF4-FFF2-40B4-BE49-F238E27FC236}">
                <a16:creationId xmlns:a16="http://schemas.microsoft.com/office/drawing/2014/main" id="{DA39FFB8-18CF-914F-C851-0FE048B3D20D}"/>
              </a:ext>
            </a:extLst>
          </p:cNvPr>
          <p:cNvSpPr txBox="1">
            <a:spLocks/>
          </p:cNvSpPr>
          <p:nvPr/>
        </p:nvSpPr>
        <p:spPr>
          <a:xfrm>
            <a:off x="301256" y="201039"/>
            <a:ext cx="1734021"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Puntos</a:t>
            </a:r>
          </a:p>
        </p:txBody>
      </p:sp>
      <p:sp>
        <p:nvSpPr>
          <p:cNvPr id="21" name="Título 1">
            <a:extLst>
              <a:ext uri="{FF2B5EF4-FFF2-40B4-BE49-F238E27FC236}">
                <a16:creationId xmlns:a16="http://schemas.microsoft.com/office/drawing/2014/main" id="{6B3B18F1-4A4B-9535-C1EA-0D6179E1C507}"/>
              </a:ext>
            </a:extLst>
          </p:cNvPr>
          <p:cNvSpPr txBox="1">
            <a:spLocks/>
          </p:cNvSpPr>
          <p:nvPr/>
        </p:nvSpPr>
        <p:spPr>
          <a:xfrm>
            <a:off x="297594" y="673665"/>
            <a:ext cx="2405934" cy="18171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Patrones de puntos</a:t>
            </a:r>
            <a:endParaRPr lang="es-ES" sz="1400" spc="300" dirty="0">
              <a:solidFill>
                <a:schemeClr val="accent1"/>
              </a:solidFill>
              <a:latin typeface="Ancizar Sans" panose="020B0602040300000003" pitchFamily="34" charset="0"/>
              <a:cs typeface="Ancizar Serif"/>
            </a:endParaRPr>
          </a:p>
        </p:txBody>
      </p:sp>
      <p:pic>
        <p:nvPicPr>
          <p:cNvPr id="4" name="Imagen 3">
            <a:extLst>
              <a:ext uri="{FF2B5EF4-FFF2-40B4-BE49-F238E27FC236}">
                <a16:creationId xmlns:a16="http://schemas.microsoft.com/office/drawing/2014/main" id="{8B97F9D5-683A-C0AF-A103-27472F88AEBA}"/>
              </a:ext>
            </a:extLst>
          </p:cNvPr>
          <p:cNvPicPr>
            <a:picLocks noChangeAspect="1"/>
          </p:cNvPicPr>
          <p:nvPr/>
        </p:nvPicPr>
        <p:blipFill>
          <a:blip r:embed="rId3"/>
          <a:srcRect/>
          <a:stretch/>
        </p:blipFill>
        <p:spPr>
          <a:xfrm>
            <a:off x="4704647" y="673666"/>
            <a:ext cx="4193484" cy="3612588"/>
          </a:xfrm>
          <a:prstGeom prst="rect">
            <a:avLst/>
          </a:prstGeom>
        </p:spPr>
      </p:pic>
      <p:pic>
        <p:nvPicPr>
          <p:cNvPr id="7" name="Imagen 6">
            <a:extLst>
              <a:ext uri="{FF2B5EF4-FFF2-40B4-BE49-F238E27FC236}">
                <a16:creationId xmlns:a16="http://schemas.microsoft.com/office/drawing/2014/main" id="{202098CF-54FE-8326-5092-458E74FD24BD}"/>
              </a:ext>
            </a:extLst>
          </p:cNvPr>
          <p:cNvPicPr>
            <a:picLocks noChangeAspect="1"/>
          </p:cNvPicPr>
          <p:nvPr/>
        </p:nvPicPr>
        <p:blipFill>
          <a:blip r:embed="rId4"/>
          <a:srcRect/>
          <a:stretch/>
        </p:blipFill>
        <p:spPr>
          <a:xfrm>
            <a:off x="1794776" y="1525272"/>
            <a:ext cx="2909871" cy="2178711"/>
          </a:xfrm>
          <a:prstGeom prst="rect">
            <a:avLst/>
          </a:prstGeom>
        </p:spPr>
      </p:pic>
    </p:spTree>
    <p:extLst>
      <p:ext uri="{BB962C8B-B14F-4D97-AF65-F5344CB8AC3E}">
        <p14:creationId xmlns:p14="http://schemas.microsoft.com/office/powerpoint/2010/main" val="1856368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B3D4B-73F2-F1C4-5A01-0D1E2B91D52F}"/>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230EDEA7-4596-DF60-3E84-4B40A4B45A38}"/>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
        <p:nvSpPr>
          <p:cNvPr id="3" name="Marcador de número de diapositiva 2">
            <a:extLst>
              <a:ext uri="{FF2B5EF4-FFF2-40B4-BE49-F238E27FC236}">
                <a16:creationId xmlns:a16="http://schemas.microsoft.com/office/drawing/2014/main" id="{546C5C97-9D7F-922F-342A-624E2ABECECE}"/>
              </a:ext>
            </a:extLst>
          </p:cNvPr>
          <p:cNvSpPr>
            <a:spLocks noGrp="1"/>
          </p:cNvSpPr>
          <p:nvPr>
            <p:ph type="sldNum" sz="quarter" idx="12"/>
          </p:nvPr>
        </p:nvSpPr>
        <p:spPr/>
        <p:txBody>
          <a:bodyPr/>
          <a:lstStyle/>
          <a:p>
            <a:fld id="{90BC2BA4-81C0-F544-BD72-C8CB9DA7C802}" type="slidenum">
              <a:rPr lang="es-ES" smtClean="0"/>
              <a:pPr/>
              <a:t>13</a:t>
            </a:fld>
            <a:endParaRPr lang="es-ES" dirty="0"/>
          </a:p>
        </p:txBody>
      </p:sp>
      <p:pic>
        <p:nvPicPr>
          <p:cNvPr id="6" name="Imagen 5">
            <a:extLst>
              <a:ext uri="{FF2B5EF4-FFF2-40B4-BE49-F238E27FC236}">
                <a16:creationId xmlns:a16="http://schemas.microsoft.com/office/drawing/2014/main" id="{F7206EEC-ABE2-1A5C-2F12-30EC9D4D7DFE}"/>
              </a:ext>
            </a:extLst>
          </p:cNvPr>
          <p:cNvPicPr>
            <a:picLocks noChangeAspect="1"/>
          </p:cNvPicPr>
          <p:nvPr/>
        </p:nvPicPr>
        <p:blipFill>
          <a:blip r:embed="rId3"/>
          <a:srcRect/>
          <a:stretch/>
        </p:blipFill>
        <p:spPr>
          <a:xfrm>
            <a:off x="1003469" y="1149859"/>
            <a:ext cx="2520000" cy="2446112"/>
          </a:xfrm>
          <a:prstGeom prst="rect">
            <a:avLst/>
          </a:prstGeom>
        </p:spPr>
      </p:pic>
      <p:pic>
        <p:nvPicPr>
          <p:cNvPr id="7" name="Imagen 6">
            <a:extLst>
              <a:ext uri="{FF2B5EF4-FFF2-40B4-BE49-F238E27FC236}">
                <a16:creationId xmlns:a16="http://schemas.microsoft.com/office/drawing/2014/main" id="{76B824AF-95CC-D4A2-41AF-F6B6A9D3F820}"/>
              </a:ext>
            </a:extLst>
          </p:cNvPr>
          <p:cNvPicPr>
            <a:picLocks noChangeAspect="1"/>
          </p:cNvPicPr>
          <p:nvPr/>
        </p:nvPicPr>
        <p:blipFill>
          <a:blip r:embed="rId4"/>
          <a:srcRect/>
          <a:stretch/>
        </p:blipFill>
        <p:spPr>
          <a:xfrm>
            <a:off x="5578149" y="1149859"/>
            <a:ext cx="2519999" cy="2446111"/>
          </a:xfrm>
          <a:prstGeom prst="rect">
            <a:avLst/>
          </a:prstGeom>
        </p:spPr>
      </p:pic>
      <p:sp>
        <p:nvSpPr>
          <p:cNvPr id="8" name="CuadroTexto 7">
            <a:extLst>
              <a:ext uri="{FF2B5EF4-FFF2-40B4-BE49-F238E27FC236}">
                <a16:creationId xmlns:a16="http://schemas.microsoft.com/office/drawing/2014/main" id="{7E5AC5A5-08D5-0010-8748-D91FDB4C221A}"/>
              </a:ext>
            </a:extLst>
          </p:cNvPr>
          <p:cNvSpPr txBox="1"/>
          <p:nvPr/>
        </p:nvSpPr>
        <p:spPr>
          <a:xfrm>
            <a:off x="1561443" y="3564375"/>
            <a:ext cx="1221177" cy="255389"/>
          </a:xfrm>
          <a:prstGeom prst="roundRect">
            <a:avLst/>
          </a:prstGeom>
          <a:solidFill>
            <a:schemeClr val="accent2"/>
          </a:solidFill>
          <a:ln>
            <a:solidFill>
              <a:schemeClr val="accent1"/>
            </a:solidFill>
          </a:ln>
        </p:spPr>
        <p:txBody>
          <a:bodyPr wrap="square" rtlCol="0">
            <a:spAutoFit/>
          </a:bodyPr>
          <a:lstStyle>
            <a:defPPr>
              <a:defRPr lang="es-ES"/>
            </a:defPPr>
            <a:lvl1pPr algn="ctr">
              <a:defRPr sz="1400"/>
            </a:lvl1pPr>
          </a:lstStyle>
          <a:p>
            <a:r>
              <a:rPr lang="es-CO" sz="900" dirty="0"/>
              <a:t>Contigüidad</a:t>
            </a:r>
          </a:p>
        </p:txBody>
      </p:sp>
      <p:sp>
        <p:nvSpPr>
          <p:cNvPr id="12" name="CuadroTexto 11">
            <a:extLst>
              <a:ext uri="{FF2B5EF4-FFF2-40B4-BE49-F238E27FC236}">
                <a16:creationId xmlns:a16="http://schemas.microsoft.com/office/drawing/2014/main" id="{B0A641C6-8623-E644-13F8-3C763B3A0E50}"/>
              </a:ext>
            </a:extLst>
          </p:cNvPr>
          <p:cNvSpPr txBox="1"/>
          <p:nvPr/>
        </p:nvSpPr>
        <p:spPr>
          <a:xfrm>
            <a:off x="6393705" y="3564375"/>
            <a:ext cx="1221177" cy="255389"/>
          </a:xfrm>
          <a:prstGeom prst="roundRect">
            <a:avLst/>
          </a:prstGeom>
          <a:solidFill>
            <a:schemeClr val="accent2"/>
          </a:solidFill>
          <a:ln>
            <a:solidFill>
              <a:schemeClr val="accent1"/>
            </a:solidFill>
          </a:ln>
        </p:spPr>
        <p:txBody>
          <a:bodyPr wrap="square" rtlCol="0">
            <a:spAutoFit/>
          </a:bodyPr>
          <a:lstStyle>
            <a:defPPr>
              <a:defRPr lang="es-ES"/>
            </a:defPPr>
            <a:lvl1pPr algn="ctr">
              <a:defRPr sz="900"/>
            </a:lvl1pPr>
          </a:lstStyle>
          <a:p>
            <a:r>
              <a:rPr lang="es-CO" dirty="0"/>
              <a:t>Distancia</a:t>
            </a:r>
          </a:p>
        </p:txBody>
      </p:sp>
      <p:sp>
        <p:nvSpPr>
          <p:cNvPr id="5" name="Título 1">
            <a:extLst>
              <a:ext uri="{FF2B5EF4-FFF2-40B4-BE49-F238E27FC236}">
                <a16:creationId xmlns:a16="http://schemas.microsoft.com/office/drawing/2014/main" id="{8C55BB95-FD19-9EA2-7C3E-03AD637F54E7}"/>
              </a:ext>
            </a:extLst>
          </p:cNvPr>
          <p:cNvSpPr txBox="1">
            <a:spLocks/>
          </p:cNvSpPr>
          <p:nvPr/>
        </p:nvSpPr>
        <p:spPr>
          <a:xfrm>
            <a:off x="262742" y="308616"/>
            <a:ext cx="1734021"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Áreas</a:t>
            </a:r>
          </a:p>
        </p:txBody>
      </p:sp>
      <p:sp>
        <p:nvSpPr>
          <p:cNvPr id="14" name="Título 1">
            <a:extLst>
              <a:ext uri="{FF2B5EF4-FFF2-40B4-BE49-F238E27FC236}">
                <a16:creationId xmlns:a16="http://schemas.microsoft.com/office/drawing/2014/main" id="{5CA0A1E0-66E1-1904-2754-0B674F7ADD46}"/>
              </a:ext>
            </a:extLst>
          </p:cNvPr>
          <p:cNvSpPr txBox="1">
            <a:spLocks/>
          </p:cNvSpPr>
          <p:nvPr/>
        </p:nvSpPr>
        <p:spPr>
          <a:xfrm>
            <a:off x="259080" y="781242"/>
            <a:ext cx="2405934" cy="18171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Vecindad</a:t>
            </a:r>
            <a:endParaRPr lang="es-ES" sz="1400" spc="300" dirty="0">
              <a:solidFill>
                <a:schemeClr val="accent1"/>
              </a:solidFill>
              <a:latin typeface="Ancizar Sans" panose="020B0602040300000003" pitchFamily="34" charset="0"/>
              <a:cs typeface="Ancizar Serif"/>
            </a:endParaRPr>
          </a:p>
        </p:txBody>
      </p:sp>
      <p:pic>
        <p:nvPicPr>
          <p:cNvPr id="11" name="Imagen 10">
            <a:extLst>
              <a:ext uri="{FF2B5EF4-FFF2-40B4-BE49-F238E27FC236}">
                <a16:creationId xmlns:a16="http://schemas.microsoft.com/office/drawing/2014/main" id="{2C205191-0F5A-370F-245D-4439FE1BD06D}"/>
              </a:ext>
            </a:extLst>
          </p:cNvPr>
          <p:cNvPicPr>
            <a:picLocks noChangeAspect="1"/>
          </p:cNvPicPr>
          <p:nvPr/>
        </p:nvPicPr>
        <p:blipFill>
          <a:blip r:embed="rId5"/>
          <a:stretch>
            <a:fillRect/>
          </a:stretch>
        </p:blipFill>
        <p:spPr>
          <a:xfrm>
            <a:off x="3228743" y="1149860"/>
            <a:ext cx="2520000" cy="2446111"/>
          </a:xfrm>
          <a:prstGeom prst="rect">
            <a:avLst/>
          </a:prstGeom>
        </p:spPr>
      </p:pic>
      <p:sp>
        <p:nvSpPr>
          <p:cNvPr id="15" name="CuadroTexto 14">
            <a:extLst>
              <a:ext uri="{FF2B5EF4-FFF2-40B4-BE49-F238E27FC236}">
                <a16:creationId xmlns:a16="http://schemas.microsoft.com/office/drawing/2014/main" id="{48C1528D-6236-42A9-BB49-AD689036A54B}"/>
              </a:ext>
            </a:extLst>
          </p:cNvPr>
          <p:cNvSpPr txBox="1"/>
          <p:nvPr/>
        </p:nvSpPr>
        <p:spPr>
          <a:xfrm>
            <a:off x="3878154" y="3564375"/>
            <a:ext cx="1221177" cy="255389"/>
          </a:xfrm>
          <a:prstGeom prst="roundRect">
            <a:avLst/>
          </a:prstGeom>
          <a:solidFill>
            <a:schemeClr val="accent2"/>
          </a:solidFill>
          <a:ln>
            <a:solidFill>
              <a:schemeClr val="accent1"/>
            </a:solidFill>
          </a:ln>
        </p:spPr>
        <p:txBody>
          <a:bodyPr wrap="square" rtlCol="0">
            <a:spAutoFit/>
          </a:bodyPr>
          <a:lstStyle>
            <a:defPPr>
              <a:defRPr lang="es-ES"/>
            </a:defPPr>
            <a:lvl1pPr algn="ctr">
              <a:defRPr sz="900"/>
            </a:lvl1pPr>
          </a:lstStyle>
          <a:p>
            <a:r>
              <a:rPr lang="es-CO" dirty="0"/>
              <a:t>Los 5 más cercanos</a:t>
            </a:r>
          </a:p>
        </p:txBody>
      </p:sp>
      <p:sp>
        <p:nvSpPr>
          <p:cNvPr id="16" name="Rectángulo 15">
            <a:extLst>
              <a:ext uri="{FF2B5EF4-FFF2-40B4-BE49-F238E27FC236}">
                <a16:creationId xmlns:a16="http://schemas.microsoft.com/office/drawing/2014/main" id="{F6A5B635-0C14-3A3E-6929-13B600D2EABE}"/>
              </a:ext>
            </a:extLst>
          </p:cNvPr>
          <p:cNvSpPr/>
          <p:nvPr/>
        </p:nvSpPr>
        <p:spPr>
          <a:xfrm>
            <a:off x="3340594" y="1120363"/>
            <a:ext cx="2290031" cy="2780591"/>
          </a:xfrm>
          <a:prstGeom prst="rect">
            <a:avLst/>
          </a:prstGeom>
          <a:no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sp>
        <p:nvSpPr>
          <p:cNvPr id="19" name="Rectángulo: esquinas redondeadas 18">
            <a:extLst>
              <a:ext uri="{FF2B5EF4-FFF2-40B4-BE49-F238E27FC236}">
                <a16:creationId xmlns:a16="http://schemas.microsoft.com/office/drawing/2014/main" id="{91111D34-AB57-EC1F-EBA9-3FC0947EA8B7}"/>
              </a:ext>
            </a:extLst>
          </p:cNvPr>
          <p:cNvSpPr/>
          <p:nvPr/>
        </p:nvSpPr>
        <p:spPr>
          <a:xfrm>
            <a:off x="3001281" y="4097089"/>
            <a:ext cx="3116580" cy="369332"/>
          </a:xfrm>
          <a:prstGeom prst="roundRect">
            <a:avLst/>
          </a:prstGeom>
          <a:solidFill>
            <a:srgbClr val="620C78"/>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100" b="1" dirty="0">
                <a:solidFill>
                  <a:srgbClr val="FFFFFF"/>
                </a:solidFill>
              </a:rPr>
              <a:t>Todos quedan con vecinos, no hay islas, todos tienen la misma cantidad de vecinos</a:t>
            </a:r>
            <a:endParaRPr lang="es-CO" sz="800" b="1" dirty="0">
              <a:solidFill>
                <a:srgbClr val="FFFFFF"/>
              </a:solidFill>
            </a:endParaRPr>
          </a:p>
        </p:txBody>
      </p:sp>
      <p:cxnSp>
        <p:nvCxnSpPr>
          <p:cNvPr id="21" name="Conector recto de flecha 20">
            <a:extLst>
              <a:ext uri="{FF2B5EF4-FFF2-40B4-BE49-F238E27FC236}">
                <a16:creationId xmlns:a16="http://schemas.microsoft.com/office/drawing/2014/main" id="{01D043F0-5512-B7C9-7E79-E4DA93967AE2}"/>
              </a:ext>
            </a:extLst>
          </p:cNvPr>
          <p:cNvCxnSpPr>
            <a:cxnSpLocks/>
          </p:cNvCxnSpPr>
          <p:nvPr/>
        </p:nvCxnSpPr>
        <p:spPr>
          <a:xfrm flipV="1">
            <a:off x="4552197" y="3908329"/>
            <a:ext cx="0" cy="18000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3425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56F44BB-72C9-036D-7399-40B63142E472}"/>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22B82C6E-829F-5695-F89F-1CBFBCF8C20A}"/>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AA8DDAE5-C0B7-F336-E389-6E00DB7A6005}"/>
              </a:ext>
            </a:extLst>
          </p:cNvPr>
          <p:cNvSpPr>
            <a:spLocks noGrp="1"/>
          </p:cNvSpPr>
          <p:nvPr>
            <p:ph type="sldNum" sz="quarter" idx="12"/>
          </p:nvPr>
        </p:nvSpPr>
        <p:spPr/>
        <p:txBody>
          <a:bodyPr/>
          <a:lstStyle/>
          <a:p>
            <a:fld id="{90BC2BA4-81C0-F544-BD72-C8CB9DA7C802}" type="slidenum">
              <a:rPr lang="es-CO" noProof="0" smtClean="0"/>
              <a:pPr/>
              <a:t>14</a:t>
            </a:fld>
            <a:endParaRPr lang="es-CO" noProof="0" dirty="0"/>
          </a:p>
        </p:txBody>
      </p:sp>
      <p:sp>
        <p:nvSpPr>
          <p:cNvPr id="2" name="Título 1">
            <a:extLst>
              <a:ext uri="{FF2B5EF4-FFF2-40B4-BE49-F238E27FC236}">
                <a16:creationId xmlns:a16="http://schemas.microsoft.com/office/drawing/2014/main" id="{642C6AE8-F3DC-1DCB-398C-1BB89D737C52}"/>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Áreas</a:t>
            </a:r>
            <a:endParaRPr lang="es-CO" sz="3200" noProof="0" dirty="0">
              <a:solidFill>
                <a:schemeClr val="accent1"/>
              </a:solidFill>
              <a:latin typeface="Ancizar Serif Extrabold" panose="020A0902070300000003" pitchFamily="18" charset="0"/>
              <a:cs typeface="Ancizar Sans Extrabold"/>
            </a:endParaRPr>
          </a:p>
        </p:txBody>
      </p:sp>
      <p:sp>
        <p:nvSpPr>
          <p:cNvPr id="4" name="Título 1">
            <a:extLst>
              <a:ext uri="{FF2B5EF4-FFF2-40B4-BE49-F238E27FC236}">
                <a16:creationId xmlns:a16="http://schemas.microsoft.com/office/drawing/2014/main" id="{F81EE60C-0524-DAE4-5679-FADE1509D556}"/>
              </a:ext>
            </a:extLst>
          </p:cNvPr>
          <p:cNvSpPr txBox="1">
            <a:spLocks/>
          </p:cNvSpPr>
          <p:nvPr/>
        </p:nvSpPr>
        <p:spPr>
          <a:xfrm>
            <a:off x="306644" y="746514"/>
            <a:ext cx="1951340"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Matriz espacial</a:t>
            </a:r>
            <a:endParaRPr lang="es-ES" sz="1400" spc="300" dirty="0">
              <a:solidFill>
                <a:schemeClr val="accent1"/>
              </a:solidFill>
              <a:latin typeface="Ancizar Sans" panose="020B0602040300000003" pitchFamily="34" charset="0"/>
              <a:cs typeface="Ancizar Serif"/>
            </a:endParaRPr>
          </a:p>
        </p:txBody>
      </p:sp>
      <p:pic>
        <p:nvPicPr>
          <p:cNvPr id="5" name="Imagen 4">
            <a:extLst>
              <a:ext uri="{FF2B5EF4-FFF2-40B4-BE49-F238E27FC236}">
                <a16:creationId xmlns:a16="http://schemas.microsoft.com/office/drawing/2014/main" id="{D6052516-5201-EE0A-242D-8FF39CE81A36}"/>
              </a:ext>
            </a:extLst>
          </p:cNvPr>
          <p:cNvPicPr>
            <a:picLocks noChangeAspect="1"/>
          </p:cNvPicPr>
          <p:nvPr/>
        </p:nvPicPr>
        <p:blipFill>
          <a:blip r:embed="rId3"/>
          <a:srcRect/>
          <a:stretch/>
        </p:blipFill>
        <p:spPr>
          <a:xfrm>
            <a:off x="3030149" y="1590823"/>
            <a:ext cx="5413576" cy="2416872"/>
          </a:xfrm>
          <a:prstGeom prst="rect">
            <a:avLst/>
          </a:prstGeom>
          <a:ln>
            <a:solidFill>
              <a:schemeClr val="accent1"/>
            </a:solidFill>
          </a:ln>
        </p:spPr>
      </p:pic>
      <p:sp>
        <p:nvSpPr>
          <p:cNvPr id="7" name="CuadroTexto 6">
            <a:extLst>
              <a:ext uri="{FF2B5EF4-FFF2-40B4-BE49-F238E27FC236}">
                <a16:creationId xmlns:a16="http://schemas.microsoft.com/office/drawing/2014/main" id="{73A2D109-436C-4B0F-7921-78070C3CC0ED}"/>
              </a:ext>
            </a:extLst>
          </p:cNvPr>
          <p:cNvSpPr txBox="1"/>
          <p:nvPr/>
        </p:nvSpPr>
        <p:spPr>
          <a:xfrm>
            <a:off x="2895317" y="1127204"/>
            <a:ext cx="2981707" cy="280928"/>
          </a:xfrm>
          <a:prstGeom prst="roundRect">
            <a:avLst/>
          </a:prstGeom>
          <a:solidFill>
            <a:srgbClr val="4A095A">
              <a:alpha val="60000"/>
            </a:srgbClr>
          </a:solidFill>
          <a:ln>
            <a:solidFill>
              <a:schemeClr val="accent1"/>
            </a:solidFill>
          </a:ln>
        </p:spPr>
        <p:txBody>
          <a:bodyPr wrap="square" rtlCol="0">
            <a:spAutoFit/>
          </a:bodyPr>
          <a:lstStyle>
            <a:defPPr>
              <a:defRPr lang="es-ES"/>
            </a:defPPr>
            <a:lvl1pPr algn="ctr">
              <a:defRPr sz="900"/>
            </a:lvl1pPr>
          </a:lstStyle>
          <a:p>
            <a:r>
              <a:rPr lang="es-CO" sz="1050" b="1" dirty="0">
                <a:solidFill>
                  <a:srgbClr val="FFFFFF"/>
                </a:solidFill>
              </a:rPr>
              <a:t>Los 5 vecinos más cercanos</a:t>
            </a:r>
          </a:p>
        </p:txBody>
      </p:sp>
      <p:pic>
        <p:nvPicPr>
          <p:cNvPr id="9" name="Imagen 8">
            <a:extLst>
              <a:ext uri="{FF2B5EF4-FFF2-40B4-BE49-F238E27FC236}">
                <a16:creationId xmlns:a16="http://schemas.microsoft.com/office/drawing/2014/main" id="{8A3B6867-BBC9-1E1D-CD03-B10047F5C333}"/>
              </a:ext>
            </a:extLst>
          </p:cNvPr>
          <p:cNvPicPr>
            <a:picLocks noChangeAspect="1"/>
          </p:cNvPicPr>
          <p:nvPr/>
        </p:nvPicPr>
        <p:blipFill>
          <a:blip r:embed="rId4"/>
          <a:stretch>
            <a:fillRect/>
          </a:stretch>
        </p:blipFill>
        <p:spPr>
          <a:xfrm>
            <a:off x="446731" y="1555843"/>
            <a:ext cx="2119922" cy="2486832"/>
          </a:xfrm>
          <a:prstGeom prst="rect">
            <a:avLst/>
          </a:prstGeom>
          <a:ln>
            <a:noFill/>
          </a:ln>
        </p:spPr>
      </p:pic>
      <p:cxnSp>
        <p:nvCxnSpPr>
          <p:cNvPr id="11" name="Conector recto de flecha 10">
            <a:extLst>
              <a:ext uri="{FF2B5EF4-FFF2-40B4-BE49-F238E27FC236}">
                <a16:creationId xmlns:a16="http://schemas.microsoft.com/office/drawing/2014/main" id="{BBE2B8DC-C5E0-C1A6-FE12-29C6A124AC78}"/>
              </a:ext>
            </a:extLst>
          </p:cNvPr>
          <p:cNvCxnSpPr>
            <a:cxnSpLocks/>
            <a:stCxn id="9" idx="3"/>
            <a:endCxn id="5" idx="1"/>
          </p:cNvCxnSpPr>
          <p:nvPr/>
        </p:nvCxnSpPr>
        <p:spPr>
          <a:xfrm>
            <a:off x="2566653" y="2799259"/>
            <a:ext cx="328664"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3525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E08AF-6012-E517-0197-E43C0AB401B9}"/>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18B7557A-538B-8EAD-B743-7CAC339FDBF3}"/>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
        <p:nvSpPr>
          <p:cNvPr id="3" name="Marcador de número de diapositiva 2">
            <a:extLst>
              <a:ext uri="{FF2B5EF4-FFF2-40B4-BE49-F238E27FC236}">
                <a16:creationId xmlns:a16="http://schemas.microsoft.com/office/drawing/2014/main" id="{84F6D528-AB8C-FB18-2763-13E4A04D7ADF}"/>
              </a:ext>
            </a:extLst>
          </p:cNvPr>
          <p:cNvSpPr>
            <a:spLocks noGrp="1"/>
          </p:cNvSpPr>
          <p:nvPr>
            <p:ph type="sldNum" sz="quarter" idx="12"/>
          </p:nvPr>
        </p:nvSpPr>
        <p:spPr/>
        <p:txBody>
          <a:bodyPr/>
          <a:lstStyle/>
          <a:p>
            <a:fld id="{90BC2BA4-81C0-F544-BD72-C8CB9DA7C802}" type="slidenum">
              <a:rPr lang="es-ES" smtClean="0"/>
              <a:pPr/>
              <a:t>15</a:t>
            </a:fld>
            <a:endParaRPr lang="es-ES" dirty="0"/>
          </a:p>
        </p:txBody>
      </p:sp>
      <p:sp>
        <p:nvSpPr>
          <p:cNvPr id="9" name="Título 1">
            <a:extLst>
              <a:ext uri="{FF2B5EF4-FFF2-40B4-BE49-F238E27FC236}">
                <a16:creationId xmlns:a16="http://schemas.microsoft.com/office/drawing/2014/main" id="{88064E7D-40A8-287A-ABC7-99F1A66A9BAA}"/>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Áreas</a:t>
            </a:r>
            <a:endParaRPr lang="es-CO" sz="3200" noProof="0" dirty="0">
              <a:solidFill>
                <a:schemeClr val="accent1"/>
              </a:solidFill>
              <a:latin typeface="Ancizar Serif Extrabold" panose="020A0902070300000003" pitchFamily="18" charset="0"/>
              <a:cs typeface="Ancizar Sans Extrabold"/>
            </a:endParaRPr>
          </a:p>
        </p:txBody>
      </p:sp>
      <p:sp>
        <p:nvSpPr>
          <p:cNvPr id="11" name="Título 1">
            <a:extLst>
              <a:ext uri="{FF2B5EF4-FFF2-40B4-BE49-F238E27FC236}">
                <a16:creationId xmlns:a16="http://schemas.microsoft.com/office/drawing/2014/main" id="{46A44751-5514-CF31-8153-99D1E9C88119}"/>
              </a:ext>
            </a:extLst>
          </p:cNvPr>
          <p:cNvSpPr txBox="1">
            <a:spLocks/>
          </p:cNvSpPr>
          <p:nvPr/>
        </p:nvSpPr>
        <p:spPr>
          <a:xfrm>
            <a:off x="316004" y="746514"/>
            <a:ext cx="1951340"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MORAN</a:t>
            </a:r>
            <a:endParaRPr lang="es-ES" sz="1400" spc="300" dirty="0">
              <a:solidFill>
                <a:schemeClr val="accent1"/>
              </a:solidFill>
              <a:latin typeface="Ancizar Sans" panose="020B0602040300000003" pitchFamily="34" charset="0"/>
              <a:cs typeface="Ancizar Serif"/>
            </a:endParaRPr>
          </a:p>
        </p:txBody>
      </p:sp>
      <p:pic>
        <p:nvPicPr>
          <p:cNvPr id="13" name="Imagen 12">
            <a:extLst>
              <a:ext uri="{FF2B5EF4-FFF2-40B4-BE49-F238E27FC236}">
                <a16:creationId xmlns:a16="http://schemas.microsoft.com/office/drawing/2014/main" id="{3754CB23-9B7B-C51D-C291-6D81103F0AE8}"/>
              </a:ext>
            </a:extLst>
          </p:cNvPr>
          <p:cNvPicPr>
            <a:picLocks noChangeAspect="1"/>
          </p:cNvPicPr>
          <p:nvPr/>
        </p:nvPicPr>
        <p:blipFill>
          <a:blip r:embed="rId3"/>
          <a:srcRect/>
          <a:stretch/>
        </p:blipFill>
        <p:spPr>
          <a:xfrm>
            <a:off x="316004" y="1299374"/>
            <a:ext cx="6128582" cy="2918033"/>
          </a:xfrm>
          <a:prstGeom prst="rect">
            <a:avLst/>
          </a:prstGeom>
          <a:ln>
            <a:solidFill>
              <a:srgbClr val="620C78"/>
            </a:solidFill>
          </a:ln>
        </p:spPr>
      </p:pic>
      <p:grpSp>
        <p:nvGrpSpPr>
          <p:cNvPr id="2" name="Grupo 1">
            <a:extLst>
              <a:ext uri="{FF2B5EF4-FFF2-40B4-BE49-F238E27FC236}">
                <a16:creationId xmlns:a16="http://schemas.microsoft.com/office/drawing/2014/main" id="{4EBD7C34-9FA2-2215-9578-E829355204CB}"/>
              </a:ext>
            </a:extLst>
          </p:cNvPr>
          <p:cNvGrpSpPr/>
          <p:nvPr/>
        </p:nvGrpSpPr>
        <p:grpSpPr>
          <a:xfrm>
            <a:off x="6264869" y="1362675"/>
            <a:ext cx="544318" cy="455934"/>
            <a:chOff x="7451427" y="2746608"/>
            <a:chExt cx="1573488" cy="712564"/>
          </a:xfrm>
        </p:grpSpPr>
        <p:sp>
          <p:nvSpPr>
            <p:cNvPr id="4" name="Rectángulo: esquinas redondeadas 3">
              <a:extLst>
                <a:ext uri="{FF2B5EF4-FFF2-40B4-BE49-F238E27FC236}">
                  <a16:creationId xmlns:a16="http://schemas.microsoft.com/office/drawing/2014/main" id="{B5DA29EA-96CD-082E-0403-0C9F555E11F7}"/>
                </a:ext>
              </a:extLst>
            </p:cNvPr>
            <p:cNvSpPr/>
            <p:nvPr/>
          </p:nvSpPr>
          <p:spPr>
            <a:xfrm>
              <a:off x="7451427" y="2746610"/>
              <a:ext cx="1573486" cy="71256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grpSp>
          <p:nvGrpSpPr>
            <p:cNvPr id="6" name="Grupo 5">
              <a:extLst>
                <a:ext uri="{FF2B5EF4-FFF2-40B4-BE49-F238E27FC236}">
                  <a16:creationId xmlns:a16="http://schemas.microsoft.com/office/drawing/2014/main" id="{A3737783-C7AC-1786-2BC2-000F08FBE925}"/>
                </a:ext>
              </a:extLst>
            </p:cNvPr>
            <p:cNvGrpSpPr/>
            <p:nvPr/>
          </p:nvGrpSpPr>
          <p:grpSpPr>
            <a:xfrm>
              <a:off x="7451429" y="2746608"/>
              <a:ext cx="1573486" cy="712563"/>
              <a:chOff x="435670" y="2539371"/>
              <a:chExt cx="1819743" cy="712563"/>
            </a:xfrm>
          </p:grpSpPr>
          <p:sp>
            <p:nvSpPr>
              <p:cNvPr id="7" name="CuadroTexto 6">
                <a:extLst>
                  <a:ext uri="{FF2B5EF4-FFF2-40B4-BE49-F238E27FC236}">
                    <a16:creationId xmlns:a16="http://schemas.microsoft.com/office/drawing/2014/main" id="{F5FC1F10-781D-0FC5-F3A5-80E5B88AF200}"/>
                  </a:ext>
                </a:extLst>
              </p:cNvPr>
              <p:cNvSpPr txBox="1"/>
              <p:nvPr/>
            </p:nvSpPr>
            <p:spPr>
              <a:xfrm>
                <a:off x="435670" y="2719750"/>
                <a:ext cx="1819741" cy="532184"/>
              </a:xfrm>
              <a:prstGeom prst="roundRect">
                <a:avLst/>
              </a:prstGeom>
              <a:solidFill>
                <a:srgbClr val="FFB93E">
                  <a:alpha val="50196"/>
                </a:srgbClr>
              </a:solidFill>
              <a:ln>
                <a:solidFill>
                  <a:schemeClr val="accent1">
                    <a:lumMod val="75000"/>
                  </a:schemeClr>
                </a:solidFill>
              </a:ln>
            </p:spPr>
            <p:txBody>
              <a:bodyPr wrap="square" rtlCol="0">
                <a:spAutoFit/>
              </a:bodyPr>
              <a:lstStyle/>
              <a:p>
                <a:pPr algn="ctr"/>
                <a:endParaRPr lang="es-CO" sz="600" dirty="0"/>
              </a:p>
              <a:p>
                <a:pPr algn="ctr"/>
                <a:r>
                  <a:rPr lang="es-CO" sz="800" dirty="0"/>
                  <a:t>0.001</a:t>
                </a:r>
              </a:p>
            </p:txBody>
          </p:sp>
          <p:sp>
            <p:nvSpPr>
              <p:cNvPr id="12" name="CuadroTexto 11">
                <a:extLst>
                  <a:ext uri="{FF2B5EF4-FFF2-40B4-BE49-F238E27FC236}">
                    <a16:creationId xmlns:a16="http://schemas.microsoft.com/office/drawing/2014/main" id="{721EED31-77E7-6A57-023D-557E93C022F0}"/>
                  </a:ext>
                </a:extLst>
              </p:cNvPr>
              <p:cNvSpPr txBox="1"/>
              <p:nvPr/>
            </p:nvSpPr>
            <p:spPr>
              <a:xfrm>
                <a:off x="435670" y="2539371"/>
                <a:ext cx="1819743" cy="360758"/>
              </a:xfrm>
              <a:prstGeom prst="rect">
                <a:avLst/>
              </a:prstGeom>
              <a:solidFill>
                <a:schemeClr val="accent1">
                  <a:lumMod val="20000"/>
                  <a:lumOff val="80000"/>
                </a:schemeClr>
              </a:solidFill>
              <a:ln>
                <a:solidFill>
                  <a:schemeClr val="accent1">
                    <a:lumMod val="75000"/>
                  </a:schemeClr>
                </a:solidFill>
              </a:ln>
            </p:spPr>
            <p:txBody>
              <a:bodyPr wrap="square" rtlCol="0">
                <a:spAutoFit/>
              </a:bodyPr>
              <a:lstStyle>
                <a:defPPr>
                  <a:defRPr lang="es-ES"/>
                </a:defPPr>
                <a:lvl1pPr algn="ctr">
                  <a:defRPr sz="1400"/>
                </a:lvl1pPr>
              </a:lstStyle>
              <a:p>
                <a:r>
                  <a:rPr lang="es-CO" sz="900" b="1" dirty="0"/>
                  <a:t>p</a:t>
                </a:r>
              </a:p>
            </p:txBody>
          </p:sp>
        </p:grpSp>
      </p:grpSp>
      <p:sp>
        <p:nvSpPr>
          <p:cNvPr id="19" name="Rectángulo: esquinas redondeadas 18">
            <a:extLst>
              <a:ext uri="{FF2B5EF4-FFF2-40B4-BE49-F238E27FC236}">
                <a16:creationId xmlns:a16="http://schemas.microsoft.com/office/drawing/2014/main" id="{EB6F58F9-B40A-BF0D-6BE9-4DFD95FCD4BD}"/>
              </a:ext>
            </a:extLst>
          </p:cNvPr>
          <p:cNvSpPr/>
          <p:nvPr/>
        </p:nvSpPr>
        <p:spPr>
          <a:xfrm>
            <a:off x="6911065" y="1299374"/>
            <a:ext cx="1995210" cy="2864461"/>
          </a:xfrm>
          <a:prstGeom prst="roundRect">
            <a:avLst/>
          </a:prstGeom>
          <a:solidFill>
            <a:srgbClr val="620C78"/>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100" b="1" dirty="0">
                <a:solidFill>
                  <a:srgbClr val="FFFFFF"/>
                </a:solidFill>
              </a:rPr>
              <a:t>El número de movimientos en masa que se presentan en los barrios de Medellín no es aleatorio.</a:t>
            </a:r>
          </a:p>
          <a:p>
            <a:pPr algn="ctr"/>
            <a:endParaRPr lang="es-CO" sz="1100" b="1" dirty="0">
              <a:solidFill>
                <a:srgbClr val="FFFFFF"/>
              </a:solidFill>
            </a:endParaRPr>
          </a:p>
          <a:p>
            <a:pPr algn="ctr"/>
            <a:r>
              <a:rPr lang="es-CO" sz="1100" b="1" dirty="0">
                <a:solidFill>
                  <a:srgbClr val="FFFFFF"/>
                </a:solidFill>
              </a:rPr>
              <a:t>Existe autocorrelación espacial positiva significativa (I = 0.33; p = 0.001), indicando que los barrios con alta (o baja) cantidad de movimientos tienden a localizarse cerca de barrios con valores similares.</a:t>
            </a:r>
          </a:p>
        </p:txBody>
      </p:sp>
    </p:spTree>
    <p:extLst>
      <p:ext uri="{BB962C8B-B14F-4D97-AF65-F5344CB8AC3E}">
        <p14:creationId xmlns:p14="http://schemas.microsoft.com/office/powerpoint/2010/main" val="1066288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1795379-2AB0-0241-91DD-08CBCFA1BA92}"/>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ED44C8CC-A7B0-C0DE-20D8-8A9FFD3CDE6D}"/>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E1C6B2CF-D30B-0C4C-6D6C-BDE368A9B8C4}"/>
              </a:ext>
            </a:extLst>
          </p:cNvPr>
          <p:cNvSpPr>
            <a:spLocks noGrp="1"/>
          </p:cNvSpPr>
          <p:nvPr>
            <p:ph type="sldNum" sz="quarter" idx="12"/>
          </p:nvPr>
        </p:nvSpPr>
        <p:spPr/>
        <p:txBody>
          <a:bodyPr/>
          <a:lstStyle/>
          <a:p>
            <a:fld id="{90BC2BA4-81C0-F544-BD72-C8CB9DA7C802}" type="slidenum">
              <a:rPr lang="es-CO" noProof="0" smtClean="0"/>
              <a:pPr/>
              <a:t>16</a:t>
            </a:fld>
            <a:endParaRPr lang="es-CO" noProof="0" dirty="0"/>
          </a:p>
        </p:txBody>
      </p:sp>
      <p:sp>
        <p:nvSpPr>
          <p:cNvPr id="17" name="Título 1">
            <a:extLst>
              <a:ext uri="{FF2B5EF4-FFF2-40B4-BE49-F238E27FC236}">
                <a16:creationId xmlns:a16="http://schemas.microsoft.com/office/drawing/2014/main" id="{0C9ED86B-33C7-E4DA-9DDA-C6D91C394CBC}"/>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Áreas</a:t>
            </a:r>
            <a:endParaRPr lang="es-CO" sz="3200" noProof="0" dirty="0">
              <a:solidFill>
                <a:schemeClr val="accent1"/>
              </a:solidFill>
              <a:latin typeface="Ancizar Serif Extrabold" panose="020A0902070300000003" pitchFamily="18" charset="0"/>
              <a:cs typeface="Ancizar Sans Extrabold"/>
            </a:endParaRPr>
          </a:p>
        </p:txBody>
      </p:sp>
      <p:sp>
        <p:nvSpPr>
          <p:cNvPr id="19" name="Título 1">
            <a:extLst>
              <a:ext uri="{FF2B5EF4-FFF2-40B4-BE49-F238E27FC236}">
                <a16:creationId xmlns:a16="http://schemas.microsoft.com/office/drawing/2014/main" id="{D005B450-75F7-EAD9-D5BA-C0EAF5169107}"/>
              </a:ext>
            </a:extLst>
          </p:cNvPr>
          <p:cNvSpPr txBox="1">
            <a:spLocks/>
          </p:cNvSpPr>
          <p:nvPr/>
        </p:nvSpPr>
        <p:spPr>
          <a:xfrm>
            <a:off x="316004" y="746514"/>
            <a:ext cx="1951340"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LISA</a:t>
            </a:r>
            <a:endParaRPr lang="es-ES" sz="1400" spc="300" dirty="0">
              <a:solidFill>
                <a:schemeClr val="accent1"/>
              </a:solidFill>
              <a:latin typeface="Ancizar Sans" panose="020B0602040300000003" pitchFamily="34" charset="0"/>
              <a:cs typeface="Ancizar Serif"/>
            </a:endParaRPr>
          </a:p>
        </p:txBody>
      </p:sp>
      <p:pic>
        <p:nvPicPr>
          <p:cNvPr id="22" name="Imagen 21">
            <a:extLst>
              <a:ext uri="{FF2B5EF4-FFF2-40B4-BE49-F238E27FC236}">
                <a16:creationId xmlns:a16="http://schemas.microsoft.com/office/drawing/2014/main" id="{3D6A7BBF-BF5C-5238-BD17-E4851EF8400F}"/>
              </a:ext>
            </a:extLst>
          </p:cNvPr>
          <p:cNvPicPr>
            <a:picLocks noChangeAspect="1"/>
          </p:cNvPicPr>
          <p:nvPr/>
        </p:nvPicPr>
        <p:blipFill>
          <a:blip r:embed="rId3"/>
          <a:srcRect/>
          <a:stretch/>
        </p:blipFill>
        <p:spPr>
          <a:xfrm>
            <a:off x="4619352" y="746514"/>
            <a:ext cx="3843765" cy="3404588"/>
          </a:xfrm>
          <a:prstGeom prst="rect">
            <a:avLst/>
          </a:prstGeom>
          <a:ln>
            <a:solidFill>
              <a:srgbClr val="620C78"/>
            </a:solidFill>
          </a:ln>
        </p:spPr>
      </p:pic>
      <p:pic>
        <p:nvPicPr>
          <p:cNvPr id="23" name="Imagen 22">
            <a:extLst>
              <a:ext uri="{FF2B5EF4-FFF2-40B4-BE49-F238E27FC236}">
                <a16:creationId xmlns:a16="http://schemas.microsoft.com/office/drawing/2014/main" id="{A613F728-28AC-58C1-B2C5-0EEF90BAC02C}"/>
              </a:ext>
            </a:extLst>
          </p:cNvPr>
          <p:cNvPicPr>
            <a:picLocks noChangeAspect="1"/>
          </p:cNvPicPr>
          <p:nvPr/>
        </p:nvPicPr>
        <p:blipFill>
          <a:blip r:embed="rId4"/>
          <a:stretch>
            <a:fillRect/>
          </a:stretch>
        </p:blipFill>
        <p:spPr>
          <a:xfrm>
            <a:off x="539558" y="1018274"/>
            <a:ext cx="3455572" cy="3229262"/>
          </a:xfrm>
          <a:prstGeom prst="rect">
            <a:avLst/>
          </a:prstGeom>
        </p:spPr>
      </p:pic>
      <p:cxnSp>
        <p:nvCxnSpPr>
          <p:cNvPr id="25" name="Conector recto de flecha 24">
            <a:extLst>
              <a:ext uri="{FF2B5EF4-FFF2-40B4-BE49-F238E27FC236}">
                <a16:creationId xmlns:a16="http://schemas.microsoft.com/office/drawing/2014/main" id="{C4722135-A59B-8C9F-25C5-C78E08BE6623}"/>
              </a:ext>
            </a:extLst>
          </p:cNvPr>
          <p:cNvCxnSpPr>
            <a:cxnSpLocks/>
          </p:cNvCxnSpPr>
          <p:nvPr/>
        </p:nvCxnSpPr>
        <p:spPr>
          <a:xfrm flipV="1">
            <a:off x="3995130" y="2853813"/>
            <a:ext cx="576870" cy="44245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8" name="Rectángulo 27">
            <a:extLst>
              <a:ext uri="{FF2B5EF4-FFF2-40B4-BE49-F238E27FC236}">
                <a16:creationId xmlns:a16="http://schemas.microsoft.com/office/drawing/2014/main" id="{7590371E-872F-F7C2-13A9-2E28BAC1C64C}"/>
              </a:ext>
            </a:extLst>
          </p:cNvPr>
          <p:cNvSpPr/>
          <p:nvPr/>
        </p:nvSpPr>
        <p:spPr>
          <a:xfrm>
            <a:off x="2337619" y="2757948"/>
            <a:ext cx="1657511" cy="1489588"/>
          </a:xfrm>
          <a:prstGeom prst="rect">
            <a:avLst/>
          </a:prstGeom>
          <a:noFill/>
          <a:ln>
            <a:solidFill>
              <a:srgbClr val="620C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198906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8677C-4741-6F92-28B0-B8BD8586D95C}"/>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635C0F93-CABD-60AB-EFD8-F84BC7E72C42}"/>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
        <p:nvSpPr>
          <p:cNvPr id="3" name="Marcador de número de diapositiva 2">
            <a:extLst>
              <a:ext uri="{FF2B5EF4-FFF2-40B4-BE49-F238E27FC236}">
                <a16:creationId xmlns:a16="http://schemas.microsoft.com/office/drawing/2014/main" id="{9F467180-5335-5A64-3508-E9F356539150}"/>
              </a:ext>
            </a:extLst>
          </p:cNvPr>
          <p:cNvSpPr>
            <a:spLocks noGrp="1"/>
          </p:cNvSpPr>
          <p:nvPr>
            <p:ph type="sldNum" sz="quarter" idx="12"/>
          </p:nvPr>
        </p:nvSpPr>
        <p:spPr/>
        <p:txBody>
          <a:bodyPr/>
          <a:lstStyle/>
          <a:p>
            <a:fld id="{90BC2BA4-81C0-F544-BD72-C8CB9DA7C802}" type="slidenum">
              <a:rPr lang="es-ES" smtClean="0"/>
              <a:pPr/>
              <a:t>17</a:t>
            </a:fld>
            <a:endParaRPr lang="es-ES" dirty="0"/>
          </a:p>
        </p:txBody>
      </p:sp>
      <p:pic>
        <p:nvPicPr>
          <p:cNvPr id="18" name="Imagen 17">
            <a:extLst>
              <a:ext uri="{FF2B5EF4-FFF2-40B4-BE49-F238E27FC236}">
                <a16:creationId xmlns:a16="http://schemas.microsoft.com/office/drawing/2014/main" id="{1139B1BF-BDF8-3B68-0F1A-382A15071C45}"/>
              </a:ext>
            </a:extLst>
          </p:cNvPr>
          <p:cNvPicPr>
            <a:picLocks noChangeAspect="1"/>
          </p:cNvPicPr>
          <p:nvPr/>
        </p:nvPicPr>
        <p:blipFill>
          <a:blip r:embed="rId3"/>
          <a:srcRect/>
          <a:stretch/>
        </p:blipFill>
        <p:spPr>
          <a:xfrm>
            <a:off x="2691155" y="3786835"/>
            <a:ext cx="2085143" cy="750179"/>
          </a:xfrm>
          <a:prstGeom prst="rect">
            <a:avLst/>
          </a:prstGeom>
        </p:spPr>
      </p:pic>
      <p:pic>
        <p:nvPicPr>
          <p:cNvPr id="20" name="Imagen 19">
            <a:extLst>
              <a:ext uri="{FF2B5EF4-FFF2-40B4-BE49-F238E27FC236}">
                <a16:creationId xmlns:a16="http://schemas.microsoft.com/office/drawing/2014/main" id="{C7B6A291-D528-BAB6-CBA5-BBC4FE3C3ECB}"/>
              </a:ext>
            </a:extLst>
          </p:cNvPr>
          <p:cNvPicPr>
            <a:picLocks noChangeAspect="1"/>
          </p:cNvPicPr>
          <p:nvPr/>
        </p:nvPicPr>
        <p:blipFill>
          <a:blip r:embed="rId4"/>
          <a:stretch>
            <a:fillRect/>
          </a:stretch>
        </p:blipFill>
        <p:spPr>
          <a:xfrm>
            <a:off x="6334631" y="3790597"/>
            <a:ext cx="2085142" cy="742653"/>
          </a:xfrm>
          <a:prstGeom prst="rect">
            <a:avLst/>
          </a:prstGeom>
        </p:spPr>
      </p:pic>
      <p:pic>
        <p:nvPicPr>
          <p:cNvPr id="22" name="Imagen 21">
            <a:extLst>
              <a:ext uri="{FF2B5EF4-FFF2-40B4-BE49-F238E27FC236}">
                <a16:creationId xmlns:a16="http://schemas.microsoft.com/office/drawing/2014/main" id="{59A3681E-19AA-9ACC-095E-CF711D5467C6}"/>
              </a:ext>
            </a:extLst>
          </p:cNvPr>
          <p:cNvPicPr>
            <a:picLocks noChangeAspect="1"/>
          </p:cNvPicPr>
          <p:nvPr/>
        </p:nvPicPr>
        <p:blipFill>
          <a:blip r:embed="rId5"/>
          <a:srcRect/>
          <a:stretch/>
        </p:blipFill>
        <p:spPr>
          <a:xfrm>
            <a:off x="1984745" y="830080"/>
            <a:ext cx="6858000" cy="3067446"/>
          </a:xfrm>
          <a:prstGeom prst="rect">
            <a:avLst/>
          </a:prstGeom>
        </p:spPr>
      </p:pic>
      <p:sp>
        <p:nvSpPr>
          <p:cNvPr id="24" name="Título 1">
            <a:extLst>
              <a:ext uri="{FF2B5EF4-FFF2-40B4-BE49-F238E27FC236}">
                <a16:creationId xmlns:a16="http://schemas.microsoft.com/office/drawing/2014/main" id="{5AA7403D-DE91-0ED1-923A-71D1F6231EB4}"/>
              </a:ext>
            </a:extLst>
          </p:cNvPr>
          <p:cNvSpPr txBox="1">
            <a:spLocks/>
          </p:cNvSpPr>
          <p:nvPr/>
        </p:nvSpPr>
        <p:spPr>
          <a:xfrm>
            <a:off x="301255" y="291898"/>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Áreas</a:t>
            </a:r>
            <a:endParaRPr lang="es-CO" sz="3200" noProof="0" dirty="0">
              <a:solidFill>
                <a:schemeClr val="accent1"/>
              </a:solidFill>
              <a:latin typeface="Ancizar Serif Extrabold" panose="020A0902070300000003" pitchFamily="18" charset="0"/>
              <a:cs typeface="Ancizar Sans Extrabold"/>
            </a:endParaRPr>
          </a:p>
        </p:txBody>
      </p:sp>
      <p:sp>
        <p:nvSpPr>
          <p:cNvPr id="26" name="Título 1">
            <a:extLst>
              <a:ext uri="{FF2B5EF4-FFF2-40B4-BE49-F238E27FC236}">
                <a16:creationId xmlns:a16="http://schemas.microsoft.com/office/drawing/2014/main" id="{F4426881-267B-A6D1-4A53-D7A92560C9A3}"/>
              </a:ext>
            </a:extLst>
          </p:cNvPr>
          <p:cNvSpPr txBox="1">
            <a:spLocks/>
          </p:cNvSpPr>
          <p:nvPr/>
        </p:nvSpPr>
        <p:spPr>
          <a:xfrm>
            <a:off x="316004" y="755902"/>
            <a:ext cx="1951340"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Cluster espacial</a:t>
            </a:r>
            <a:endParaRPr lang="es-ES" sz="1400" spc="300" dirty="0">
              <a:solidFill>
                <a:schemeClr val="accent1"/>
              </a:solidFill>
              <a:latin typeface="Ancizar Sans" panose="020B0602040300000003" pitchFamily="34" charset="0"/>
              <a:cs typeface="Ancizar Serif"/>
            </a:endParaRPr>
          </a:p>
        </p:txBody>
      </p:sp>
      <p:sp>
        <p:nvSpPr>
          <p:cNvPr id="28" name="Rectángulo: esquinas redondeadas 27">
            <a:extLst>
              <a:ext uri="{FF2B5EF4-FFF2-40B4-BE49-F238E27FC236}">
                <a16:creationId xmlns:a16="http://schemas.microsoft.com/office/drawing/2014/main" id="{E5CC4951-625A-893E-5745-939BA3E64D3B}"/>
              </a:ext>
            </a:extLst>
          </p:cNvPr>
          <p:cNvSpPr/>
          <p:nvPr/>
        </p:nvSpPr>
        <p:spPr>
          <a:xfrm>
            <a:off x="301256" y="1761867"/>
            <a:ext cx="1495399" cy="2058262"/>
          </a:xfrm>
          <a:prstGeom prst="roundRect">
            <a:avLst/>
          </a:prstGeom>
          <a:solidFill>
            <a:srgbClr val="620C78"/>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100" b="1" dirty="0">
                <a:solidFill>
                  <a:srgbClr val="FFFFFF"/>
                </a:solidFill>
              </a:rPr>
              <a:t>SKATER produce regiones espacialmente continuas, mientras que K-</a:t>
            </a:r>
            <a:r>
              <a:rPr lang="es-ES" sz="1100" b="1" noProof="1">
                <a:solidFill>
                  <a:srgbClr val="FFFFFF"/>
                </a:solidFill>
              </a:rPr>
              <a:t>means</a:t>
            </a:r>
            <a:r>
              <a:rPr lang="es-ES" sz="1100" b="1" dirty="0">
                <a:solidFill>
                  <a:srgbClr val="FFFFFF"/>
                </a:solidFill>
              </a:rPr>
              <a:t> no considera la contigüidad espacial.</a:t>
            </a:r>
            <a:endParaRPr lang="es-CO" sz="1100" b="1" dirty="0">
              <a:solidFill>
                <a:srgbClr val="FFFFFF"/>
              </a:solidFill>
            </a:endParaRPr>
          </a:p>
        </p:txBody>
      </p:sp>
    </p:spTree>
    <p:extLst>
      <p:ext uri="{BB962C8B-B14F-4D97-AF65-F5344CB8AC3E}">
        <p14:creationId xmlns:p14="http://schemas.microsoft.com/office/powerpoint/2010/main" val="953200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4A07012-7663-C59F-B212-85C24A2153A5}"/>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3B7F5635-D589-0EA8-D356-E743725EB070}"/>
              </a:ext>
            </a:extLst>
          </p:cNvPr>
          <p:cNvSpPr txBox="1">
            <a:spLocks/>
          </p:cNvSpPr>
          <p:nvPr/>
        </p:nvSpPr>
        <p:spPr>
          <a:xfrm>
            <a:off x="2730878" y="2138253"/>
            <a:ext cx="1983075"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Modelos</a:t>
            </a:r>
          </a:p>
        </p:txBody>
      </p:sp>
      <p:sp>
        <p:nvSpPr>
          <p:cNvPr id="10" name="CuadroTexto 9">
            <a:extLst>
              <a:ext uri="{FF2B5EF4-FFF2-40B4-BE49-F238E27FC236}">
                <a16:creationId xmlns:a16="http://schemas.microsoft.com/office/drawing/2014/main" id="{1E7DAC6B-826D-B760-3233-D8380B50E3A5}"/>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CBC81F0F-7F38-5E3C-3E8C-552D5841F618}"/>
              </a:ext>
            </a:extLst>
          </p:cNvPr>
          <p:cNvSpPr>
            <a:spLocks noGrp="1"/>
          </p:cNvSpPr>
          <p:nvPr>
            <p:ph type="sldNum" sz="quarter" idx="12"/>
          </p:nvPr>
        </p:nvSpPr>
        <p:spPr/>
        <p:txBody>
          <a:bodyPr/>
          <a:lstStyle/>
          <a:p>
            <a:fld id="{90BC2BA4-81C0-F544-BD72-C8CB9DA7C802}" type="slidenum">
              <a:rPr lang="es-CO" noProof="0" smtClean="0"/>
              <a:pPr/>
              <a:t>18</a:t>
            </a:fld>
            <a:endParaRPr lang="es-CO" noProof="0" dirty="0"/>
          </a:p>
        </p:txBody>
      </p:sp>
      <p:pic>
        <p:nvPicPr>
          <p:cNvPr id="2" name="Imagen 1" descr="modelos predictivos ">
            <a:extLst>
              <a:ext uri="{FF2B5EF4-FFF2-40B4-BE49-F238E27FC236}">
                <a16:creationId xmlns:a16="http://schemas.microsoft.com/office/drawing/2014/main" id="{E84792B3-401E-4EBF-86A5-F7E71239E9CC}"/>
              </a:ext>
            </a:extLst>
          </p:cNvPr>
          <p:cNvPicPr>
            <a:picLocks noChangeAspect="1"/>
          </p:cNvPicPr>
          <p:nvPr/>
        </p:nvPicPr>
        <p:blipFill>
          <a:blip r:embed="rId3"/>
          <a:stretch>
            <a:fillRect/>
          </a:stretch>
        </p:blipFill>
        <p:spPr>
          <a:xfrm>
            <a:off x="4713953" y="1706203"/>
            <a:ext cx="1440000" cy="1440000"/>
          </a:xfrm>
          <a:prstGeom prst="rect">
            <a:avLst/>
          </a:prstGeom>
        </p:spPr>
      </p:pic>
    </p:spTree>
    <p:extLst>
      <p:ext uri="{BB962C8B-B14F-4D97-AF65-F5344CB8AC3E}">
        <p14:creationId xmlns:p14="http://schemas.microsoft.com/office/powerpoint/2010/main" val="959093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73D16-8CD0-2A50-DE60-7FDD68236D45}"/>
            </a:ext>
          </a:extLst>
        </p:cNvPr>
        <p:cNvGrpSpPr/>
        <p:nvPr/>
      </p:nvGrpSpPr>
      <p:grpSpPr>
        <a:xfrm>
          <a:off x="0" y="0"/>
          <a:ext cx="0" cy="0"/>
          <a:chOff x="0" y="0"/>
          <a:chExt cx="0" cy="0"/>
        </a:xfrm>
      </p:grpSpPr>
      <p:sp>
        <p:nvSpPr>
          <p:cNvPr id="16" name="Rectángulo 15">
            <a:extLst>
              <a:ext uri="{FF2B5EF4-FFF2-40B4-BE49-F238E27FC236}">
                <a16:creationId xmlns:a16="http://schemas.microsoft.com/office/drawing/2014/main" id="{965DB0E3-0698-C346-96F6-0A80A0B8EA20}"/>
              </a:ext>
            </a:extLst>
          </p:cNvPr>
          <p:cNvSpPr/>
          <p:nvPr/>
        </p:nvSpPr>
        <p:spPr>
          <a:xfrm>
            <a:off x="119085" y="1727383"/>
            <a:ext cx="3322214" cy="1887794"/>
          </a:xfrm>
          <a:prstGeom prst="rect">
            <a:avLst/>
          </a:prstGeom>
          <a:solidFill>
            <a:srgbClr val="4A095A">
              <a:alpha val="50196"/>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sp>
        <p:nvSpPr>
          <p:cNvPr id="10" name="CuadroTexto 9">
            <a:extLst>
              <a:ext uri="{FF2B5EF4-FFF2-40B4-BE49-F238E27FC236}">
                <a16:creationId xmlns:a16="http://schemas.microsoft.com/office/drawing/2014/main" id="{753B4F78-3171-F168-839B-DE44007B465C}"/>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
        <p:nvSpPr>
          <p:cNvPr id="3" name="Marcador de número de diapositiva 2">
            <a:extLst>
              <a:ext uri="{FF2B5EF4-FFF2-40B4-BE49-F238E27FC236}">
                <a16:creationId xmlns:a16="http://schemas.microsoft.com/office/drawing/2014/main" id="{38F2466A-B007-4ECE-0F4B-B44A54E85B3B}"/>
              </a:ext>
            </a:extLst>
          </p:cNvPr>
          <p:cNvSpPr>
            <a:spLocks noGrp="1"/>
          </p:cNvSpPr>
          <p:nvPr>
            <p:ph type="sldNum" sz="quarter" idx="12"/>
          </p:nvPr>
        </p:nvSpPr>
        <p:spPr/>
        <p:txBody>
          <a:bodyPr/>
          <a:lstStyle/>
          <a:p>
            <a:fld id="{90BC2BA4-81C0-F544-BD72-C8CB9DA7C802}" type="slidenum">
              <a:rPr lang="es-ES" smtClean="0"/>
              <a:pPr/>
              <a:t>19</a:t>
            </a:fld>
            <a:endParaRPr lang="es-ES" dirty="0"/>
          </a:p>
        </p:txBody>
      </p:sp>
      <p:pic>
        <p:nvPicPr>
          <p:cNvPr id="7" name="Imagen 6">
            <a:extLst>
              <a:ext uri="{FF2B5EF4-FFF2-40B4-BE49-F238E27FC236}">
                <a16:creationId xmlns:a16="http://schemas.microsoft.com/office/drawing/2014/main" id="{D19C3C3C-0077-CDB3-A9C5-89DC73C9EC04}"/>
              </a:ext>
            </a:extLst>
          </p:cNvPr>
          <p:cNvPicPr>
            <a:picLocks noChangeAspect="1"/>
          </p:cNvPicPr>
          <p:nvPr/>
        </p:nvPicPr>
        <p:blipFill>
          <a:blip r:embed="rId3"/>
          <a:srcRect/>
          <a:stretch/>
        </p:blipFill>
        <p:spPr>
          <a:xfrm>
            <a:off x="3599281" y="804034"/>
            <a:ext cx="5444531" cy="3613355"/>
          </a:xfrm>
          <a:prstGeom prst="rect">
            <a:avLst/>
          </a:prstGeom>
        </p:spPr>
      </p:pic>
      <p:sp>
        <p:nvSpPr>
          <p:cNvPr id="6" name="Título 1">
            <a:extLst>
              <a:ext uri="{FF2B5EF4-FFF2-40B4-BE49-F238E27FC236}">
                <a16:creationId xmlns:a16="http://schemas.microsoft.com/office/drawing/2014/main" id="{8C0512D7-B0A8-DB8E-3BA7-E265A6936783}"/>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Modelo</a:t>
            </a:r>
            <a:endParaRPr lang="es-CO" sz="3200" noProof="0" dirty="0">
              <a:solidFill>
                <a:schemeClr val="accent1"/>
              </a:solidFill>
              <a:latin typeface="Ancizar Serif Extrabold" panose="020A0902070300000003" pitchFamily="18" charset="0"/>
              <a:cs typeface="Ancizar Sans Extrabold"/>
            </a:endParaRPr>
          </a:p>
        </p:txBody>
      </p:sp>
      <p:sp>
        <p:nvSpPr>
          <p:cNvPr id="13" name="Título 1">
            <a:extLst>
              <a:ext uri="{FF2B5EF4-FFF2-40B4-BE49-F238E27FC236}">
                <a16:creationId xmlns:a16="http://schemas.microsoft.com/office/drawing/2014/main" id="{CC0EF089-E9D1-63CB-0300-FDBE7350CF97}"/>
              </a:ext>
            </a:extLst>
          </p:cNvPr>
          <p:cNvSpPr txBox="1">
            <a:spLocks/>
          </p:cNvSpPr>
          <p:nvPr/>
        </p:nvSpPr>
        <p:spPr>
          <a:xfrm>
            <a:off x="316003" y="746514"/>
            <a:ext cx="2707415" cy="21298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Variables del modelo</a:t>
            </a:r>
            <a:endParaRPr lang="es-ES" sz="1400" spc="300" dirty="0">
              <a:solidFill>
                <a:schemeClr val="accent1"/>
              </a:solidFill>
              <a:latin typeface="Ancizar Sans" panose="020B0602040300000003" pitchFamily="34" charset="0"/>
              <a:cs typeface="Ancizar Serif"/>
            </a:endParaRPr>
          </a:p>
        </p:txBody>
      </p:sp>
      <p:grpSp>
        <p:nvGrpSpPr>
          <p:cNvPr id="17" name="Grupo 16">
            <a:extLst>
              <a:ext uri="{FF2B5EF4-FFF2-40B4-BE49-F238E27FC236}">
                <a16:creationId xmlns:a16="http://schemas.microsoft.com/office/drawing/2014/main" id="{BB1B8C2D-C522-7162-604A-B6F21CF5871C}"/>
              </a:ext>
            </a:extLst>
          </p:cNvPr>
          <p:cNvGrpSpPr/>
          <p:nvPr/>
        </p:nvGrpSpPr>
        <p:grpSpPr>
          <a:xfrm>
            <a:off x="7485073" y="2612807"/>
            <a:ext cx="1573487" cy="743907"/>
            <a:chOff x="7451428" y="2778987"/>
            <a:chExt cx="1573487" cy="743907"/>
          </a:xfrm>
        </p:grpSpPr>
        <p:sp>
          <p:nvSpPr>
            <p:cNvPr id="14" name="Rectángulo: esquinas redondeadas 13">
              <a:extLst>
                <a:ext uri="{FF2B5EF4-FFF2-40B4-BE49-F238E27FC236}">
                  <a16:creationId xmlns:a16="http://schemas.microsoft.com/office/drawing/2014/main" id="{D5E07DD5-07B9-1BE7-BE3E-FC8334A048AE}"/>
                </a:ext>
              </a:extLst>
            </p:cNvPr>
            <p:cNvSpPr/>
            <p:nvPr/>
          </p:nvSpPr>
          <p:spPr>
            <a:xfrm>
              <a:off x="7451428" y="2778987"/>
              <a:ext cx="1573486" cy="74390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grpSp>
          <p:nvGrpSpPr>
            <p:cNvPr id="4" name="Grupo 3">
              <a:extLst>
                <a:ext uri="{FF2B5EF4-FFF2-40B4-BE49-F238E27FC236}">
                  <a16:creationId xmlns:a16="http://schemas.microsoft.com/office/drawing/2014/main" id="{A1EA5012-59A8-B033-D8DB-2D1AB56D889C}"/>
                </a:ext>
              </a:extLst>
            </p:cNvPr>
            <p:cNvGrpSpPr/>
            <p:nvPr/>
          </p:nvGrpSpPr>
          <p:grpSpPr>
            <a:xfrm>
              <a:off x="7451429" y="2778987"/>
              <a:ext cx="1573486" cy="743907"/>
              <a:chOff x="435670" y="2571750"/>
              <a:chExt cx="1819743" cy="743907"/>
            </a:xfrm>
          </p:grpSpPr>
          <p:sp>
            <p:nvSpPr>
              <p:cNvPr id="2" name="CuadroTexto 1">
                <a:extLst>
                  <a:ext uri="{FF2B5EF4-FFF2-40B4-BE49-F238E27FC236}">
                    <a16:creationId xmlns:a16="http://schemas.microsoft.com/office/drawing/2014/main" id="{7CF9782D-DDBC-40C6-1294-363E71339F49}"/>
                  </a:ext>
                </a:extLst>
              </p:cNvPr>
              <p:cNvSpPr txBox="1"/>
              <p:nvPr/>
            </p:nvSpPr>
            <p:spPr>
              <a:xfrm>
                <a:off x="435670" y="2719749"/>
                <a:ext cx="1819742" cy="595908"/>
              </a:xfrm>
              <a:prstGeom prst="roundRect">
                <a:avLst/>
              </a:prstGeom>
              <a:solidFill>
                <a:srgbClr val="FFB93E">
                  <a:alpha val="50196"/>
                </a:srgbClr>
              </a:solidFill>
              <a:ln>
                <a:solidFill>
                  <a:schemeClr val="accent1">
                    <a:lumMod val="75000"/>
                  </a:schemeClr>
                </a:solidFill>
              </a:ln>
            </p:spPr>
            <p:txBody>
              <a:bodyPr wrap="square" rtlCol="0">
                <a:spAutoFit/>
              </a:bodyPr>
              <a:lstStyle/>
              <a:p>
                <a:endParaRPr lang="es-CO" sz="200" dirty="0"/>
              </a:p>
              <a:p>
                <a:r>
                  <a:rPr lang="es-CO" sz="900" dirty="0"/>
                  <a:t>Media: 6.70 </a:t>
                </a:r>
              </a:p>
              <a:p>
                <a:r>
                  <a:rPr lang="es-CO" sz="900" dirty="0"/>
                  <a:t>Varianza: 78.69 </a:t>
                </a:r>
              </a:p>
              <a:p>
                <a:r>
                  <a:rPr lang="es-CO" sz="900" dirty="0"/>
                  <a:t>Índice de dispersión: 11.75</a:t>
                </a:r>
              </a:p>
            </p:txBody>
          </p:sp>
          <p:sp>
            <p:nvSpPr>
              <p:cNvPr id="12" name="CuadroTexto 11">
                <a:extLst>
                  <a:ext uri="{FF2B5EF4-FFF2-40B4-BE49-F238E27FC236}">
                    <a16:creationId xmlns:a16="http://schemas.microsoft.com/office/drawing/2014/main" id="{FE17391A-1020-716B-F7A9-B0F8B798F623}"/>
                  </a:ext>
                </a:extLst>
              </p:cNvPr>
              <p:cNvSpPr txBox="1"/>
              <p:nvPr/>
            </p:nvSpPr>
            <p:spPr>
              <a:xfrm>
                <a:off x="435670" y="2571750"/>
                <a:ext cx="1819743" cy="230832"/>
              </a:xfrm>
              <a:prstGeom prst="rect">
                <a:avLst/>
              </a:prstGeom>
              <a:solidFill>
                <a:schemeClr val="accent1">
                  <a:lumMod val="20000"/>
                  <a:lumOff val="80000"/>
                </a:schemeClr>
              </a:solidFill>
              <a:ln>
                <a:solidFill>
                  <a:schemeClr val="accent1">
                    <a:lumMod val="75000"/>
                  </a:schemeClr>
                </a:solidFill>
              </a:ln>
            </p:spPr>
            <p:txBody>
              <a:bodyPr wrap="square" rtlCol="0">
                <a:spAutoFit/>
              </a:bodyPr>
              <a:lstStyle>
                <a:defPPr>
                  <a:defRPr lang="es-ES"/>
                </a:defPPr>
                <a:lvl1pPr algn="ctr">
                  <a:defRPr sz="1400"/>
                </a:lvl1pPr>
              </a:lstStyle>
              <a:p>
                <a:r>
                  <a:rPr lang="es-CO" sz="900" dirty="0"/>
                  <a:t>Varianza &gt;&gt; media</a:t>
                </a:r>
              </a:p>
            </p:txBody>
          </p:sp>
        </p:grpSp>
      </p:grpSp>
      <p:sp>
        <p:nvSpPr>
          <p:cNvPr id="15" name="CuadroTexto 14">
            <a:extLst>
              <a:ext uri="{FF2B5EF4-FFF2-40B4-BE49-F238E27FC236}">
                <a16:creationId xmlns:a16="http://schemas.microsoft.com/office/drawing/2014/main" id="{A3C1EAD9-879C-A100-B0C7-19419C2A4876}"/>
              </a:ext>
            </a:extLst>
          </p:cNvPr>
          <p:cNvSpPr txBox="1"/>
          <p:nvPr/>
        </p:nvSpPr>
        <p:spPr>
          <a:xfrm>
            <a:off x="217267" y="1830123"/>
            <a:ext cx="3200206" cy="1692771"/>
          </a:xfrm>
          <a:prstGeom prst="rect">
            <a:avLst/>
          </a:prstGeom>
          <a:noFill/>
        </p:spPr>
        <p:txBody>
          <a:bodyPr wrap="square" rtlCol="0">
            <a:spAutoFit/>
          </a:bodyPr>
          <a:lstStyle/>
          <a:p>
            <a:r>
              <a:rPr lang="es-CO" sz="1200" b="1" dirty="0">
                <a:solidFill>
                  <a:srgbClr val="FFFFFF"/>
                </a:solidFill>
              </a:rPr>
              <a:t>Variable dependiente</a:t>
            </a:r>
          </a:p>
          <a:p>
            <a:endParaRPr lang="es-CO" sz="500" dirty="0">
              <a:solidFill>
                <a:srgbClr val="FFFFFF"/>
              </a:solidFill>
            </a:endParaRPr>
          </a:p>
          <a:p>
            <a:r>
              <a:rPr lang="es-CO" sz="1000" b="1" dirty="0">
                <a:solidFill>
                  <a:srgbClr val="FFFFFF"/>
                </a:solidFill>
              </a:rPr>
              <a:t>Y</a:t>
            </a:r>
            <a:r>
              <a:rPr lang="es-CO" sz="1000" dirty="0">
                <a:solidFill>
                  <a:srgbClr val="FFFFFF"/>
                </a:solidFill>
              </a:rPr>
              <a:t> = # de movimientos en masa esperados en cada barrio de Medellín</a:t>
            </a:r>
          </a:p>
          <a:p>
            <a:endParaRPr lang="es-CO" sz="1000" dirty="0">
              <a:solidFill>
                <a:srgbClr val="FFFFFF"/>
              </a:solidFill>
            </a:endParaRPr>
          </a:p>
          <a:p>
            <a:r>
              <a:rPr lang="es-CO" sz="1200" b="1" dirty="0">
                <a:solidFill>
                  <a:srgbClr val="FFFFFF"/>
                </a:solidFill>
              </a:rPr>
              <a:t>Variables Condicionantes</a:t>
            </a:r>
          </a:p>
          <a:p>
            <a:endParaRPr lang="es-CO" sz="500" dirty="0">
              <a:solidFill>
                <a:srgbClr val="FFFFFF"/>
              </a:solidFill>
            </a:endParaRPr>
          </a:p>
          <a:p>
            <a:r>
              <a:rPr lang="es-CO" sz="900" b="1" dirty="0">
                <a:solidFill>
                  <a:srgbClr val="FFFFFF"/>
                </a:solidFill>
              </a:rPr>
              <a:t>X1</a:t>
            </a:r>
            <a:r>
              <a:rPr lang="es-CO" sz="900" dirty="0">
                <a:solidFill>
                  <a:srgbClr val="FFFFFF"/>
                </a:solidFill>
              </a:rPr>
              <a:t> = Porcentaje de territorio artificializado por barrio</a:t>
            </a:r>
          </a:p>
          <a:p>
            <a:r>
              <a:rPr lang="es-CO" sz="900" b="1" dirty="0">
                <a:solidFill>
                  <a:srgbClr val="FFFFFF"/>
                </a:solidFill>
              </a:rPr>
              <a:t>X2</a:t>
            </a:r>
            <a:r>
              <a:rPr lang="es-CO" sz="900" dirty="0">
                <a:solidFill>
                  <a:srgbClr val="FFFFFF"/>
                </a:solidFill>
              </a:rPr>
              <a:t> = Porcentaje de depósitos aluviales y/o coluviales por barrio</a:t>
            </a:r>
          </a:p>
          <a:p>
            <a:r>
              <a:rPr lang="es-CO" sz="900" b="1" dirty="0">
                <a:solidFill>
                  <a:srgbClr val="FFFFFF"/>
                </a:solidFill>
              </a:rPr>
              <a:t>X3</a:t>
            </a:r>
            <a:r>
              <a:rPr lang="es-CO" sz="900" dirty="0">
                <a:solidFill>
                  <a:srgbClr val="FFFFFF"/>
                </a:solidFill>
              </a:rPr>
              <a:t> = Porcentaje de litología tipo Dunita por barrio</a:t>
            </a:r>
          </a:p>
          <a:p>
            <a:r>
              <a:rPr lang="es-CO" sz="900" b="1" dirty="0">
                <a:solidFill>
                  <a:srgbClr val="FFFFFF"/>
                </a:solidFill>
              </a:rPr>
              <a:t>X4</a:t>
            </a:r>
            <a:r>
              <a:rPr lang="es-CO" sz="900" dirty="0">
                <a:solidFill>
                  <a:srgbClr val="FFFFFF"/>
                </a:solidFill>
              </a:rPr>
              <a:t> = Porcentaje </a:t>
            </a:r>
          </a:p>
        </p:txBody>
      </p:sp>
    </p:spTree>
    <p:extLst>
      <p:ext uri="{BB962C8B-B14F-4D97-AF65-F5344CB8AC3E}">
        <p14:creationId xmlns:p14="http://schemas.microsoft.com/office/powerpoint/2010/main" val="1246200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A80DA9C-B33F-43E0-040C-FB75A1234D1B}"/>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4D9A17AD-B4B3-35D2-0BA1-2124B17FFE7F}"/>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27DC6BA5-483A-9F2C-64CB-05EA419B6280}"/>
              </a:ext>
            </a:extLst>
          </p:cNvPr>
          <p:cNvSpPr>
            <a:spLocks noGrp="1"/>
          </p:cNvSpPr>
          <p:nvPr>
            <p:ph type="sldNum" sz="quarter" idx="12"/>
          </p:nvPr>
        </p:nvSpPr>
        <p:spPr/>
        <p:txBody>
          <a:bodyPr/>
          <a:lstStyle/>
          <a:p>
            <a:fld id="{90BC2BA4-81C0-F544-BD72-C8CB9DA7C802}" type="slidenum">
              <a:rPr lang="es-CO" noProof="0" smtClean="0"/>
              <a:pPr/>
              <a:t>20</a:t>
            </a:fld>
            <a:endParaRPr lang="es-CO" noProof="0" dirty="0"/>
          </a:p>
        </p:txBody>
      </p:sp>
      <p:sp>
        <p:nvSpPr>
          <p:cNvPr id="5" name="Título 1">
            <a:extLst>
              <a:ext uri="{FF2B5EF4-FFF2-40B4-BE49-F238E27FC236}">
                <a16:creationId xmlns:a16="http://schemas.microsoft.com/office/drawing/2014/main" id="{31758B71-159F-F38C-772B-5E6AC85C68F9}"/>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Modelos</a:t>
            </a:r>
          </a:p>
        </p:txBody>
      </p:sp>
      <p:sp>
        <p:nvSpPr>
          <p:cNvPr id="7" name="Título 1">
            <a:extLst>
              <a:ext uri="{FF2B5EF4-FFF2-40B4-BE49-F238E27FC236}">
                <a16:creationId xmlns:a16="http://schemas.microsoft.com/office/drawing/2014/main" id="{DAF512D5-A96A-6866-B7B7-5FDEBF701186}"/>
              </a:ext>
            </a:extLst>
          </p:cNvPr>
          <p:cNvSpPr txBox="1">
            <a:spLocks/>
          </p:cNvSpPr>
          <p:nvPr/>
        </p:nvSpPr>
        <p:spPr>
          <a:xfrm>
            <a:off x="301256" y="710439"/>
            <a:ext cx="2378954" cy="316073"/>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Correlación</a:t>
            </a:r>
            <a:endParaRPr lang="es-ES" sz="1400" spc="300" dirty="0">
              <a:solidFill>
                <a:schemeClr val="accent1"/>
              </a:solidFill>
              <a:latin typeface="Ancizar Sans" panose="020B0602040300000003" pitchFamily="34" charset="0"/>
              <a:cs typeface="Ancizar Serif"/>
            </a:endParaRPr>
          </a:p>
        </p:txBody>
      </p:sp>
      <p:pic>
        <p:nvPicPr>
          <p:cNvPr id="11" name="Imagen 10">
            <a:extLst>
              <a:ext uri="{FF2B5EF4-FFF2-40B4-BE49-F238E27FC236}">
                <a16:creationId xmlns:a16="http://schemas.microsoft.com/office/drawing/2014/main" id="{240733B9-82F0-FC05-B037-C5025327D967}"/>
              </a:ext>
            </a:extLst>
          </p:cNvPr>
          <p:cNvPicPr>
            <a:picLocks noChangeAspect="1"/>
          </p:cNvPicPr>
          <p:nvPr/>
        </p:nvPicPr>
        <p:blipFill>
          <a:blip r:embed="rId3"/>
          <a:srcRect/>
          <a:stretch/>
        </p:blipFill>
        <p:spPr>
          <a:xfrm>
            <a:off x="2350868" y="1208267"/>
            <a:ext cx="3427001" cy="2966129"/>
          </a:xfrm>
          <a:prstGeom prst="rect">
            <a:avLst/>
          </a:prstGeom>
        </p:spPr>
      </p:pic>
    </p:spTree>
    <p:extLst>
      <p:ext uri="{BB962C8B-B14F-4D97-AF65-F5344CB8AC3E}">
        <p14:creationId xmlns:p14="http://schemas.microsoft.com/office/powerpoint/2010/main" val="41611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C1DFF-5065-F0B3-2D65-C247D34820CD}"/>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2B0E851D-9816-411C-AAA7-728A9157F511}"/>
              </a:ext>
            </a:extLst>
          </p:cNvPr>
          <p:cNvSpPr>
            <a:spLocks noGrp="1"/>
          </p:cNvSpPr>
          <p:nvPr>
            <p:ph type="sldNum" sz="quarter" idx="12"/>
          </p:nvPr>
        </p:nvSpPr>
        <p:spPr/>
        <p:txBody>
          <a:bodyPr/>
          <a:lstStyle/>
          <a:p>
            <a:fld id="{90BC2BA4-81C0-F544-BD72-C8CB9DA7C802}" type="slidenum">
              <a:rPr lang="es-ES" smtClean="0"/>
              <a:pPr/>
              <a:t>21</a:t>
            </a:fld>
            <a:endParaRPr lang="es-ES" dirty="0"/>
          </a:p>
        </p:txBody>
      </p:sp>
      <p:sp>
        <p:nvSpPr>
          <p:cNvPr id="7" name="Título 1">
            <a:extLst>
              <a:ext uri="{FF2B5EF4-FFF2-40B4-BE49-F238E27FC236}">
                <a16:creationId xmlns:a16="http://schemas.microsoft.com/office/drawing/2014/main" id="{B6B9EE1B-0D5E-41CE-FEAA-BE418830D721}"/>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GLM</a:t>
            </a:r>
          </a:p>
        </p:txBody>
      </p:sp>
      <p:sp>
        <p:nvSpPr>
          <p:cNvPr id="13" name="Título 1">
            <a:extLst>
              <a:ext uri="{FF2B5EF4-FFF2-40B4-BE49-F238E27FC236}">
                <a16:creationId xmlns:a16="http://schemas.microsoft.com/office/drawing/2014/main" id="{565205B6-9E2F-D503-F883-75342674F33A}"/>
              </a:ext>
            </a:extLst>
          </p:cNvPr>
          <p:cNvSpPr txBox="1">
            <a:spLocks/>
          </p:cNvSpPr>
          <p:nvPr/>
        </p:nvSpPr>
        <p:spPr>
          <a:xfrm>
            <a:off x="483516" y="681284"/>
            <a:ext cx="2378954" cy="316073"/>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Poisson</a:t>
            </a:r>
            <a:endParaRPr lang="es-ES" sz="1400" spc="300" dirty="0">
              <a:solidFill>
                <a:schemeClr val="accent1"/>
              </a:solidFill>
              <a:latin typeface="Ancizar Sans" panose="020B0602040300000003" pitchFamily="34" charset="0"/>
              <a:cs typeface="Ancizar Serif"/>
            </a:endParaRPr>
          </a:p>
        </p:txBody>
      </p:sp>
      <p:pic>
        <p:nvPicPr>
          <p:cNvPr id="17" name="Imagen 16">
            <a:extLst>
              <a:ext uri="{FF2B5EF4-FFF2-40B4-BE49-F238E27FC236}">
                <a16:creationId xmlns:a16="http://schemas.microsoft.com/office/drawing/2014/main" id="{DD3E46B9-E025-0236-FECB-42DF83FF02BE}"/>
              </a:ext>
            </a:extLst>
          </p:cNvPr>
          <p:cNvPicPr>
            <a:picLocks noChangeAspect="1"/>
          </p:cNvPicPr>
          <p:nvPr/>
        </p:nvPicPr>
        <p:blipFill>
          <a:blip r:embed="rId3"/>
          <a:srcRect/>
          <a:stretch/>
        </p:blipFill>
        <p:spPr>
          <a:xfrm>
            <a:off x="372901" y="1149120"/>
            <a:ext cx="3960000" cy="3117003"/>
          </a:xfrm>
          <a:prstGeom prst="rect">
            <a:avLst/>
          </a:prstGeom>
        </p:spPr>
      </p:pic>
      <p:pic>
        <p:nvPicPr>
          <p:cNvPr id="19" name="Imagen 18">
            <a:extLst>
              <a:ext uri="{FF2B5EF4-FFF2-40B4-BE49-F238E27FC236}">
                <a16:creationId xmlns:a16="http://schemas.microsoft.com/office/drawing/2014/main" id="{44116E2D-6A32-F90A-2904-B2A6889C58B3}"/>
              </a:ext>
            </a:extLst>
          </p:cNvPr>
          <p:cNvPicPr>
            <a:picLocks noChangeAspect="1"/>
          </p:cNvPicPr>
          <p:nvPr/>
        </p:nvPicPr>
        <p:blipFill>
          <a:blip r:embed="rId4"/>
          <a:srcRect/>
          <a:stretch/>
        </p:blipFill>
        <p:spPr>
          <a:xfrm>
            <a:off x="5236614" y="563634"/>
            <a:ext cx="3165042" cy="1823270"/>
          </a:xfrm>
          <a:prstGeom prst="rect">
            <a:avLst/>
          </a:prstGeom>
        </p:spPr>
      </p:pic>
      <p:pic>
        <p:nvPicPr>
          <p:cNvPr id="21" name="Imagen 20">
            <a:extLst>
              <a:ext uri="{FF2B5EF4-FFF2-40B4-BE49-F238E27FC236}">
                <a16:creationId xmlns:a16="http://schemas.microsoft.com/office/drawing/2014/main" id="{97FF19D4-42B3-0A7A-A4DC-8D7A3B363A80}"/>
              </a:ext>
            </a:extLst>
          </p:cNvPr>
          <p:cNvPicPr>
            <a:picLocks noChangeAspect="1"/>
          </p:cNvPicPr>
          <p:nvPr/>
        </p:nvPicPr>
        <p:blipFill>
          <a:blip r:embed="rId5"/>
          <a:srcRect/>
          <a:stretch/>
        </p:blipFill>
        <p:spPr>
          <a:xfrm>
            <a:off x="5466102" y="2386904"/>
            <a:ext cx="2889924" cy="2181610"/>
          </a:xfrm>
          <a:prstGeom prst="rect">
            <a:avLst/>
          </a:prstGeom>
        </p:spPr>
      </p:pic>
    </p:spTree>
    <p:extLst>
      <p:ext uri="{BB962C8B-B14F-4D97-AF65-F5344CB8AC3E}">
        <p14:creationId xmlns:p14="http://schemas.microsoft.com/office/powerpoint/2010/main" val="1070111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294B40C-5678-638A-DFAC-33091867D0EF}"/>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EA134D14-187E-AF3A-8FB9-11F3D6089CB1}"/>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914C7C99-E882-0C70-252F-E726392B976A}"/>
              </a:ext>
            </a:extLst>
          </p:cNvPr>
          <p:cNvSpPr>
            <a:spLocks noGrp="1"/>
          </p:cNvSpPr>
          <p:nvPr>
            <p:ph type="sldNum" sz="quarter" idx="12"/>
          </p:nvPr>
        </p:nvSpPr>
        <p:spPr/>
        <p:txBody>
          <a:bodyPr/>
          <a:lstStyle/>
          <a:p>
            <a:fld id="{90BC2BA4-81C0-F544-BD72-C8CB9DA7C802}" type="slidenum">
              <a:rPr lang="es-CO" noProof="0" smtClean="0"/>
              <a:pPr/>
              <a:t>22</a:t>
            </a:fld>
            <a:endParaRPr lang="es-CO" noProof="0" dirty="0"/>
          </a:p>
        </p:txBody>
      </p:sp>
      <p:sp>
        <p:nvSpPr>
          <p:cNvPr id="3" name="Título 1">
            <a:extLst>
              <a:ext uri="{FF2B5EF4-FFF2-40B4-BE49-F238E27FC236}">
                <a16:creationId xmlns:a16="http://schemas.microsoft.com/office/drawing/2014/main" id="{EA956CBB-3C1A-A9F2-5941-B99CA1E6336F}"/>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GLM</a:t>
            </a:r>
          </a:p>
        </p:txBody>
      </p:sp>
      <p:sp>
        <p:nvSpPr>
          <p:cNvPr id="6" name="Título 1">
            <a:extLst>
              <a:ext uri="{FF2B5EF4-FFF2-40B4-BE49-F238E27FC236}">
                <a16:creationId xmlns:a16="http://schemas.microsoft.com/office/drawing/2014/main" id="{9B15E813-D99F-B434-6F3D-681027436CE7}"/>
              </a:ext>
            </a:extLst>
          </p:cNvPr>
          <p:cNvSpPr txBox="1">
            <a:spLocks/>
          </p:cNvSpPr>
          <p:nvPr/>
        </p:nvSpPr>
        <p:spPr>
          <a:xfrm>
            <a:off x="334933" y="681284"/>
            <a:ext cx="2378954" cy="316073"/>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Binomial negativa</a:t>
            </a:r>
            <a:endParaRPr lang="es-ES" sz="1400" spc="300" dirty="0">
              <a:solidFill>
                <a:schemeClr val="accent1"/>
              </a:solidFill>
              <a:latin typeface="Ancizar Sans" panose="020B0602040300000003" pitchFamily="34" charset="0"/>
              <a:cs typeface="Ancizar Serif"/>
            </a:endParaRPr>
          </a:p>
        </p:txBody>
      </p:sp>
      <p:pic>
        <p:nvPicPr>
          <p:cNvPr id="14" name="Imagen 13">
            <a:extLst>
              <a:ext uri="{FF2B5EF4-FFF2-40B4-BE49-F238E27FC236}">
                <a16:creationId xmlns:a16="http://schemas.microsoft.com/office/drawing/2014/main" id="{0EAF3043-8FD6-0A3F-4141-E2FA40A8C88D}"/>
              </a:ext>
            </a:extLst>
          </p:cNvPr>
          <p:cNvPicPr>
            <a:picLocks noChangeAspect="1"/>
          </p:cNvPicPr>
          <p:nvPr/>
        </p:nvPicPr>
        <p:blipFill>
          <a:blip r:embed="rId3"/>
          <a:srcRect/>
          <a:stretch/>
        </p:blipFill>
        <p:spPr>
          <a:xfrm>
            <a:off x="5120888" y="420133"/>
            <a:ext cx="3187489" cy="1803024"/>
          </a:xfrm>
          <a:prstGeom prst="rect">
            <a:avLst/>
          </a:prstGeom>
        </p:spPr>
      </p:pic>
      <p:pic>
        <p:nvPicPr>
          <p:cNvPr id="16" name="Imagen 15">
            <a:extLst>
              <a:ext uri="{FF2B5EF4-FFF2-40B4-BE49-F238E27FC236}">
                <a16:creationId xmlns:a16="http://schemas.microsoft.com/office/drawing/2014/main" id="{5E304027-883B-383D-DC9B-5495E8F3F3F9}"/>
              </a:ext>
            </a:extLst>
          </p:cNvPr>
          <p:cNvPicPr>
            <a:picLocks noChangeAspect="1"/>
          </p:cNvPicPr>
          <p:nvPr/>
        </p:nvPicPr>
        <p:blipFill>
          <a:blip r:embed="rId4"/>
          <a:srcRect/>
          <a:stretch/>
        </p:blipFill>
        <p:spPr>
          <a:xfrm>
            <a:off x="5585188" y="2551100"/>
            <a:ext cx="2227138" cy="1681271"/>
          </a:xfrm>
          <a:prstGeom prst="rect">
            <a:avLst/>
          </a:prstGeom>
        </p:spPr>
      </p:pic>
      <p:pic>
        <p:nvPicPr>
          <p:cNvPr id="18" name="Imagen 17">
            <a:extLst>
              <a:ext uri="{FF2B5EF4-FFF2-40B4-BE49-F238E27FC236}">
                <a16:creationId xmlns:a16="http://schemas.microsoft.com/office/drawing/2014/main" id="{19E7B962-272E-5A7A-0DD9-4AFE7FC8AA41}"/>
              </a:ext>
            </a:extLst>
          </p:cNvPr>
          <p:cNvPicPr>
            <a:picLocks noChangeAspect="1"/>
          </p:cNvPicPr>
          <p:nvPr/>
        </p:nvPicPr>
        <p:blipFill>
          <a:blip r:embed="rId5"/>
          <a:stretch>
            <a:fillRect/>
          </a:stretch>
        </p:blipFill>
        <p:spPr>
          <a:xfrm>
            <a:off x="301256" y="1109214"/>
            <a:ext cx="3960000" cy="3114960"/>
          </a:xfrm>
          <a:prstGeom prst="rect">
            <a:avLst/>
          </a:prstGeom>
        </p:spPr>
      </p:pic>
    </p:spTree>
    <p:extLst>
      <p:ext uri="{BB962C8B-B14F-4D97-AF65-F5344CB8AC3E}">
        <p14:creationId xmlns:p14="http://schemas.microsoft.com/office/powerpoint/2010/main" val="31184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09C36-D16C-9E60-38E1-9708F4F61C8C}"/>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14A5878A-57B4-30A2-48FB-264FC52C5BFD}"/>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
        <p:nvSpPr>
          <p:cNvPr id="3" name="Marcador de número de diapositiva 2">
            <a:extLst>
              <a:ext uri="{FF2B5EF4-FFF2-40B4-BE49-F238E27FC236}">
                <a16:creationId xmlns:a16="http://schemas.microsoft.com/office/drawing/2014/main" id="{39501DD3-3BC7-7C04-70ED-56F0798432DB}"/>
              </a:ext>
            </a:extLst>
          </p:cNvPr>
          <p:cNvSpPr>
            <a:spLocks noGrp="1"/>
          </p:cNvSpPr>
          <p:nvPr>
            <p:ph type="sldNum" sz="quarter" idx="12"/>
          </p:nvPr>
        </p:nvSpPr>
        <p:spPr/>
        <p:txBody>
          <a:bodyPr/>
          <a:lstStyle/>
          <a:p>
            <a:fld id="{90BC2BA4-81C0-F544-BD72-C8CB9DA7C802}" type="slidenum">
              <a:rPr lang="es-ES" smtClean="0"/>
              <a:pPr/>
              <a:t>23</a:t>
            </a:fld>
            <a:endParaRPr lang="es-ES" dirty="0"/>
          </a:p>
        </p:txBody>
      </p:sp>
      <p:sp>
        <p:nvSpPr>
          <p:cNvPr id="9" name="Título 1">
            <a:extLst>
              <a:ext uri="{FF2B5EF4-FFF2-40B4-BE49-F238E27FC236}">
                <a16:creationId xmlns:a16="http://schemas.microsoft.com/office/drawing/2014/main" id="{2C27A4B1-1540-1B6E-EBB7-1012C4FF1AC5}"/>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GLM</a:t>
            </a:r>
          </a:p>
        </p:txBody>
      </p:sp>
      <p:sp>
        <p:nvSpPr>
          <p:cNvPr id="11" name="Título 1">
            <a:extLst>
              <a:ext uri="{FF2B5EF4-FFF2-40B4-BE49-F238E27FC236}">
                <a16:creationId xmlns:a16="http://schemas.microsoft.com/office/drawing/2014/main" id="{C0D7C6D6-9159-062E-C7FC-39CA6D1DCD57}"/>
              </a:ext>
            </a:extLst>
          </p:cNvPr>
          <p:cNvSpPr txBox="1">
            <a:spLocks/>
          </p:cNvSpPr>
          <p:nvPr/>
        </p:nvSpPr>
        <p:spPr>
          <a:xfrm>
            <a:off x="326018" y="754152"/>
            <a:ext cx="3331971"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Comparación menm observados y predichos</a:t>
            </a:r>
            <a:endParaRPr lang="es-ES" sz="1400" spc="300" dirty="0">
              <a:solidFill>
                <a:schemeClr val="accent1"/>
              </a:solidFill>
              <a:latin typeface="Ancizar Sans" panose="020B0602040300000003" pitchFamily="34" charset="0"/>
              <a:cs typeface="Ancizar Serif"/>
            </a:endParaRPr>
          </a:p>
        </p:txBody>
      </p:sp>
      <p:pic>
        <p:nvPicPr>
          <p:cNvPr id="2" name="Imagen 1">
            <a:extLst>
              <a:ext uri="{FF2B5EF4-FFF2-40B4-BE49-F238E27FC236}">
                <a16:creationId xmlns:a16="http://schemas.microsoft.com/office/drawing/2014/main" id="{14DE52FC-912E-17CB-C0CC-92D48DCBB284}"/>
              </a:ext>
            </a:extLst>
          </p:cNvPr>
          <p:cNvPicPr>
            <a:picLocks noChangeAspect="1"/>
          </p:cNvPicPr>
          <p:nvPr/>
        </p:nvPicPr>
        <p:blipFill>
          <a:blip r:embed="rId3"/>
          <a:srcRect/>
          <a:stretch/>
        </p:blipFill>
        <p:spPr>
          <a:xfrm>
            <a:off x="6483434" y="563634"/>
            <a:ext cx="2520000" cy="1981108"/>
          </a:xfrm>
          <a:prstGeom prst="rect">
            <a:avLst/>
          </a:prstGeom>
          <a:ln>
            <a:solidFill>
              <a:schemeClr val="tx1"/>
            </a:solidFill>
          </a:ln>
          <a:effectLst/>
        </p:spPr>
      </p:pic>
      <p:pic>
        <p:nvPicPr>
          <p:cNvPr id="4" name="Imagen 3">
            <a:extLst>
              <a:ext uri="{FF2B5EF4-FFF2-40B4-BE49-F238E27FC236}">
                <a16:creationId xmlns:a16="http://schemas.microsoft.com/office/drawing/2014/main" id="{5411AC8A-7508-4D87-5C60-53AFEE89BD18}"/>
              </a:ext>
            </a:extLst>
          </p:cNvPr>
          <p:cNvPicPr>
            <a:picLocks noChangeAspect="1"/>
          </p:cNvPicPr>
          <p:nvPr/>
        </p:nvPicPr>
        <p:blipFill>
          <a:blip r:embed="rId4"/>
          <a:srcRect/>
          <a:stretch/>
        </p:blipFill>
        <p:spPr>
          <a:xfrm>
            <a:off x="3912901" y="563634"/>
            <a:ext cx="2520000" cy="1984159"/>
          </a:xfrm>
          <a:prstGeom prst="rect">
            <a:avLst/>
          </a:prstGeom>
          <a:ln>
            <a:solidFill>
              <a:schemeClr val="tx1"/>
            </a:solidFill>
          </a:ln>
          <a:effectLst/>
        </p:spPr>
      </p:pic>
      <p:pic>
        <p:nvPicPr>
          <p:cNvPr id="8" name="Imagen 7">
            <a:extLst>
              <a:ext uri="{FF2B5EF4-FFF2-40B4-BE49-F238E27FC236}">
                <a16:creationId xmlns:a16="http://schemas.microsoft.com/office/drawing/2014/main" id="{5AABCAFB-2D4E-ACFC-1F1B-91D11D514EF9}"/>
              </a:ext>
            </a:extLst>
          </p:cNvPr>
          <p:cNvPicPr>
            <a:picLocks noChangeAspect="1"/>
          </p:cNvPicPr>
          <p:nvPr/>
        </p:nvPicPr>
        <p:blipFill>
          <a:blip r:embed="rId5"/>
          <a:srcRect/>
          <a:stretch/>
        </p:blipFill>
        <p:spPr>
          <a:xfrm>
            <a:off x="427864" y="1643446"/>
            <a:ext cx="3262431" cy="2547139"/>
          </a:xfrm>
          <a:prstGeom prst="rect">
            <a:avLst/>
          </a:prstGeom>
        </p:spPr>
      </p:pic>
      <p:pic>
        <p:nvPicPr>
          <p:cNvPr id="13" name="Imagen 12">
            <a:extLst>
              <a:ext uri="{FF2B5EF4-FFF2-40B4-BE49-F238E27FC236}">
                <a16:creationId xmlns:a16="http://schemas.microsoft.com/office/drawing/2014/main" id="{736EFCAE-8C6E-EDE7-CEA0-23DB5FAA8355}"/>
              </a:ext>
            </a:extLst>
          </p:cNvPr>
          <p:cNvPicPr>
            <a:picLocks noChangeAspect="1"/>
          </p:cNvPicPr>
          <p:nvPr/>
        </p:nvPicPr>
        <p:blipFill>
          <a:blip r:embed="rId6"/>
          <a:stretch>
            <a:fillRect/>
          </a:stretch>
        </p:blipFill>
        <p:spPr>
          <a:xfrm>
            <a:off x="4041144" y="2825866"/>
            <a:ext cx="4550675" cy="1618469"/>
          </a:xfrm>
          <a:prstGeom prst="rect">
            <a:avLst/>
          </a:prstGeom>
        </p:spPr>
      </p:pic>
    </p:spTree>
    <p:extLst>
      <p:ext uri="{BB962C8B-B14F-4D97-AF65-F5344CB8AC3E}">
        <p14:creationId xmlns:p14="http://schemas.microsoft.com/office/powerpoint/2010/main" val="2072000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6494A3B-92B2-C27D-28FF-C6DE686B26C5}"/>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93E07309-AD86-0B86-DEC3-612AE94AD31B}"/>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4E9493EB-F39F-07D6-30AE-BF2BE40B603C}"/>
              </a:ext>
            </a:extLst>
          </p:cNvPr>
          <p:cNvSpPr>
            <a:spLocks noGrp="1"/>
          </p:cNvSpPr>
          <p:nvPr>
            <p:ph type="sldNum" sz="quarter" idx="12"/>
          </p:nvPr>
        </p:nvSpPr>
        <p:spPr/>
        <p:txBody>
          <a:bodyPr/>
          <a:lstStyle/>
          <a:p>
            <a:fld id="{90BC2BA4-81C0-F544-BD72-C8CB9DA7C802}" type="slidenum">
              <a:rPr lang="es-CO" noProof="0" smtClean="0"/>
              <a:pPr/>
              <a:t>24</a:t>
            </a:fld>
            <a:endParaRPr lang="es-CO" noProof="0" dirty="0"/>
          </a:p>
        </p:txBody>
      </p:sp>
      <p:sp>
        <p:nvSpPr>
          <p:cNvPr id="15" name="Título 1">
            <a:extLst>
              <a:ext uri="{FF2B5EF4-FFF2-40B4-BE49-F238E27FC236}">
                <a16:creationId xmlns:a16="http://schemas.microsoft.com/office/drawing/2014/main" id="{516C51AD-A2DE-F9CF-D0CB-C667F4DB68E3}"/>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GLM</a:t>
            </a:r>
          </a:p>
        </p:txBody>
      </p:sp>
      <p:sp>
        <p:nvSpPr>
          <p:cNvPr id="18" name="Título 1">
            <a:extLst>
              <a:ext uri="{FF2B5EF4-FFF2-40B4-BE49-F238E27FC236}">
                <a16:creationId xmlns:a16="http://schemas.microsoft.com/office/drawing/2014/main" id="{2D006D67-176B-BC92-7D36-D4121F626B83}"/>
              </a:ext>
            </a:extLst>
          </p:cNvPr>
          <p:cNvSpPr txBox="1">
            <a:spLocks/>
          </p:cNvSpPr>
          <p:nvPr/>
        </p:nvSpPr>
        <p:spPr>
          <a:xfrm>
            <a:off x="326018" y="650070"/>
            <a:ext cx="3331971"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Análisis del error Modelo BN</a:t>
            </a:r>
            <a:endParaRPr lang="es-ES" sz="1400" spc="300" dirty="0">
              <a:solidFill>
                <a:schemeClr val="accent1"/>
              </a:solidFill>
              <a:latin typeface="Ancizar Sans" panose="020B0602040300000003" pitchFamily="34" charset="0"/>
              <a:cs typeface="Ancizar Serif"/>
            </a:endParaRPr>
          </a:p>
        </p:txBody>
      </p:sp>
      <p:pic>
        <p:nvPicPr>
          <p:cNvPr id="19" name="Imagen 18">
            <a:extLst>
              <a:ext uri="{FF2B5EF4-FFF2-40B4-BE49-F238E27FC236}">
                <a16:creationId xmlns:a16="http://schemas.microsoft.com/office/drawing/2014/main" id="{1D8FE839-2B82-11FF-52D0-F978F1BED23F}"/>
              </a:ext>
            </a:extLst>
          </p:cNvPr>
          <p:cNvPicPr>
            <a:picLocks noChangeAspect="1"/>
          </p:cNvPicPr>
          <p:nvPr/>
        </p:nvPicPr>
        <p:blipFill>
          <a:blip r:embed="rId3"/>
          <a:stretch>
            <a:fillRect/>
          </a:stretch>
        </p:blipFill>
        <p:spPr>
          <a:xfrm>
            <a:off x="786012" y="1437557"/>
            <a:ext cx="4771055" cy="2361377"/>
          </a:xfrm>
          <a:prstGeom prst="rect">
            <a:avLst/>
          </a:prstGeom>
        </p:spPr>
      </p:pic>
      <p:sp>
        <p:nvSpPr>
          <p:cNvPr id="5" name="CuadroTexto 4">
            <a:extLst>
              <a:ext uri="{FF2B5EF4-FFF2-40B4-BE49-F238E27FC236}">
                <a16:creationId xmlns:a16="http://schemas.microsoft.com/office/drawing/2014/main" id="{A1E57627-68F6-C648-1784-29AD8553B364}"/>
              </a:ext>
            </a:extLst>
          </p:cNvPr>
          <p:cNvSpPr txBox="1"/>
          <p:nvPr/>
        </p:nvSpPr>
        <p:spPr>
          <a:xfrm>
            <a:off x="5991739" y="1682098"/>
            <a:ext cx="2541286" cy="646331"/>
          </a:xfrm>
          <a:prstGeom prst="rect">
            <a:avLst/>
          </a:prstGeom>
          <a:solidFill>
            <a:srgbClr val="FFFFFF"/>
          </a:solidFill>
          <a:ln>
            <a:solidFill>
              <a:schemeClr val="accent1">
                <a:lumMod val="75000"/>
              </a:schemeClr>
            </a:solidFill>
          </a:ln>
        </p:spPr>
        <p:txBody>
          <a:bodyPr wrap="square" rtlCol="0">
            <a:spAutoFit/>
          </a:bodyPr>
          <a:lstStyle>
            <a:defPPr>
              <a:defRPr lang="es-ES"/>
            </a:defPPr>
            <a:lvl1pPr algn="ctr">
              <a:defRPr sz="1400"/>
            </a:lvl1pPr>
          </a:lstStyle>
          <a:p>
            <a:endParaRPr lang="es-CO" sz="900" dirty="0"/>
          </a:p>
          <a:p>
            <a:r>
              <a:rPr lang="es-CO" sz="900" dirty="0">
                <a:solidFill>
                  <a:schemeClr val="accent1"/>
                </a:solidFill>
              </a:rPr>
              <a:t>Moran I del error</a:t>
            </a:r>
            <a:r>
              <a:rPr lang="es-CO" sz="900" dirty="0"/>
              <a:t>= 0.27828697331649443</a:t>
            </a:r>
          </a:p>
          <a:p>
            <a:r>
              <a:rPr lang="es-CO" sz="900" dirty="0">
                <a:solidFill>
                  <a:schemeClr val="accent1"/>
                </a:solidFill>
              </a:rPr>
              <a:t>p-v</a:t>
            </a:r>
            <a:r>
              <a:rPr lang="es-CO" sz="900" noProof="1">
                <a:solidFill>
                  <a:schemeClr val="accent1"/>
                </a:solidFill>
              </a:rPr>
              <a:t>alue</a:t>
            </a:r>
            <a:r>
              <a:rPr lang="es-CO" sz="900" noProof="1"/>
              <a:t> </a:t>
            </a:r>
            <a:r>
              <a:rPr lang="es-CO" sz="900" dirty="0"/>
              <a:t>= 0.001</a:t>
            </a:r>
          </a:p>
          <a:p>
            <a:endParaRPr lang="es-CO" sz="900" dirty="0"/>
          </a:p>
        </p:txBody>
      </p:sp>
      <p:sp>
        <p:nvSpPr>
          <p:cNvPr id="7" name="Rectángulo: esquinas redondeadas 6">
            <a:extLst>
              <a:ext uri="{FF2B5EF4-FFF2-40B4-BE49-F238E27FC236}">
                <a16:creationId xmlns:a16="http://schemas.microsoft.com/office/drawing/2014/main" id="{1299BF9D-5364-6D69-5DE4-D6DDAA40D120}"/>
              </a:ext>
            </a:extLst>
          </p:cNvPr>
          <p:cNvSpPr/>
          <p:nvPr/>
        </p:nvSpPr>
        <p:spPr>
          <a:xfrm>
            <a:off x="5816701" y="2507262"/>
            <a:ext cx="2891363" cy="1458681"/>
          </a:xfrm>
          <a:prstGeom prst="roundRect">
            <a:avLst/>
          </a:prstGeom>
          <a:solidFill>
            <a:srgbClr val="620C78"/>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100" b="1" dirty="0">
                <a:solidFill>
                  <a:srgbClr val="FFFFFF"/>
                </a:solidFill>
              </a:rPr>
              <a:t>Hay espacialidad en los residuos, se debe evaluar dependencia espacial con modelos SAR/CAR.</a:t>
            </a:r>
          </a:p>
          <a:p>
            <a:pPr algn="ctr"/>
            <a:endParaRPr lang="es-CO" sz="1100" b="1" dirty="0">
              <a:solidFill>
                <a:srgbClr val="FFFFFF"/>
              </a:solidFill>
            </a:endParaRPr>
          </a:p>
          <a:p>
            <a:pPr algn="ctr"/>
            <a:r>
              <a:rPr lang="es-CO" sz="1100" b="1" dirty="0">
                <a:solidFill>
                  <a:srgbClr val="FFFFFF"/>
                </a:solidFill>
              </a:rPr>
              <a:t>Para comparar distintos modelos de regresión espacial se utilizará la variable log-densidad de movimientos por barrio como variable dependiente.</a:t>
            </a:r>
          </a:p>
        </p:txBody>
      </p:sp>
    </p:spTree>
    <p:extLst>
      <p:ext uri="{BB962C8B-B14F-4D97-AF65-F5344CB8AC3E}">
        <p14:creationId xmlns:p14="http://schemas.microsoft.com/office/powerpoint/2010/main" val="838047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1E2C6-2BE6-D340-75D3-9318B87A6886}"/>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7F62C62-CE53-0693-C0F8-83A4A5F50DD6}"/>
              </a:ext>
            </a:extLst>
          </p:cNvPr>
          <p:cNvSpPr>
            <a:spLocks noGrp="1"/>
          </p:cNvSpPr>
          <p:nvPr>
            <p:ph type="sldNum" sz="quarter" idx="12"/>
          </p:nvPr>
        </p:nvSpPr>
        <p:spPr/>
        <p:txBody>
          <a:bodyPr/>
          <a:lstStyle/>
          <a:p>
            <a:r>
              <a:rPr lang="es-ES" dirty="0"/>
              <a:t>Página </a:t>
            </a:r>
            <a:fld id="{90BC2BA4-81C0-F544-BD72-C8CB9DA7C802}" type="slidenum">
              <a:rPr lang="es-ES" smtClean="0"/>
              <a:pPr/>
              <a:t>25</a:t>
            </a:fld>
            <a:r>
              <a:rPr lang="es-ES" dirty="0"/>
              <a:t> </a:t>
            </a:r>
          </a:p>
        </p:txBody>
      </p:sp>
      <p:sp>
        <p:nvSpPr>
          <p:cNvPr id="5" name="Título 1">
            <a:extLst>
              <a:ext uri="{FF2B5EF4-FFF2-40B4-BE49-F238E27FC236}">
                <a16:creationId xmlns:a16="http://schemas.microsoft.com/office/drawing/2014/main" id="{58931BBE-8B83-5DC1-7DEF-F30FDB2A62F7}"/>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Regresión espacial</a:t>
            </a:r>
            <a:endParaRPr lang="es-CO" sz="3200" noProof="0" dirty="0">
              <a:solidFill>
                <a:schemeClr val="accent1"/>
              </a:solidFill>
              <a:latin typeface="Ancizar Serif Extrabold" panose="020A0902070300000003" pitchFamily="18" charset="0"/>
              <a:cs typeface="Ancizar Sans Extrabold"/>
            </a:endParaRPr>
          </a:p>
        </p:txBody>
      </p:sp>
      <p:sp>
        <p:nvSpPr>
          <p:cNvPr id="7" name="Título 1">
            <a:extLst>
              <a:ext uri="{FF2B5EF4-FFF2-40B4-BE49-F238E27FC236}">
                <a16:creationId xmlns:a16="http://schemas.microsoft.com/office/drawing/2014/main" id="{EBDF013B-5AA5-41C0-290B-D33FAF1D378F}"/>
              </a:ext>
            </a:extLst>
          </p:cNvPr>
          <p:cNvSpPr txBox="1">
            <a:spLocks/>
          </p:cNvSpPr>
          <p:nvPr/>
        </p:nvSpPr>
        <p:spPr>
          <a:xfrm>
            <a:off x="326018" y="697073"/>
            <a:ext cx="3331971"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OLS X=log Densidad de menm</a:t>
            </a:r>
            <a:endParaRPr lang="es-ES" sz="1400" spc="300" dirty="0">
              <a:solidFill>
                <a:schemeClr val="accent1"/>
              </a:solidFill>
              <a:latin typeface="Ancizar Sans" panose="020B0602040300000003" pitchFamily="34" charset="0"/>
              <a:cs typeface="Ancizar Serif"/>
            </a:endParaRPr>
          </a:p>
        </p:txBody>
      </p:sp>
      <p:pic>
        <p:nvPicPr>
          <p:cNvPr id="6" name="Imagen 5">
            <a:extLst>
              <a:ext uri="{FF2B5EF4-FFF2-40B4-BE49-F238E27FC236}">
                <a16:creationId xmlns:a16="http://schemas.microsoft.com/office/drawing/2014/main" id="{578AFAFC-F491-3767-12E1-1D6CF1361412}"/>
              </a:ext>
            </a:extLst>
          </p:cNvPr>
          <p:cNvPicPr>
            <a:picLocks noChangeAspect="1"/>
          </p:cNvPicPr>
          <p:nvPr/>
        </p:nvPicPr>
        <p:blipFill>
          <a:blip r:embed="rId2"/>
          <a:srcRect/>
          <a:stretch/>
        </p:blipFill>
        <p:spPr>
          <a:xfrm>
            <a:off x="426515" y="998803"/>
            <a:ext cx="3577673" cy="3537656"/>
          </a:xfrm>
          <a:prstGeom prst="rect">
            <a:avLst/>
          </a:prstGeom>
        </p:spPr>
      </p:pic>
      <p:sp>
        <p:nvSpPr>
          <p:cNvPr id="9" name="CuadroTexto 8">
            <a:extLst>
              <a:ext uri="{FF2B5EF4-FFF2-40B4-BE49-F238E27FC236}">
                <a16:creationId xmlns:a16="http://schemas.microsoft.com/office/drawing/2014/main" id="{39C3A9EB-8859-7268-FCFF-E96251A98AAB}"/>
              </a:ext>
            </a:extLst>
          </p:cNvPr>
          <p:cNvSpPr txBox="1"/>
          <p:nvPr/>
        </p:nvSpPr>
        <p:spPr>
          <a:xfrm>
            <a:off x="5139813" y="1935313"/>
            <a:ext cx="2541286" cy="1061829"/>
          </a:xfrm>
          <a:prstGeom prst="rect">
            <a:avLst/>
          </a:prstGeom>
          <a:solidFill>
            <a:srgbClr val="FFFFFF"/>
          </a:solidFill>
          <a:ln>
            <a:solidFill>
              <a:schemeClr val="accent1">
                <a:lumMod val="75000"/>
              </a:schemeClr>
            </a:solidFill>
          </a:ln>
        </p:spPr>
        <p:txBody>
          <a:bodyPr wrap="square" rtlCol="0">
            <a:spAutoFit/>
          </a:bodyPr>
          <a:lstStyle>
            <a:defPPr>
              <a:defRPr lang="es-ES"/>
            </a:defPPr>
            <a:lvl1pPr algn="ctr">
              <a:defRPr sz="1400"/>
            </a:lvl1pPr>
          </a:lstStyle>
          <a:p>
            <a:endParaRPr lang="es-CO" sz="900" dirty="0"/>
          </a:p>
          <a:p>
            <a:r>
              <a:rPr lang="es-CO" sz="900" dirty="0">
                <a:solidFill>
                  <a:schemeClr val="accent1"/>
                </a:solidFill>
              </a:rPr>
              <a:t>Moran I statistic standard deviate </a:t>
            </a:r>
            <a:r>
              <a:rPr lang="es-CO" sz="900" dirty="0"/>
              <a:t>= 7.2009</a:t>
            </a:r>
          </a:p>
          <a:p>
            <a:r>
              <a:rPr lang="es-CO" sz="900" dirty="0">
                <a:solidFill>
                  <a:schemeClr val="accent1"/>
                </a:solidFill>
              </a:rPr>
              <a:t>p-value</a:t>
            </a:r>
            <a:r>
              <a:rPr lang="es-CO" sz="900" dirty="0"/>
              <a:t> = 2.99e-13</a:t>
            </a:r>
          </a:p>
          <a:p>
            <a:endParaRPr lang="es-CO" sz="900" dirty="0"/>
          </a:p>
          <a:p>
            <a:r>
              <a:rPr lang="es-CO" sz="900" dirty="0">
                <a:solidFill>
                  <a:schemeClr val="accent1"/>
                </a:solidFill>
              </a:rPr>
              <a:t>sample estimates:</a:t>
            </a:r>
          </a:p>
          <a:p>
            <a:r>
              <a:rPr lang="es-CO" sz="900" dirty="0">
                <a:solidFill>
                  <a:schemeClr val="accent1"/>
                </a:solidFill>
              </a:rPr>
              <a:t>Moran I statistic       Expectation          Variance </a:t>
            </a:r>
          </a:p>
          <a:p>
            <a:r>
              <a:rPr lang="es-CO" sz="900" dirty="0"/>
              <a:t>      0.236732706      -0.002881844       </a:t>
            </a:r>
            <a:r>
              <a:rPr lang="en-US" sz="900" noProof="1"/>
              <a:t>0.001107261</a:t>
            </a:r>
            <a:r>
              <a:rPr lang="es-CO" sz="900" dirty="0"/>
              <a:t> </a:t>
            </a:r>
          </a:p>
        </p:txBody>
      </p:sp>
      <p:sp>
        <p:nvSpPr>
          <p:cNvPr id="13" name="Rectángulo: esquinas redondeadas 12">
            <a:extLst>
              <a:ext uri="{FF2B5EF4-FFF2-40B4-BE49-F238E27FC236}">
                <a16:creationId xmlns:a16="http://schemas.microsoft.com/office/drawing/2014/main" id="{482FAB84-6048-A4E2-82C1-E40DA8529696}"/>
              </a:ext>
            </a:extLst>
          </p:cNvPr>
          <p:cNvSpPr/>
          <p:nvPr/>
        </p:nvSpPr>
        <p:spPr>
          <a:xfrm>
            <a:off x="5194589" y="3300010"/>
            <a:ext cx="2431733" cy="435942"/>
          </a:xfrm>
          <a:prstGeom prst="roundRect">
            <a:avLst/>
          </a:prstGeom>
          <a:solidFill>
            <a:srgbClr val="620C78"/>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100" b="1" dirty="0">
                <a:solidFill>
                  <a:srgbClr val="FFFFFF"/>
                </a:solidFill>
              </a:rPr>
              <a:t>Hay correlación en los residuos</a:t>
            </a:r>
            <a:endParaRPr lang="es-CO" sz="800" b="1" dirty="0">
              <a:solidFill>
                <a:srgbClr val="FFFFFF"/>
              </a:solidFill>
            </a:endParaRPr>
          </a:p>
        </p:txBody>
      </p:sp>
      <p:sp>
        <p:nvSpPr>
          <p:cNvPr id="16" name="Rectángulo: esquinas redondeadas 15">
            <a:extLst>
              <a:ext uri="{FF2B5EF4-FFF2-40B4-BE49-F238E27FC236}">
                <a16:creationId xmlns:a16="http://schemas.microsoft.com/office/drawing/2014/main" id="{D01214B5-8E8A-E8B0-64C2-373E16A05443}"/>
              </a:ext>
            </a:extLst>
          </p:cNvPr>
          <p:cNvSpPr/>
          <p:nvPr/>
        </p:nvSpPr>
        <p:spPr>
          <a:xfrm>
            <a:off x="5194590" y="1172064"/>
            <a:ext cx="2431733" cy="435942"/>
          </a:xfrm>
          <a:prstGeom prst="roundRect">
            <a:avLst/>
          </a:prstGeom>
          <a:solidFill>
            <a:srgbClr val="620C78"/>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100" b="1" dirty="0">
                <a:solidFill>
                  <a:srgbClr val="FFFFFF"/>
                </a:solidFill>
              </a:rPr>
              <a:t>Como base de comparación se realizo un modelo clásico</a:t>
            </a:r>
            <a:endParaRPr lang="es-CO" sz="800" b="1" dirty="0">
              <a:solidFill>
                <a:srgbClr val="FFFFFF"/>
              </a:solidFill>
            </a:endParaRPr>
          </a:p>
        </p:txBody>
      </p:sp>
      <p:sp>
        <p:nvSpPr>
          <p:cNvPr id="18" name="CuadroTexto 17">
            <a:extLst>
              <a:ext uri="{FF2B5EF4-FFF2-40B4-BE49-F238E27FC236}">
                <a16:creationId xmlns:a16="http://schemas.microsoft.com/office/drawing/2014/main" id="{9D14D1D5-1920-A818-4918-D72A4F2094D9}"/>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spTree>
    <p:extLst>
      <p:ext uri="{BB962C8B-B14F-4D97-AF65-F5344CB8AC3E}">
        <p14:creationId xmlns:p14="http://schemas.microsoft.com/office/powerpoint/2010/main" val="1187926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75831-B3E0-6A25-E1D6-1A7B1BF32193}"/>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055CE37-67C0-5DE1-0A7D-C5F67B5451C4}"/>
              </a:ext>
            </a:extLst>
          </p:cNvPr>
          <p:cNvSpPr>
            <a:spLocks noGrp="1"/>
          </p:cNvSpPr>
          <p:nvPr>
            <p:ph type="sldNum" sz="quarter" idx="12"/>
          </p:nvPr>
        </p:nvSpPr>
        <p:spPr/>
        <p:txBody>
          <a:bodyPr/>
          <a:lstStyle/>
          <a:p>
            <a:r>
              <a:rPr lang="es-ES" dirty="0"/>
              <a:t>Página </a:t>
            </a:r>
            <a:fld id="{90BC2BA4-81C0-F544-BD72-C8CB9DA7C802}" type="slidenum">
              <a:rPr lang="es-ES" smtClean="0"/>
              <a:pPr/>
              <a:t>26</a:t>
            </a:fld>
            <a:r>
              <a:rPr lang="es-ES" dirty="0"/>
              <a:t> </a:t>
            </a:r>
          </a:p>
        </p:txBody>
      </p:sp>
      <p:sp>
        <p:nvSpPr>
          <p:cNvPr id="5" name="Título 1">
            <a:extLst>
              <a:ext uri="{FF2B5EF4-FFF2-40B4-BE49-F238E27FC236}">
                <a16:creationId xmlns:a16="http://schemas.microsoft.com/office/drawing/2014/main" id="{788F97E6-4839-A61C-508E-DB4CA592C33F}"/>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Regresión espacial</a:t>
            </a:r>
            <a:endParaRPr lang="es-CO" sz="3200" noProof="0" dirty="0">
              <a:solidFill>
                <a:schemeClr val="accent1"/>
              </a:solidFill>
              <a:latin typeface="Ancizar Serif Extrabold" panose="020A0902070300000003" pitchFamily="18" charset="0"/>
              <a:cs typeface="Ancizar Sans Extrabold"/>
            </a:endParaRPr>
          </a:p>
        </p:txBody>
      </p:sp>
      <p:sp>
        <p:nvSpPr>
          <p:cNvPr id="12" name="CuadroTexto 11">
            <a:extLst>
              <a:ext uri="{FF2B5EF4-FFF2-40B4-BE49-F238E27FC236}">
                <a16:creationId xmlns:a16="http://schemas.microsoft.com/office/drawing/2014/main" id="{5C95A326-F4A2-AA6F-C3A7-D457C3ADB117}"/>
              </a:ext>
            </a:extLst>
          </p:cNvPr>
          <p:cNvSpPr txBox="1"/>
          <p:nvPr/>
        </p:nvSpPr>
        <p:spPr>
          <a:xfrm>
            <a:off x="259080" y="4690505"/>
            <a:ext cx="3116580" cy="369332"/>
          </a:xfrm>
          <a:prstGeom prst="rect">
            <a:avLst/>
          </a:prstGeom>
          <a:noFill/>
        </p:spPr>
        <p:txBody>
          <a:bodyPr wrap="square" rtlCol="0">
            <a:spAutoFit/>
          </a:bodyPr>
          <a:lstStyle/>
          <a:p>
            <a:r>
              <a:rPr lang="es-ES" sz="900" i="1" dirty="0">
                <a:solidFill>
                  <a:schemeClr val="accent1"/>
                </a:solidFill>
                <a:latin typeface="Ancizar Sans" panose="020B0602040300000003" pitchFamily="34" charset="0"/>
              </a:rPr>
              <a:t>Facultad de Minas</a:t>
            </a:r>
          </a:p>
          <a:p>
            <a:r>
              <a:rPr lang="es-ES" sz="900" i="1" dirty="0">
                <a:solidFill>
                  <a:schemeClr val="accent1"/>
                </a:solidFill>
                <a:latin typeface="Ancizar Sans" panose="020B0602040300000003" pitchFamily="34" charset="0"/>
              </a:rPr>
              <a:t>Sede Medellín</a:t>
            </a:r>
          </a:p>
        </p:txBody>
      </p:sp>
      <p:pic>
        <p:nvPicPr>
          <p:cNvPr id="15" name="Imagen 14">
            <a:extLst>
              <a:ext uri="{FF2B5EF4-FFF2-40B4-BE49-F238E27FC236}">
                <a16:creationId xmlns:a16="http://schemas.microsoft.com/office/drawing/2014/main" id="{158D70A6-3545-7526-01E8-760724B0CAEA}"/>
              </a:ext>
            </a:extLst>
          </p:cNvPr>
          <p:cNvPicPr>
            <a:picLocks noChangeAspect="1"/>
          </p:cNvPicPr>
          <p:nvPr/>
        </p:nvPicPr>
        <p:blipFill>
          <a:blip r:embed="rId2"/>
          <a:stretch>
            <a:fillRect/>
          </a:stretch>
        </p:blipFill>
        <p:spPr>
          <a:xfrm>
            <a:off x="259080" y="1247154"/>
            <a:ext cx="4039277" cy="2677516"/>
          </a:xfrm>
          <a:prstGeom prst="rect">
            <a:avLst/>
          </a:prstGeom>
        </p:spPr>
      </p:pic>
      <p:sp>
        <p:nvSpPr>
          <p:cNvPr id="18" name="Título 1">
            <a:extLst>
              <a:ext uri="{FF2B5EF4-FFF2-40B4-BE49-F238E27FC236}">
                <a16:creationId xmlns:a16="http://schemas.microsoft.com/office/drawing/2014/main" id="{1C479E95-5856-D9B3-2F8E-AB068E1A6E6A}"/>
              </a:ext>
            </a:extLst>
          </p:cNvPr>
          <p:cNvSpPr txBox="1">
            <a:spLocks/>
          </p:cNvSpPr>
          <p:nvPr/>
        </p:nvSpPr>
        <p:spPr>
          <a:xfrm>
            <a:off x="301256" y="684906"/>
            <a:ext cx="4079155"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SEM X=log Densidad de menm</a:t>
            </a:r>
            <a:endParaRPr lang="es-ES" sz="1400" spc="300" dirty="0">
              <a:solidFill>
                <a:schemeClr val="accent1"/>
              </a:solidFill>
              <a:latin typeface="Ancizar Sans" panose="020B0602040300000003" pitchFamily="34" charset="0"/>
              <a:cs typeface="Ancizar Serif"/>
            </a:endParaRPr>
          </a:p>
        </p:txBody>
      </p:sp>
      <p:pic>
        <p:nvPicPr>
          <p:cNvPr id="24" name="Imagen 23">
            <a:extLst>
              <a:ext uri="{FF2B5EF4-FFF2-40B4-BE49-F238E27FC236}">
                <a16:creationId xmlns:a16="http://schemas.microsoft.com/office/drawing/2014/main" id="{B70E8818-FB67-A0DF-51B2-4530779FA3D8}"/>
              </a:ext>
            </a:extLst>
          </p:cNvPr>
          <p:cNvPicPr>
            <a:picLocks noChangeAspect="1"/>
          </p:cNvPicPr>
          <p:nvPr/>
        </p:nvPicPr>
        <p:blipFill>
          <a:blip r:embed="rId3"/>
          <a:srcRect/>
          <a:stretch/>
        </p:blipFill>
        <p:spPr>
          <a:xfrm>
            <a:off x="5259276" y="1016963"/>
            <a:ext cx="3012128" cy="3546866"/>
          </a:xfrm>
          <a:prstGeom prst="rect">
            <a:avLst/>
          </a:prstGeom>
        </p:spPr>
      </p:pic>
      <p:sp>
        <p:nvSpPr>
          <p:cNvPr id="26" name="Título 1">
            <a:extLst>
              <a:ext uri="{FF2B5EF4-FFF2-40B4-BE49-F238E27FC236}">
                <a16:creationId xmlns:a16="http://schemas.microsoft.com/office/drawing/2014/main" id="{0FA82E15-1CC6-6816-4F74-F9A983DDD827}"/>
              </a:ext>
            </a:extLst>
          </p:cNvPr>
          <p:cNvSpPr txBox="1">
            <a:spLocks/>
          </p:cNvSpPr>
          <p:nvPr/>
        </p:nvSpPr>
        <p:spPr>
          <a:xfrm>
            <a:off x="4976395" y="719838"/>
            <a:ext cx="4167605"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SAR SLX X=log Densidad de menm</a:t>
            </a:r>
            <a:endParaRPr lang="es-ES" sz="1400" spc="300" dirty="0">
              <a:solidFill>
                <a:schemeClr val="accent1"/>
              </a:solidFill>
              <a:latin typeface="Ancizar Sans" panose="020B0602040300000003" pitchFamily="34" charset="0"/>
              <a:cs typeface="Ancizar Serif"/>
            </a:endParaRPr>
          </a:p>
        </p:txBody>
      </p:sp>
    </p:spTree>
    <p:extLst>
      <p:ext uri="{BB962C8B-B14F-4D97-AF65-F5344CB8AC3E}">
        <p14:creationId xmlns:p14="http://schemas.microsoft.com/office/powerpoint/2010/main" val="13257057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46AD3CA-05CB-D6A0-AAB3-9218BC4406BB}"/>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B5C7A0E2-B39B-D608-2745-66258A85DBE0}"/>
              </a:ext>
            </a:extLst>
          </p:cNvPr>
          <p:cNvSpPr txBox="1"/>
          <p:nvPr/>
        </p:nvSpPr>
        <p:spPr>
          <a:xfrm>
            <a:off x="259080" y="4690504"/>
            <a:ext cx="3116580" cy="369332"/>
          </a:xfrm>
          <a:prstGeom prst="rect">
            <a:avLst/>
          </a:prstGeom>
          <a:noFill/>
        </p:spPr>
        <p:txBody>
          <a:bodyPr wrap="square" rtlCol="0">
            <a:spAutoFit/>
          </a:bodyPr>
          <a:lstStyle/>
          <a:p>
            <a:r>
              <a:rPr lang="es-CO" sz="900" i="1" noProof="0" dirty="0">
                <a:solidFill>
                  <a:schemeClr val="bg2"/>
                </a:solidFill>
                <a:latin typeface="Ancizar Sans" panose="020B0602040300000003" pitchFamily="34" charset="0"/>
              </a:rPr>
              <a:t>Facultad de Minas</a:t>
            </a:r>
          </a:p>
          <a:p>
            <a:r>
              <a:rPr lang="es-CO" sz="900" i="1" noProof="0" dirty="0">
                <a:solidFill>
                  <a:schemeClr val="bg2"/>
                </a:solidFill>
                <a:latin typeface="Ancizar Sans" panose="020B0602040300000003" pitchFamily="34" charset="0"/>
              </a:rPr>
              <a:t>Sede Medellín</a:t>
            </a:r>
          </a:p>
        </p:txBody>
      </p:sp>
      <p:sp>
        <p:nvSpPr>
          <p:cNvPr id="8" name="Marcador de número de diapositiva 7">
            <a:extLst>
              <a:ext uri="{FF2B5EF4-FFF2-40B4-BE49-F238E27FC236}">
                <a16:creationId xmlns:a16="http://schemas.microsoft.com/office/drawing/2014/main" id="{8AE1E8AD-D75D-78D0-A231-6AC4112A95D1}"/>
              </a:ext>
            </a:extLst>
          </p:cNvPr>
          <p:cNvSpPr>
            <a:spLocks noGrp="1"/>
          </p:cNvSpPr>
          <p:nvPr>
            <p:ph type="sldNum" sz="quarter" idx="12"/>
          </p:nvPr>
        </p:nvSpPr>
        <p:spPr/>
        <p:txBody>
          <a:bodyPr/>
          <a:lstStyle/>
          <a:p>
            <a:fld id="{90BC2BA4-81C0-F544-BD72-C8CB9DA7C802}" type="slidenum">
              <a:rPr lang="es-CO" noProof="0" smtClean="0"/>
              <a:pPr/>
              <a:t>27</a:t>
            </a:fld>
            <a:endParaRPr lang="es-CO" noProof="0" dirty="0"/>
          </a:p>
        </p:txBody>
      </p:sp>
      <p:sp>
        <p:nvSpPr>
          <p:cNvPr id="16" name="Título 1">
            <a:extLst>
              <a:ext uri="{FF2B5EF4-FFF2-40B4-BE49-F238E27FC236}">
                <a16:creationId xmlns:a16="http://schemas.microsoft.com/office/drawing/2014/main" id="{357A54B3-898B-BFE1-385F-BF1FDEC3CFC4}"/>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Regresión espacial</a:t>
            </a:r>
            <a:endParaRPr lang="es-CO" sz="3200" noProof="0" dirty="0">
              <a:solidFill>
                <a:schemeClr val="accent1"/>
              </a:solidFill>
              <a:latin typeface="Ancizar Serif Extrabold" panose="020A0902070300000003" pitchFamily="18" charset="0"/>
              <a:cs typeface="Ancizar Sans Extrabold"/>
            </a:endParaRPr>
          </a:p>
        </p:txBody>
      </p:sp>
      <p:sp>
        <p:nvSpPr>
          <p:cNvPr id="30" name="Título 1">
            <a:extLst>
              <a:ext uri="{FF2B5EF4-FFF2-40B4-BE49-F238E27FC236}">
                <a16:creationId xmlns:a16="http://schemas.microsoft.com/office/drawing/2014/main" id="{E7A2D975-1F3D-A237-BB63-8DDDEE804B63}"/>
              </a:ext>
            </a:extLst>
          </p:cNvPr>
          <p:cNvSpPr txBox="1">
            <a:spLocks/>
          </p:cNvSpPr>
          <p:nvPr/>
        </p:nvSpPr>
        <p:spPr>
          <a:xfrm>
            <a:off x="680912" y="696179"/>
            <a:ext cx="4079155"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SAR X=log Densidad de menm</a:t>
            </a:r>
            <a:endParaRPr lang="es-ES" sz="1400" spc="300" dirty="0">
              <a:solidFill>
                <a:schemeClr val="accent1"/>
              </a:solidFill>
              <a:latin typeface="Ancizar Sans" panose="020B0602040300000003" pitchFamily="34" charset="0"/>
              <a:cs typeface="Ancizar Serif"/>
            </a:endParaRPr>
          </a:p>
        </p:txBody>
      </p:sp>
      <p:pic>
        <p:nvPicPr>
          <p:cNvPr id="32" name="Imagen 31">
            <a:extLst>
              <a:ext uri="{FF2B5EF4-FFF2-40B4-BE49-F238E27FC236}">
                <a16:creationId xmlns:a16="http://schemas.microsoft.com/office/drawing/2014/main" id="{D216C09B-6168-2334-C139-A3EA0ACB719E}"/>
              </a:ext>
            </a:extLst>
          </p:cNvPr>
          <p:cNvPicPr>
            <a:picLocks noChangeAspect="1"/>
          </p:cNvPicPr>
          <p:nvPr/>
        </p:nvPicPr>
        <p:blipFill>
          <a:blip r:embed="rId3"/>
          <a:srcRect/>
          <a:stretch/>
        </p:blipFill>
        <p:spPr>
          <a:xfrm>
            <a:off x="499209" y="1006601"/>
            <a:ext cx="3493756" cy="3547983"/>
          </a:xfrm>
          <a:prstGeom prst="rect">
            <a:avLst/>
          </a:prstGeom>
        </p:spPr>
      </p:pic>
      <p:pic>
        <p:nvPicPr>
          <p:cNvPr id="34" name="Imagen 33">
            <a:extLst>
              <a:ext uri="{FF2B5EF4-FFF2-40B4-BE49-F238E27FC236}">
                <a16:creationId xmlns:a16="http://schemas.microsoft.com/office/drawing/2014/main" id="{F238468F-D07C-C22A-986A-9476FFD1393E}"/>
              </a:ext>
            </a:extLst>
          </p:cNvPr>
          <p:cNvPicPr>
            <a:picLocks noChangeAspect="1"/>
          </p:cNvPicPr>
          <p:nvPr/>
        </p:nvPicPr>
        <p:blipFill>
          <a:blip r:embed="rId4"/>
          <a:stretch>
            <a:fillRect/>
          </a:stretch>
        </p:blipFill>
        <p:spPr>
          <a:xfrm>
            <a:off x="5375601" y="817500"/>
            <a:ext cx="3070927" cy="3737083"/>
          </a:xfrm>
          <a:prstGeom prst="rect">
            <a:avLst/>
          </a:prstGeom>
        </p:spPr>
      </p:pic>
      <p:sp>
        <p:nvSpPr>
          <p:cNvPr id="36" name="Título 1">
            <a:extLst>
              <a:ext uri="{FF2B5EF4-FFF2-40B4-BE49-F238E27FC236}">
                <a16:creationId xmlns:a16="http://schemas.microsoft.com/office/drawing/2014/main" id="{7ECF3105-3307-34AD-A47B-E61B7C04B94B}"/>
              </a:ext>
            </a:extLst>
          </p:cNvPr>
          <p:cNvSpPr txBox="1">
            <a:spLocks/>
          </p:cNvSpPr>
          <p:nvPr/>
        </p:nvSpPr>
        <p:spPr>
          <a:xfrm>
            <a:off x="5377000" y="428124"/>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CAR Leroux  X=# de menm</a:t>
            </a:r>
            <a:endParaRPr lang="es-ES" sz="1400" spc="300" dirty="0">
              <a:solidFill>
                <a:schemeClr val="accent1"/>
              </a:solidFill>
              <a:latin typeface="Ancizar Sans" panose="020B0602040300000003" pitchFamily="34" charset="0"/>
              <a:cs typeface="Ancizar Serif"/>
            </a:endParaRPr>
          </a:p>
        </p:txBody>
      </p:sp>
    </p:spTree>
    <p:extLst>
      <p:ext uri="{BB962C8B-B14F-4D97-AF65-F5344CB8AC3E}">
        <p14:creationId xmlns:p14="http://schemas.microsoft.com/office/powerpoint/2010/main" val="3382393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6874E-4EAE-C25A-D107-19FCB609BC11}"/>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8055942-6E19-8A73-E169-BCF0F4AB2385}"/>
              </a:ext>
            </a:extLst>
          </p:cNvPr>
          <p:cNvSpPr>
            <a:spLocks noGrp="1"/>
          </p:cNvSpPr>
          <p:nvPr>
            <p:ph type="sldNum" sz="quarter" idx="12"/>
          </p:nvPr>
        </p:nvSpPr>
        <p:spPr/>
        <p:txBody>
          <a:bodyPr/>
          <a:lstStyle/>
          <a:p>
            <a:r>
              <a:rPr lang="es-ES" dirty="0"/>
              <a:t>Página </a:t>
            </a:r>
            <a:fld id="{90BC2BA4-81C0-F544-BD72-C8CB9DA7C802}" type="slidenum">
              <a:rPr lang="es-ES" smtClean="0"/>
              <a:pPr/>
              <a:t>28</a:t>
            </a:fld>
            <a:r>
              <a:rPr lang="es-ES" dirty="0"/>
              <a:t> </a:t>
            </a:r>
          </a:p>
        </p:txBody>
      </p:sp>
      <p:graphicFrame>
        <p:nvGraphicFramePr>
          <p:cNvPr id="2" name="Tabla 1">
            <a:extLst>
              <a:ext uri="{FF2B5EF4-FFF2-40B4-BE49-F238E27FC236}">
                <a16:creationId xmlns:a16="http://schemas.microsoft.com/office/drawing/2014/main" id="{E32697C9-F7F0-2E12-6120-CB08AC1B1541}"/>
              </a:ext>
            </a:extLst>
          </p:cNvPr>
          <p:cNvGraphicFramePr>
            <a:graphicFrameLocks noGrp="1"/>
          </p:cNvGraphicFramePr>
          <p:nvPr>
            <p:extLst>
              <p:ext uri="{D42A27DB-BD31-4B8C-83A1-F6EECF244321}">
                <p14:modId xmlns:p14="http://schemas.microsoft.com/office/powerpoint/2010/main" val="416971388"/>
              </p:ext>
            </p:extLst>
          </p:nvPr>
        </p:nvGraphicFramePr>
        <p:xfrm>
          <a:off x="371475" y="980570"/>
          <a:ext cx="8229600" cy="1966617"/>
        </p:xfrm>
        <a:graphic>
          <a:graphicData uri="http://schemas.openxmlformats.org/drawingml/2006/table">
            <a:tbl>
              <a:tblPr>
                <a:tableStyleId>{5C22544A-7EE6-4342-B048-85BDC9FD1C3A}</a:tableStyleId>
              </a:tblPr>
              <a:tblGrid>
                <a:gridCol w="754036">
                  <a:extLst>
                    <a:ext uri="{9D8B030D-6E8A-4147-A177-3AD203B41FA5}">
                      <a16:colId xmlns:a16="http://schemas.microsoft.com/office/drawing/2014/main" val="2741231909"/>
                    </a:ext>
                  </a:extLst>
                </a:gridCol>
                <a:gridCol w="931889">
                  <a:extLst>
                    <a:ext uri="{9D8B030D-6E8A-4147-A177-3AD203B41FA5}">
                      <a16:colId xmlns:a16="http://schemas.microsoft.com/office/drawing/2014/main" val="1346888146"/>
                    </a:ext>
                  </a:extLst>
                </a:gridCol>
                <a:gridCol w="508439">
                  <a:extLst>
                    <a:ext uri="{9D8B030D-6E8A-4147-A177-3AD203B41FA5}">
                      <a16:colId xmlns:a16="http://schemas.microsoft.com/office/drawing/2014/main" val="1773070325"/>
                    </a:ext>
                  </a:extLst>
                </a:gridCol>
                <a:gridCol w="901261">
                  <a:extLst>
                    <a:ext uri="{9D8B030D-6E8A-4147-A177-3AD203B41FA5}">
                      <a16:colId xmlns:a16="http://schemas.microsoft.com/office/drawing/2014/main" val="3877574681"/>
                    </a:ext>
                  </a:extLst>
                </a:gridCol>
                <a:gridCol w="1431539">
                  <a:extLst>
                    <a:ext uri="{9D8B030D-6E8A-4147-A177-3AD203B41FA5}">
                      <a16:colId xmlns:a16="http://schemas.microsoft.com/office/drawing/2014/main" val="4233272216"/>
                    </a:ext>
                  </a:extLst>
                </a:gridCol>
                <a:gridCol w="3702436">
                  <a:extLst>
                    <a:ext uri="{9D8B030D-6E8A-4147-A177-3AD203B41FA5}">
                      <a16:colId xmlns:a16="http://schemas.microsoft.com/office/drawing/2014/main" val="3376654279"/>
                    </a:ext>
                  </a:extLst>
                </a:gridCol>
              </a:tblGrid>
              <a:tr h="320106">
                <a:tc>
                  <a:txBody>
                    <a:bodyPr/>
                    <a:lstStyle/>
                    <a:p>
                      <a:pPr algn="ctr" fontAlgn="ctr">
                        <a:buNone/>
                      </a:pPr>
                      <a:r>
                        <a:rPr lang="es-CO" sz="1000" u="none" strike="noStrike" dirty="0">
                          <a:solidFill>
                            <a:schemeClr val="tx1"/>
                          </a:solidFill>
                          <a:effectLst/>
                        </a:rPr>
                        <a:t>Modelo</a:t>
                      </a:r>
                      <a:endParaRPr lang="es-CO" sz="1000" b="1" i="0" u="none" strike="noStrike" dirty="0">
                        <a:solidFill>
                          <a:schemeClr val="tx1"/>
                        </a:solidFill>
                        <a:effectLst/>
                        <a:latin typeface="Aptos Narrow" panose="020B0004020202020204" pitchFamily="34" charset="0"/>
                      </a:endParaRPr>
                    </a:p>
                  </a:txBody>
                  <a:tcPr marL="8843" marR="8843" marT="8843" marB="0" anchor="ctr">
                    <a:solidFill>
                      <a:schemeClr val="tx2">
                        <a:lumMod val="60000"/>
                        <a:lumOff val="40000"/>
                      </a:schemeClr>
                    </a:solidFill>
                  </a:tcPr>
                </a:tc>
                <a:tc>
                  <a:txBody>
                    <a:bodyPr/>
                    <a:lstStyle/>
                    <a:p>
                      <a:pPr algn="ctr" fontAlgn="ctr">
                        <a:buNone/>
                      </a:pPr>
                      <a:r>
                        <a:rPr lang="es-CO" sz="1000" u="none" strike="noStrike" dirty="0">
                          <a:solidFill>
                            <a:schemeClr val="tx1"/>
                          </a:solidFill>
                          <a:effectLst/>
                        </a:rPr>
                        <a:t>R² / Pseudo R²</a:t>
                      </a:r>
                      <a:endParaRPr lang="es-CO" sz="1000" b="1" i="0" u="none" strike="noStrike" dirty="0">
                        <a:solidFill>
                          <a:schemeClr val="tx1"/>
                        </a:solidFill>
                        <a:effectLst/>
                        <a:latin typeface="Aptos Narrow" panose="020B0004020202020204" pitchFamily="34" charset="0"/>
                      </a:endParaRPr>
                    </a:p>
                  </a:txBody>
                  <a:tcPr marL="8843" marR="8843" marT="8843" marB="0" anchor="ctr">
                    <a:solidFill>
                      <a:schemeClr val="tx2">
                        <a:lumMod val="60000"/>
                        <a:lumOff val="40000"/>
                      </a:schemeClr>
                    </a:solidFill>
                  </a:tcPr>
                </a:tc>
                <a:tc>
                  <a:txBody>
                    <a:bodyPr/>
                    <a:lstStyle/>
                    <a:p>
                      <a:pPr algn="ctr" fontAlgn="ctr">
                        <a:buNone/>
                      </a:pPr>
                      <a:r>
                        <a:rPr lang="es-CO" sz="1000" u="none" strike="noStrike" dirty="0">
                          <a:solidFill>
                            <a:schemeClr val="tx1"/>
                          </a:solidFill>
                          <a:effectLst/>
                        </a:rPr>
                        <a:t>AIC</a:t>
                      </a:r>
                      <a:endParaRPr lang="es-CO" sz="1000" b="1" i="0" u="none" strike="noStrike" dirty="0">
                        <a:solidFill>
                          <a:schemeClr val="tx1"/>
                        </a:solidFill>
                        <a:effectLst/>
                        <a:latin typeface="Aptos Narrow" panose="020B0004020202020204" pitchFamily="34" charset="0"/>
                      </a:endParaRPr>
                    </a:p>
                  </a:txBody>
                  <a:tcPr marL="8843" marR="8843" marT="8843" marB="0" anchor="ctr">
                    <a:solidFill>
                      <a:schemeClr val="tx2">
                        <a:lumMod val="60000"/>
                        <a:lumOff val="40000"/>
                      </a:schemeClr>
                    </a:solidFill>
                  </a:tcPr>
                </a:tc>
                <a:tc>
                  <a:txBody>
                    <a:bodyPr/>
                    <a:lstStyle/>
                    <a:p>
                      <a:pPr algn="ctr" fontAlgn="ctr">
                        <a:buNone/>
                      </a:pPr>
                      <a:r>
                        <a:rPr lang="es-CO" sz="1000" u="none" strike="noStrike" dirty="0">
                          <a:solidFill>
                            <a:schemeClr val="tx1"/>
                          </a:solidFill>
                          <a:effectLst/>
                        </a:rPr>
                        <a:t>LogLik</a:t>
                      </a:r>
                      <a:endParaRPr lang="es-CO" sz="1000" b="1" i="0" u="none" strike="noStrike" dirty="0">
                        <a:solidFill>
                          <a:schemeClr val="tx1"/>
                        </a:solidFill>
                        <a:effectLst/>
                        <a:latin typeface="Aptos Narrow" panose="020B0004020202020204" pitchFamily="34" charset="0"/>
                      </a:endParaRPr>
                    </a:p>
                  </a:txBody>
                  <a:tcPr marL="8843" marR="8843" marT="8843" marB="0" anchor="ctr">
                    <a:solidFill>
                      <a:schemeClr val="tx2">
                        <a:lumMod val="60000"/>
                        <a:lumOff val="40000"/>
                      </a:schemeClr>
                    </a:solidFill>
                  </a:tcPr>
                </a:tc>
                <a:tc>
                  <a:txBody>
                    <a:bodyPr/>
                    <a:lstStyle/>
                    <a:p>
                      <a:pPr algn="ctr" fontAlgn="ctr">
                        <a:buNone/>
                      </a:pPr>
                      <a:r>
                        <a:rPr lang="es-CO" sz="1000" u="none" strike="noStrike" dirty="0">
                          <a:solidFill>
                            <a:schemeClr val="tx1"/>
                          </a:solidFill>
                          <a:effectLst/>
                        </a:rPr>
                        <a:t>Dependencia espacial</a:t>
                      </a:r>
                      <a:endParaRPr lang="es-CO" sz="1000" b="1" i="0" u="none" strike="noStrike" dirty="0">
                        <a:solidFill>
                          <a:schemeClr val="tx1"/>
                        </a:solidFill>
                        <a:effectLst/>
                        <a:latin typeface="Aptos Narrow" panose="020B0004020202020204" pitchFamily="34" charset="0"/>
                      </a:endParaRPr>
                    </a:p>
                  </a:txBody>
                  <a:tcPr marL="8843" marR="8843" marT="8843" marB="0" anchor="ctr">
                    <a:solidFill>
                      <a:schemeClr val="tx2">
                        <a:lumMod val="60000"/>
                        <a:lumOff val="40000"/>
                      </a:schemeClr>
                    </a:solidFill>
                  </a:tcPr>
                </a:tc>
                <a:tc>
                  <a:txBody>
                    <a:bodyPr/>
                    <a:lstStyle/>
                    <a:p>
                      <a:pPr algn="ctr" fontAlgn="ctr">
                        <a:buNone/>
                      </a:pPr>
                      <a:r>
                        <a:rPr lang="es-CO" sz="1000" u="none" strike="noStrike" dirty="0">
                          <a:solidFill>
                            <a:schemeClr val="tx1"/>
                          </a:solidFill>
                          <a:effectLst/>
                        </a:rPr>
                        <a:t>Comentarios</a:t>
                      </a:r>
                      <a:endParaRPr lang="es-CO" sz="1000" b="1" i="0" u="none" strike="noStrike" dirty="0">
                        <a:solidFill>
                          <a:schemeClr val="tx1"/>
                        </a:solidFill>
                        <a:effectLst/>
                        <a:latin typeface="Aptos Narrow" panose="020B0004020202020204" pitchFamily="34" charset="0"/>
                      </a:endParaRPr>
                    </a:p>
                  </a:txBody>
                  <a:tcPr marL="8843" marR="8843" marT="8843" marB="0" anchor="ctr">
                    <a:solidFill>
                      <a:schemeClr val="tx2">
                        <a:lumMod val="60000"/>
                        <a:lumOff val="40000"/>
                      </a:schemeClr>
                    </a:solidFill>
                  </a:tcPr>
                </a:tc>
                <a:extLst>
                  <a:ext uri="{0D108BD9-81ED-4DB2-BD59-A6C34878D82A}">
                    <a16:rowId xmlns:a16="http://schemas.microsoft.com/office/drawing/2014/main" val="245932864"/>
                  </a:ext>
                </a:extLst>
              </a:tr>
              <a:tr h="176854">
                <a:tc>
                  <a:txBody>
                    <a:bodyPr/>
                    <a:lstStyle/>
                    <a:p>
                      <a:pPr algn="ctr" fontAlgn="ctr">
                        <a:buNone/>
                      </a:pPr>
                      <a:r>
                        <a:rPr lang="es-CO" sz="1000" b="1" u="none" strike="noStrike">
                          <a:effectLst/>
                        </a:rPr>
                        <a:t>OLS</a:t>
                      </a:r>
                      <a:endParaRPr lang="es-CO" sz="1000" b="1"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0.484</a:t>
                      </a:r>
                      <a:endParaRPr lang="es-CO" sz="1000" b="1"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1039.50</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-514.75</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l" fontAlgn="ctr">
                        <a:buNone/>
                      </a:pPr>
                      <a:r>
                        <a:rPr lang="es-CO" sz="1000" u="none" strike="noStrike" dirty="0">
                          <a:effectLst/>
                        </a:rPr>
                        <a:t>No</a:t>
                      </a:r>
                      <a:endParaRPr lang="es-CO" sz="1000" b="0" i="0" u="none" strike="noStrike" dirty="0">
                        <a:solidFill>
                          <a:srgbClr val="000000"/>
                        </a:solidFill>
                        <a:effectLst/>
                        <a:latin typeface="Aptos Narrow" panose="020B0004020202020204" pitchFamily="34" charset="0"/>
                      </a:endParaRPr>
                    </a:p>
                  </a:txBody>
                  <a:tcPr marL="8843" marR="8843" marT="8843" marB="0" anchor="ctr"/>
                </a:tc>
                <a:tc>
                  <a:txBody>
                    <a:bodyPr/>
                    <a:lstStyle/>
                    <a:p>
                      <a:pPr algn="l" fontAlgn="ctr">
                        <a:buNone/>
                      </a:pPr>
                      <a:r>
                        <a:rPr lang="es-CO" sz="1000" u="none" strike="noStrike" dirty="0">
                          <a:effectLst/>
                        </a:rPr>
                        <a:t>Modelo base. Residuos con autocorrelación espacial.</a:t>
                      </a:r>
                      <a:endParaRPr lang="es-CO" sz="1000" b="0" i="0" u="none" strike="noStrike" dirty="0">
                        <a:solidFill>
                          <a:srgbClr val="000000"/>
                        </a:solidFill>
                        <a:effectLst/>
                        <a:latin typeface="Aptos Narrow" panose="020B0004020202020204" pitchFamily="34" charset="0"/>
                      </a:endParaRPr>
                    </a:p>
                  </a:txBody>
                  <a:tcPr marL="8843" marR="8843" marT="8843" marB="0" anchor="ctr"/>
                </a:tc>
                <a:extLst>
                  <a:ext uri="{0D108BD9-81ED-4DB2-BD59-A6C34878D82A}">
                    <a16:rowId xmlns:a16="http://schemas.microsoft.com/office/drawing/2014/main" val="3746270847"/>
                  </a:ext>
                </a:extLst>
              </a:tr>
              <a:tr h="320106">
                <a:tc>
                  <a:txBody>
                    <a:bodyPr/>
                    <a:lstStyle/>
                    <a:p>
                      <a:pPr algn="ctr" fontAlgn="ctr">
                        <a:buNone/>
                      </a:pPr>
                      <a:r>
                        <a:rPr lang="es-CO" sz="1000" b="1" u="none" strike="noStrike">
                          <a:effectLst/>
                        </a:rPr>
                        <a:t>SLX</a:t>
                      </a:r>
                      <a:endParaRPr lang="es-CO" sz="1000" b="1"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0.558</a:t>
                      </a:r>
                      <a:endParaRPr lang="es-CO" sz="1000" b="1"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994.10</a:t>
                      </a:r>
                      <a:endParaRPr lang="es-CO" sz="1000" b="1"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-488.05</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l" fontAlgn="ctr">
                        <a:buNone/>
                      </a:pPr>
                      <a:r>
                        <a:rPr lang="es-CO" sz="1000" u="none" strike="noStrike">
                          <a:effectLst/>
                        </a:rPr>
                        <a:t>WX</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l" fontAlgn="ctr">
                        <a:buNone/>
                      </a:pPr>
                      <a:r>
                        <a:rPr lang="es-CO" sz="1000" u="none" strike="noStrike" dirty="0">
                          <a:effectLst/>
                        </a:rPr>
                        <a:t>Mejora considerable el ajuste. Los atributos de los vecinos son importantes.</a:t>
                      </a:r>
                      <a:endParaRPr lang="es-CO" sz="1000" b="0" i="0" u="none" strike="noStrike" dirty="0">
                        <a:solidFill>
                          <a:srgbClr val="000000"/>
                        </a:solidFill>
                        <a:effectLst/>
                        <a:latin typeface="Aptos Narrow" panose="020B0004020202020204" pitchFamily="34" charset="0"/>
                      </a:endParaRPr>
                    </a:p>
                  </a:txBody>
                  <a:tcPr marL="8843" marR="8843" marT="8843" marB="0" anchor="ctr"/>
                </a:tc>
                <a:extLst>
                  <a:ext uri="{0D108BD9-81ED-4DB2-BD59-A6C34878D82A}">
                    <a16:rowId xmlns:a16="http://schemas.microsoft.com/office/drawing/2014/main" val="2557486438"/>
                  </a:ext>
                </a:extLst>
              </a:tr>
              <a:tr h="176854">
                <a:tc>
                  <a:txBody>
                    <a:bodyPr/>
                    <a:lstStyle/>
                    <a:p>
                      <a:pPr algn="ctr" fontAlgn="ctr">
                        <a:buNone/>
                      </a:pPr>
                      <a:r>
                        <a:rPr lang="es-CO" sz="1000" b="1" u="none" strike="noStrike" dirty="0">
                          <a:effectLst/>
                        </a:rPr>
                        <a:t>SAR</a:t>
                      </a:r>
                      <a:endParaRPr lang="es-CO" sz="1000" b="1" i="0" u="none" strike="noStrike" dirty="0">
                        <a:solidFill>
                          <a:srgbClr val="000000"/>
                        </a:solidFill>
                        <a:effectLst/>
                        <a:latin typeface="Aptos Narrow" panose="020B0004020202020204" pitchFamily="34" charset="0"/>
                      </a:endParaRPr>
                    </a:p>
                  </a:txBody>
                  <a:tcPr marL="8843" marR="8843" marT="8843" marB="0" anchor="ctr">
                    <a:solidFill>
                      <a:schemeClr val="tx2">
                        <a:lumMod val="40000"/>
                        <a:lumOff val="60000"/>
                      </a:schemeClr>
                    </a:solidFill>
                  </a:tcPr>
                </a:tc>
                <a:tc>
                  <a:txBody>
                    <a:bodyPr/>
                    <a:lstStyle/>
                    <a:p>
                      <a:pPr algn="r" fontAlgn="ctr">
                        <a:buNone/>
                      </a:pPr>
                      <a:r>
                        <a:rPr lang="es-CO" sz="1000" b="1" u="none" strike="noStrike" dirty="0">
                          <a:effectLst/>
                        </a:rPr>
                        <a:t>0.636</a:t>
                      </a:r>
                      <a:endParaRPr lang="es-CO" sz="1000" b="1" i="0" u="none" strike="noStrike" dirty="0">
                        <a:solidFill>
                          <a:srgbClr val="000000"/>
                        </a:solidFill>
                        <a:effectLst/>
                        <a:latin typeface="Aptos Narrow" panose="020B0004020202020204" pitchFamily="34" charset="0"/>
                      </a:endParaRPr>
                    </a:p>
                  </a:txBody>
                  <a:tcPr marL="8843" marR="8843" marT="8843" marB="0" anchor="ctr">
                    <a:solidFill>
                      <a:schemeClr val="tx2">
                        <a:lumMod val="40000"/>
                        <a:lumOff val="60000"/>
                      </a:schemeClr>
                    </a:solidFill>
                  </a:tcPr>
                </a:tc>
                <a:tc>
                  <a:txBody>
                    <a:bodyPr/>
                    <a:lstStyle/>
                    <a:p>
                      <a:pPr algn="r" fontAlgn="ctr">
                        <a:buNone/>
                      </a:pPr>
                      <a:r>
                        <a:rPr lang="es-CO" sz="1000" b="1" u="none" strike="noStrike" dirty="0">
                          <a:effectLst/>
                        </a:rPr>
                        <a:t>960.97</a:t>
                      </a:r>
                      <a:endParaRPr lang="es-CO" sz="1000" b="1" i="0" u="none" strike="noStrike" dirty="0">
                        <a:solidFill>
                          <a:srgbClr val="000000"/>
                        </a:solidFill>
                        <a:effectLst/>
                        <a:latin typeface="Aptos Narrow" panose="020B0004020202020204" pitchFamily="34" charset="0"/>
                      </a:endParaRPr>
                    </a:p>
                  </a:txBody>
                  <a:tcPr marL="8843" marR="8843" marT="8843" marB="0" anchor="ctr">
                    <a:solidFill>
                      <a:schemeClr val="tx2">
                        <a:lumMod val="40000"/>
                        <a:lumOff val="60000"/>
                      </a:schemeClr>
                    </a:solidFill>
                  </a:tcPr>
                </a:tc>
                <a:tc>
                  <a:txBody>
                    <a:bodyPr/>
                    <a:lstStyle/>
                    <a:p>
                      <a:pPr algn="r" fontAlgn="ctr">
                        <a:buNone/>
                      </a:pPr>
                      <a:r>
                        <a:rPr lang="es-CO" sz="1000" b="1" u="none" strike="noStrike" dirty="0">
                          <a:effectLst/>
                        </a:rPr>
                        <a:t>-473.49</a:t>
                      </a:r>
                      <a:endParaRPr lang="es-CO" sz="1000" b="1" i="0" u="none" strike="noStrike" dirty="0">
                        <a:solidFill>
                          <a:srgbClr val="000000"/>
                        </a:solidFill>
                        <a:effectLst/>
                        <a:latin typeface="Aptos Narrow" panose="020B0004020202020204" pitchFamily="34" charset="0"/>
                      </a:endParaRPr>
                    </a:p>
                  </a:txBody>
                  <a:tcPr marL="8843" marR="8843" marT="8843" marB="0" anchor="ctr">
                    <a:solidFill>
                      <a:schemeClr val="tx2">
                        <a:lumMod val="40000"/>
                        <a:lumOff val="60000"/>
                      </a:schemeClr>
                    </a:solidFill>
                  </a:tcPr>
                </a:tc>
                <a:tc>
                  <a:txBody>
                    <a:bodyPr/>
                    <a:lstStyle/>
                    <a:p>
                      <a:pPr algn="l" fontAlgn="ctr">
                        <a:buNone/>
                      </a:pPr>
                      <a:r>
                        <a:rPr lang="es-CO" sz="1000" b="1" u="none" strike="noStrike" dirty="0">
                          <a:effectLst/>
                        </a:rPr>
                        <a:t>WY</a:t>
                      </a:r>
                      <a:endParaRPr lang="es-CO" sz="1000" b="1" i="0" u="none" strike="noStrike" dirty="0">
                        <a:solidFill>
                          <a:srgbClr val="000000"/>
                        </a:solidFill>
                        <a:effectLst/>
                        <a:latin typeface="Aptos Narrow" panose="020B0004020202020204" pitchFamily="34" charset="0"/>
                      </a:endParaRPr>
                    </a:p>
                  </a:txBody>
                  <a:tcPr marL="8843" marR="8843" marT="8843" marB="0" anchor="ctr">
                    <a:solidFill>
                      <a:schemeClr val="tx2">
                        <a:lumMod val="40000"/>
                        <a:lumOff val="60000"/>
                      </a:schemeClr>
                    </a:solidFill>
                  </a:tcPr>
                </a:tc>
                <a:tc>
                  <a:txBody>
                    <a:bodyPr/>
                    <a:lstStyle/>
                    <a:p>
                      <a:pPr algn="l" fontAlgn="ctr">
                        <a:buNone/>
                      </a:pPr>
                      <a:r>
                        <a:rPr lang="es-CO" sz="1000" b="1" u="none" strike="noStrike" dirty="0">
                          <a:effectLst/>
                        </a:rPr>
                        <a:t>Mejor ajuste global. Elimina la autocorrelación espacial residual.</a:t>
                      </a:r>
                      <a:endParaRPr lang="es-CO" sz="1000" b="1" i="0" u="none" strike="noStrike" dirty="0">
                        <a:solidFill>
                          <a:srgbClr val="000000"/>
                        </a:solidFill>
                        <a:effectLst/>
                        <a:latin typeface="Aptos Narrow" panose="020B0004020202020204" pitchFamily="34" charset="0"/>
                      </a:endParaRPr>
                    </a:p>
                  </a:txBody>
                  <a:tcPr marL="8843" marR="8843" marT="8843" marB="0" anchor="ctr">
                    <a:solidFill>
                      <a:schemeClr val="tx2">
                        <a:lumMod val="40000"/>
                        <a:lumOff val="60000"/>
                      </a:schemeClr>
                    </a:solidFill>
                  </a:tcPr>
                </a:tc>
                <a:extLst>
                  <a:ext uri="{0D108BD9-81ED-4DB2-BD59-A6C34878D82A}">
                    <a16:rowId xmlns:a16="http://schemas.microsoft.com/office/drawing/2014/main" val="782517614"/>
                  </a:ext>
                </a:extLst>
              </a:tr>
              <a:tr h="176854">
                <a:tc>
                  <a:txBody>
                    <a:bodyPr/>
                    <a:lstStyle/>
                    <a:p>
                      <a:pPr algn="ctr" fontAlgn="ctr">
                        <a:buNone/>
                      </a:pPr>
                      <a:r>
                        <a:rPr lang="es-CO" sz="1000" b="1" u="none" strike="noStrike">
                          <a:effectLst/>
                        </a:rPr>
                        <a:t>SEM</a:t>
                      </a:r>
                      <a:endParaRPr lang="es-CO" sz="1000" b="1"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0.483</a:t>
                      </a:r>
                      <a:endParaRPr lang="es-CO" sz="1000" b="1"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985.45</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-485.72</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l" fontAlgn="ctr">
                        <a:buNone/>
                      </a:pPr>
                      <a:r>
                        <a:rPr lang="es-CO" sz="1000" u="none" strike="noStrike">
                          <a:effectLst/>
                        </a:rPr>
                        <a:t>Error espacial</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l" fontAlgn="ctr">
                        <a:buNone/>
                      </a:pPr>
                      <a:r>
                        <a:rPr lang="es-CO" sz="1000" u="none" strike="noStrike">
                          <a:effectLst/>
                        </a:rPr>
                        <a:t>Corrige la dependencia en los errores, pero ajusta peor que el SAR.</a:t>
                      </a:r>
                      <a:endParaRPr lang="es-CO" sz="1000" b="0" i="0" u="none" strike="noStrike">
                        <a:solidFill>
                          <a:srgbClr val="000000"/>
                        </a:solidFill>
                        <a:effectLst/>
                        <a:latin typeface="Aptos Narrow" panose="020B0004020202020204" pitchFamily="34" charset="0"/>
                      </a:endParaRPr>
                    </a:p>
                  </a:txBody>
                  <a:tcPr marL="8843" marR="8843" marT="8843" marB="0" anchor="ctr"/>
                </a:tc>
                <a:extLst>
                  <a:ext uri="{0D108BD9-81ED-4DB2-BD59-A6C34878D82A}">
                    <a16:rowId xmlns:a16="http://schemas.microsoft.com/office/drawing/2014/main" val="3700351771"/>
                  </a:ext>
                </a:extLst>
              </a:tr>
              <a:tr h="320106">
                <a:tc>
                  <a:txBody>
                    <a:bodyPr/>
                    <a:lstStyle/>
                    <a:p>
                      <a:pPr algn="ctr" fontAlgn="ctr">
                        <a:buNone/>
                      </a:pPr>
                      <a:r>
                        <a:rPr lang="es-CO" sz="1000" b="1" u="none" strike="noStrike">
                          <a:effectLst/>
                        </a:rPr>
                        <a:t>CAR Poisson</a:t>
                      </a:r>
                      <a:endParaRPr lang="es-CO" sz="1000" b="1"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l" fontAlgn="ctr">
                        <a:buNone/>
                      </a:pPr>
                      <a:r>
                        <a:rPr lang="es-CO" sz="1000" u="none" strike="noStrike">
                          <a:effectLst/>
                        </a:rPr>
                        <a:t>Efecto aleatorio CAR</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l" fontAlgn="ctr">
                        <a:buNone/>
                      </a:pPr>
                      <a:r>
                        <a:rPr lang="es-CO" sz="1000" u="none" strike="noStrike">
                          <a:effectLst/>
                        </a:rPr>
                        <a:t>Modela conteos y heterogeneidad espacial residual. Comparación mediante DIC.</a:t>
                      </a:r>
                      <a:endParaRPr lang="es-CO" sz="1000" b="0" i="0" u="none" strike="noStrike">
                        <a:solidFill>
                          <a:srgbClr val="000000"/>
                        </a:solidFill>
                        <a:effectLst/>
                        <a:latin typeface="Aptos Narrow" panose="020B0004020202020204" pitchFamily="34" charset="0"/>
                      </a:endParaRPr>
                    </a:p>
                  </a:txBody>
                  <a:tcPr marL="8843" marR="8843" marT="8843" marB="0" anchor="ctr"/>
                </a:tc>
                <a:extLst>
                  <a:ext uri="{0D108BD9-81ED-4DB2-BD59-A6C34878D82A}">
                    <a16:rowId xmlns:a16="http://schemas.microsoft.com/office/drawing/2014/main" val="2149514805"/>
                  </a:ext>
                </a:extLst>
              </a:tr>
              <a:tr h="475737">
                <a:tc>
                  <a:txBody>
                    <a:bodyPr/>
                    <a:lstStyle/>
                    <a:p>
                      <a:pPr algn="ctr" fontAlgn="ctr">
                        <a:buNone/>
                      </a:pPr>
                      <a:r>
                        <a:rPr lang="es-CO" sz="1000" b="1" u="none" strike="noStrike" dirty="0">
                          <a:effectLst/>
                        </a:rPr>
                        <a:t>SAR Regímenes (SKATER)</a:t>
                      </a:r>
                      <a:endParaRPr lang="es-CO" sz="1000" b="1" i="0" u="none" strike="noStrike" dirty="0">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0.632</a:t>
                      </a:r>
                      <a:endParaRPr lang="es-CO" sz="1000" b="1"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965.60</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r" fontAlgn="ctr">
                        <a:buNone/>
                      </a:pPr>
                      <a:r>
                        <a:rPr lang="es-CO" sz="1000" u="none" strike="noStrike">
                          <a:effectLst/>
                        </a:rPr>
                        <a:t>-496.80</a:t>
                      </a:r>
                      <a:endParaRPr lang="es-CO" sz="1000" b="0" i="0" u="none" strike="noStrike">
                        <a:solidFill>
                          <a:srgbClr val="000000"/>
                        </a:solidFill>
                        <a:effectLst/>
                        <a:latin typeface="Aptos Narrow" panose="020B0004020202020204" pitchFamily="34" charset="0"/>
                      </a:endParaRPr>
                    </a:p>
                  </a:txBody>
                  <a:tcPr marL="8843" marR="8843" marT="8843" marB="0" anchor="ctr"/>
                </a:tc>
                <a:tc>
                  <a:txBody>
                    <a:bodyPr/>
                    <a:lstStyle/>
                    <a:p>
                      <a:pPr algn="l" fontAlgn="ctr">
                        <a:buNone/>
                      </a:pPr>
                      <a:r>
                        <a:rPr lang="es-CO" sz="1000" u="none" strike="noStrike" dirty="0">
                          <a:effectLst/>
                        </a:rPr>
                        <a:t>WY + Regímenes</a:t>
                      </a:r>
                      <a:endParaRPr lang="es-CO" sz="1000" b="0" i="0" u="none" strike="noStrike" dirty="0">
                        <a:solidFill>
                          <a:srgbClr val="000000"/>
                        </a:solidFill>
                        <a:effectLst/>
                        <a:latin typeface="Aptos Narrow" panose="020B0004020202020204" pitchFamily="34" charset="0"/>
                      </a:endParaRPr>
                    </a:p>
                  </a:txBody>
                  <a:tcPr marL="8843" marR="8843" marT="8843" marB="0" anchor="ctr"/>
                </a:tc>
                <a:tc>
                  <a:txBody>
                    <a:bodyPr/>
                    <a:lstStyle/>
                    <a:p>
                      <a:pPr algn="l" fontAlgn="ctr">
                        <a:buNone/>
                      </a:pPr>
                      <a:r>
                        <a:rPr lang="es-CO" sz="1000" u="none" strike="noStrike" dirty="0">
                          <a:effectLst/>
                        </a:rPr>
                        <a:t>No mejora significativamente respecto al SAR global.</a:t>
                      </a:r>
                      <a:endParaRPr lang="es-CO" sz="1000" b="0" i="0" u="none" strike="noStrike" dirty="0">
                        <a:solidFill>
                          <a:srgbClr val="000000"/>
                        </a:solidFill>
                        <a:effectLst/>
                        <a:latin typeface="Aptos Narrow" panose="020B0004020202020204" pitchFamily="34" charset="0"/>
                      </a:endParaRPr>
                    </a:p>
                  </a:txBody>
                  <a:tcPr marL="8843" marR="8843" marT="8843" marB="0" anchor="ctr"/>
                </a:tc>
                <a:extLst>
                  <a:ext uri="{0D108BD9-81ED-4DB2-BD59-A6C34878D82A}">
                    <a16:rowId xmlns:a16="http://schemas.microsoft.com/office/drawing/2014/main" val="2343579623"/>
                  </a:ext>
                </a:extLst>
              </a:tr>
            </a:tbl>
          </a:graphicData>
        </a:graphic>
      </p:graphicFrame>
      <p:sp>
        <p:nvSpPr>
          <p:cNvPr id="7" name="Título 1">
            <a:extLst>
              <a:ext uri="{FF2B5EF4-FFF2-40B4-BE49-F238E27FC236}">
                <a16:creationId xmlns:a16="http://schemas.microsoft.com/office/drawing/2014/main" id="{A641050A-D60C-6547-7DC9-2C6FCC2E6628}"/>
              </a:ext>
            </a:extLst>
          </p:cNvPr>
          <p:cNvSpPr txBox="1">
            <a:spLocks/>
          </p:cNvSpPr>
          <p:nvPr/>
        </p:nvSpPr>
        <p:spPr>
          <a:xfrm>
            <a:off x="301255" y="282510"/>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Regresión espacial</a:t>
            </a:r>
            <a:endParaRPr lang="es-CO" sz="3200" noProof="0" dirty="0">
              <a:solidFill>
                <a:schemeClr val="accent1"/>
              </a:solidFill>
              <a:latin typeface="Ancizar Serif Extrabold" panose="020A0902070300000003" pitchFamily="18" charset="0"/>
              <a:cs typeface="Ancizar Sans Extrabold"/>
            </a:endParaRPr>
          </a:p>
        </p:txBody>
      </p:sp>
      <p:sp>
        <p:nvSpPr>
          <p:cNvPr id="11" name="Título 1">
            <a:extLst>
              <a:ext uri="{FF2B5EF4-FFF2-40B4-BE49-F238E27FC236}">
                <a16:creationId xmlns:a16="http://schemas.microsoft.com/office/drawing/2014/main" id="{DEFC542B-A508-E8D7-D0A0-5C19986C4FEE}"/>
              </a:ext>
            </a:extLst>
          </p:cNvPr>
          <p:cNvSpPr txBox="1">
            <a:spLocks/>
          </p:cNvSpPr>
          <p:nvPr/>
        </p:nvSpPr>
        <p:spPr>
          <a:xfrm>
            <a:off x="301256" y="684906"/>
            <a:ext cx="4489819" cy="38937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Comparación de modelos</a:t>
            </a:r>
            <a:endParaRPr lang="es-ES" sz="1400" spc="300" dirty="0">
              <a:solidFill>
                <a:schemeClr val="accent1"/>
              </a:solidFill>
              <a:latin typeface="Ancizar Sans" panose="020B0602040300000003" pitchFamily="34" charset="0"/>
              <a:cs typeface="Ancizar Serif"/>
            </a:endParaRPr>
          </a:p>
        </p:txBody>
      </p:sp>
      <p:sp>
        <p:nvSpPr>
          <p:cNvPr id="15" name="Rectángulo: esquinas redondeadas 14">
            <a:extLst>
              <a:ext uri="{FF2B5EF4-FFF2-40B4-BE49-F238E27FC236}">
                <a16:creationId xmlns:a16="http://schemas.microsoft.com/office/drawing/2014/main" id="{F6270346-FA75-5B15-55C4-D680B4A82EC3}"/>
              </a:ext>
            </a:extLst>
          </p:cNvPr>
          <p:cNvSpPr/>
          <p:nvPr/>
        </p:nvSpPr>
        <p:spPr>
          <a:xfrm>
            <a:off x="548685" y="3024052"/>
            <a:ext cx="7942520" cy="1516048"/>
          </a:xfrm>
          <a:prstGeom prst="roundRect">
            <a:avLst/>
          </a:prstGeom>
          <a:solidFill>
            <a:srgbClr val="620C78"/>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SAR</a:t>
            </a:r>
          </a:p>
          <a:p>
            <a:pPr marL="171450" indent="-171450">
              <a:buFont typeface="Arial" panose="020B0604020202020204" pitchFamily="34" charset="0"/>
              <a:buChar char="•"/>
            </a:pPr>
            <a:r>
              <a:rPr lang="es-CO" sz="1100" dirty="0"/>
              <a:t>los barrios con pendientes más pronunciadas presentan una mayor densidad de movimientos en masa.</a:t>
            </a:r>
          </a:p>
          <a:p>
            <a:pPr marL="171450" indent="-171450">
              <a:buFont typeface="Arial" panose="020B0604020202020204" pitchFamily="34" charset="0"/>
              <a:buChar char="•"/>
            </a:pPr>
            <a:r>
              <a:rPr lang="es-CO" sz="1100" dirty="0"/>
              <a:t>El incremento de superficies urbanizadas favorece la aparición de movimientos en masa.</a:t>
            </a:r>
          </a:p>
          <a:p>
            <a:pPr marL="171450" indent="-171450">
              <a:buFont typeface="Arial" panose="020B0604020202020204" pitchFamily="34" charset="0"/>
              <a:buChar char="•"/>
            </a:pPr>
            <a:r>
              <a:rPr lang="es-ES" sz="1100" dirty="0"/>
              <a:t>un mayor porcentaje de estos depósitos incrementa la susceptibilidad.</a:t>
            </a:r>
          </a:p>
          <a:p>
            <a:pPr marL="171450" indent="-171450">
              <a:buFont typeface="Arial" panose="020B0604020202020204" pitchFamily="34" charset="0"/>
              <a:buChar char="•"/>
            </a:pPr>
            <a:r>
              <a:rPr lang="es-ES" sz="1100" dirty="0"/>
              <a:t>La presencia de la unidad geológica Dunita se asocia con condiciones litológicas particulares que favorecen la ocurrencia de movimientos.</a:t>
            </a:r>
            <a:endParaRPr lang="es-CO" sz="1100" dirty="0"/>
          </a:p>
          <a:p>
            <a:pPr marL="171450" indent="-171450">
              <a:buFont typeface="Arial" panose="020B0604020202020204" pitchFamily="34" charset="0"/>
              <a:buChar char="•"/>
            </a:pPr>
            <a:r>
              <a:rPr lang="es-ES" sz="1100" dirty="0"/>
              <a:t>existe una dependencia espacial positiva importante, de manera que barrios rodeados por sectores con alta densidad de movimientos tienden a presentar también valores elevados, incluso después de considerar la pendiente, la geología y la artificialización.</a:t>
            </a:r>
          </a:p>
        </p:txBody>
      </p:sp>
    </p:spTree>
    <p:extLst>
      <p:ext uri="{BB962C8B-B14F-4D97-AF65-F5344CB8AC3E}">
        <p14:creationId xmlns:p14="http://schemas.microsoft.com/office/powerpoint/2010/main" val="3750331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7E2CA43-D20D-BF68-DB92-87CF2090519F}"/>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F7C27BD8-E144-23C5-1418-9A3704ADE563}"/>
              </a:ext>
            </a:extLst>
          </p:cNvPr>
          <p:cNvSpPr txBox="1"/>
          <p:nvPr/>
        </p:nvSpPr>
        <p:spPr>
          <a:xfrm>
            <a:off x="259080" y="4679274"/>
            <a:ext cx="3116580" cy="369332"/>
          </a:xfrm>
          <a:prstGeom prst="rect">
            <a:avLst/>
          </a:prstGeom>
          <a:noFill/>
        </p:spPr>
        <p:txBody>
          <a:bodyPr wrap="square" rtlCol="0">
            <a:spAutoFit/>
          </a:bodyPr>
          <a:lstStyle/>
          <a:p>
            <a:r>
              <a:rPr lang="es-CO" sz="900" i="1" dirty="0">
                <a:solidFill>
                  <a:schemeClr val="bg2"/>
                </a:solidFill>
                <a:latin typeface="Ancizar Sans" panose="020B0602040300000003" pitchFamily="34" charset="0"/>
              </a:rPr>
              <a:t>Facultad de Minas</a:t>
            </a:r>
          </a:p>
          <a:p>
            <a:r>
              <a:rPr lang="es-CO" sz="900" i="1" dirty="0">
                <a:solidFill>
                  <a:schemeClr val="bg2"/>
                </a:solidFill>
                <a:latin typeface="Ancizar Sans" panose="020B0602040300000003" pitchFamily="34" charset="0"/>
              </a:rPr>
              <a:t>Sede Medellín</a:t>
            </a:r>
          </a:p>
        </p:txBody>
      </p:sp>
      <p:sp>
        <p:nvSpPr>
          <p:cNvPr id="6" name="Marcador de número de diapositiva 5">
            <a:extLst>
              <a:ext uri="{FF2B5EF4-FFF2-40B4-BE49-F238E27FC236}">
                <a16:creationId xmlns:a16="http://schemas.microsoft.com/office/drawing/2014/main" id="{2174DB57-58B5-5391-EEE1-437B2BA04B92}"/>
              </a:ext>
            </a:extLst>
          </p:cNvPr>
          <p:cNvSpPr>
            <a:spLocks noGrp="1"/>
          </p:cNvSpPr>
          <p:nvPr>
            <p:ph type="sldNum" sz="quarter" idx="12"/>
          </p:nvPr>
        </p:nvSpPr>
        <p:spPr/>
        <p:txBody>
          <a:bodyPr/>
          <a:lstStyle/>
          <a:p>
            <a:fld id="{90BC2BA4-81C0-F544-BD72-C8CB9DA7C802}" type="slidenum">
              <a:rPr lang="es-ES" smtClean="0"/>
              <a:pPr/>
              <a:t>29</a:t>
            </a:fld>
            <a:endParaRPr lang="es-ES" dirty="0"/>
          </a:p>
        </p:txBody>
      </p:sp>
      <p:sp>
        <p:nvSpPr>
          <p:cNvPr id="3" name="Título 1">
            <a:extLst>
              <a:ext uri="{FF2B5EF4-FFF2-40B4-BE49-F238E27FC236}">
                <a16:creationId xmlns:a16="http://schemas.microsoft.com/office/drawing/2014/main" id="{723C06C6-287A-6514-D2B4-56D1517F52DD}"/>
              </a:ext>
            </a:extLst>
          </p:cNvPr>
          <p:cNvSpPr txBox="1">
            <a:spLocks/>
          </p:cNvSpPr>
          <p:nvPr/>
        </p:nvSpPr>
        <p:spPr>
          <a:xfrm>
            <a:off x="301256" y="454838"/>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dirty="0">
                <a:solidFill>
                  <a:schemeClr val="accent1"/>
                </a:solidFill>
                <a:latin typeface="Ancizar Serif Extrabold" panose="020A0902070300000003" pitchFamily="18" charset="0"/>
                <a:cs typeface="Ancizar Sans Extrabold"/>
              </a:rPr>
              <a:t>Conclusiones</a:t>
            </a:r>
            <a:endParaRPr lang="es-CO" sz="3200" noProof="0" dirty="0">
              <a:solidFill>
                <a:schemeClr val="accent1"/>
              </a:solidFill>
              <a:latin typeface="Ancizar Serif Extrabold" panose="020A0902070300000003" pitchFamily="18" charset="0"/>
              <a:cs typeface="Ancizar Sans Extrabold"/>
            </a:endParaRPr>
          </a:p>
        </p:txBody>
      </p:sp>
      <p:sp>
        <p:nvSpPr>
          <p:cNvPr id="8" name="Título 1">
            <a:extLst>
              <a:ext uri="{FF2B5EF4-FFF2-40B4-BE49-F238E27FC236}">
                <a16:creationId xmlns:a16="http://schemas.microsoft.com/office/drawing/2014/main" id="{B4424834-F672-7B3E-FA4A-D6538414FCA1}"/>
              </a:ext>
            </a:extLst>
          </p:cNvPr>
          <p:cNvSpPr txBox="1">
            <a:spLocks/>
          </p:cNvSpPr>
          <p:nvPr/>
        </p:nvSpPr>
        <p:spPr>
          <a:xfrm>
            <a:off x="520996" y="1180026"/>
            <a:ext cx="8144539" cy="30172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71450" indent="-171450" algn="l">
              <a:buFont typeface="Arial" panose="020B0604020202020204" pitchFamily="34" charset="0"/>
              <a:buChar char="•"/>
            </a:pPr>
            <a:r>
              <a:rPr lang="es-CO" sz="1400" b="1" dirty="0">
                <a:latin typeface="+mn-lt"/>
              </a:rPr>
              <a:t>Los movimientos en masa en Medellín presentan un patrón espacial claramente agrupado.</a:t>
            </a:r>
          </a:p>
          <a:p>
            <a:pPr marL="171450" indent="-171450" algn="l">
              <a:buFont typeface="Arial" panose="020B0604020202020204" pitchFamily="34" charset="0"/>
              <a:buChar char="•"/>
            </a:pPr>
            <a:endParaRPr lang="es-CO" sz="1400" b="1" dirty="0">
              <a:latin typeface="+mn-lt"/>
            </a:endParaRPr>
          </a:p>
          <a:p>
            <a:pPr marL="171450" indent="-171450" algn="l">
              <a:buFont typeface="Arial" panose="020B0604020202020204" pitchFamily="34" charset="0"/>
              <a:buChar char="•"/>
            </a:pPr>
            <a:r>
              <a:rPr lang="es-CO" sz="1400" b="1" dirty="0">
                <a:latin typeface="+mn-lt"/>
              </a:rPr>
              <a:t>La artificialización, la presencia de depósitos aluviales-coluviales y la pendiente fueron las variables con mayor influencia.</a:t>
            </a:r>
          </a:p>
          <a:p>
            <a:pPr marL="171450" indent="-171450" algn="l">
              <a:buFont typeface="Arial" panose="020B0604020202020204" pitchFamily="34" charset="0"/>
              <a:buChar char="•"/>
            </a:pPr>
            <a:endParaRPr lang="es-CO" sz="1400" b="1" dirty="0">
              <a:latin typeface="+mn-lt"/>
            </a:endParaRPr>
          </a:p>
          <a:p>
            <a:pPr marL="171450" indent="-171450" algn="l">
              <a:buFont typeface="Arial" panose="020B0604020202020204" pitchFamily="34" charset="0"/>
              <a:buChar char="•"/>
            </a:pPr>
            <a:r>
              <a:rPr lang="es-CO" sz="1400" b="1" dirty="0">
                <a:latin typeface="+mn-lt"/>
              </a:rPr>
              <a:t>Los residuos de los modelos clásicos presentan autocorrelación espacial, por lo que los modelos espaciales mejoraron el ajuste.</a:t>
            </a:r>
          </a:p>
          <a:p>
            <a:pPr algn="l"/>
            <a:endParaRPr lang="es-CO" sz="1400" b="1" dirty="0">
              <a:latin typeface="+mn-lt"/>
            </a:endParaRPr>
          </a:p>
          <a:p>
            <a:pPr marL="171450" indent="-171450" algn="l">
              <a:buFont typeface="Arial" panose="020B0604020202020204" pitchFamily="34" charset="0"/>
              <a:buChar char="•"/>
            </a:pPr>
            <a:r>
              <a:rPr lang="es-CO" sz="1400" b="1" dirty="0">
                <a:latin typeface="+mn-lt"/>
              </a:rPr>
              <a:t>Los regímenes espaciales no mejoraron significativamente el ajuste respecto al SAR global.</a:t>
            </a:r>
          </a:p>
          <a:p>
            <a:pPr marL="171450" indent="-171450" algn="l">
              <a:buFont typeface="Arial" panose="020B0604020202020204" pitchFamily="34" charset="0"/>
              <a:buChar char="•"/>
            </a:pPr>
            <a:endParaRPr lang="es-CO" sz="1400" b="1" dirty="0">
              <a:latin typeface="+mn-lt"/>
            </a:endParaRPr>
          </a:p>
          <a:p>
            <a:pPr marL="171450" indent="-171450" algn="l">
              <a:buFont typeface="Arial" panose="020B0604020202020204" pitchFamily="34" charset="0"/>
              <a:buChar char="•"/>
            </a:pPr>
            <a:r>
              <a:rPr lang="es-ES" sz="1400" b="1" dirty="0">
                <a:latin typeface="+mn-lt"/>
              </a:rPr>
              <a:t>El modelo SAR obtuvo el mejor desempeño global, lo que indica que la densidad de movimientos en masa en Medellín no depende únicamente de las características locales del barrio. También está influenciada por la dinámica espacial de los barrios vecinos, lo que justifica el mejor desempeño del modelo SAR frente a un modelo de regresión convencional.</a:t>
            </a:r>
            <a:endParaRPr lang="es-CO" sz="1400" b="1" dirty="0">
              <a:latin typeface="+mn-lt"/>
            </a:endParaRPr>
          </a:p>
        </p:txBody>
      </p:sp>
    </p:spTree>
    <p:extLst>
      <p:ext uri="{BB962C8B-B14F-4D97-AF65-F5344CB8AC3E}">
        <p14:creationId xmlns:p14="http://schemas.microsoft.com/office/powerpoint/2010/main" val="3633512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1C83587-F021-3372-D75A-DE3E78DB1F55}"/>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70A2BB38-BC3C-31BC-5E05-493FD6E4767F}"/>
              </a:ext>
            </a:extLst>
          </p:cNvPr>
          <p:cNvSpPr txBox="1"/>
          <p:nvPr/>
        </p:nvSpPr>
        <p:spPr>
          <a:xfrm>
            <a:off x="259080" y="4679274"/>
            <a:ext cx="3116580" cy="369332"/>
          </a:xfrm>
          <a:prstGeom prst="rect">
            <a:avLst/>
          </a:prstGeom>
          <a:noFill/>
        </p:spPr>
        <p:txBody>
          <a:bodyPr wrap="square" rtlCol="0">
            <a:spAutoFit/>
          </a:bodyPr>
          <a:lstStyle/>
          <a:p>
            <a:r>
              <a:rPr lang="es-CO" sz="900" i="1" dirty="0">
                <a:solidFill>
                  <a:schemeClr val="bg2"/>
                </a:solidFill>
                <a:latin typeface="Ancizar Sans" panose="020B0602040300000003" pitchFamily="34" charset="0"/>
              </a:rPr>
              <a:t>Facultad de Minas</a:t>
            </a:r>
          </a:p>
          <a:p>
            <a:r>
              <a:rPr lang="es-CO" sz="900" i="1" dirty="0">
                <a:solidFill>
                  <a:schemeClr val="bg2"/>
                </a:solidFill>
                <a:latin typeface="Ancizar Sans" panose="020B0602040300000003" pitchFamily="34" charset="0"/>
              </a:rPr>
              <a:t>Sede Medellín</a:t>
            </a:r>
          </a:p>
        </p:txBody>
      </p:sp>
      <p:sp>
        <p:nvSpPr>
          <p:cNvPr id="2" name="CuadroTexto 1">
            <a:extLst>
              <a:ext uri="{FF2B5EF4-FFF2-40B4-BE49-F238E27FC236}">
                <a16:creationId xmlns:a16="http://schemas.microsoft.com/office/drawing/2014/main" id="{74A1D23E-2FD4-9C48-9B09-01F5862E2AC3}"/>
              </a:ext>
            </a:extLst>
          </p:cNvPr>
          <p:cNvSpPr txBox="1"/>
          <p:nvPr/>
        </p:nvSpPr>
        <p:spPr>
          <a:xfrm>
            <a:off x="477376" y="1458437"/>
            <a:ext cx="7920000" cy="1171988"/>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342900" indent="-342900">
              <a:lnSpc>
                <a:spcPct val="150000"/>
              </a:lnSpc>
              <a:buClr>
                <a:schemeClr val="accent1"/>
              </a:buClr>
              <a:buFont typeface="+mj-lt"/>
              <a:buAutoNum type="arabicPeriod"/>
            </a:pPr>
            <a:r>
              <a:rPr lang="es-CO" sz="1200" dirty="0"/>
              <a:t>Geoportal SIMMA (Servicio Geológico Colombiano): https://simma.sgc.gov.co/#/</a:t>
            </a:r>
          </a:p>
          <a:p>
            <a:pPr marL="342900" indent="-342900">
              <a:lnSpc>
                <a:spcPct val="150000"/>
              </a:lnSpc>
              <a:buClr>
                <a:schemeClr val="accent1"/>
              </a:buClr>
              <a:buFont typeface="+mj-lt"/>
              <a:buAutoNum type="arabicPeriod"/>
            </a:pPr>
            <a:r>
              <a:rPr lang="es-CO" sz="1200" dirty="0"/>
              <a:t>Geoportal SIRMED (Alcaldía de Medellín): https://www.medellin.gov.co/sirmed</a:t>
            </a:r>
          </a:p>
          <a:p>
            <a:pPr marL="342900" indent="-342900">
              <a:lnSpc>
                <a:spcPct val="150000"/>
              </a:lnSpc>
              <a:buClr>
                <a:schemeClr val="accent1"/>
              </a:buClr>
              <a:buFont typeface="+mj-lt"/>
              <a:buAutoNum type="arabicPeriod"/>
            </a:pPr>
            <a:r>
              <a:rPr lang="es-CO" sz="1200" dirty="0"/>
              <a:t>Geoportal GeoMedellín (Alcaldía de Medellín): https://www.medellin.gov.co/geomedellin/aplicaciones</a:t>
            </a:r>
          </a:p>
          <a:p>
            <a:pPr marL="342900" indent="-342900">
              <a:lnSpc>
                <a:spcPct val="150000"/>
              </a:lnSpc>
              <a:buClr>
                <a:schemeClr val="accent1"/>
              </a:buClr>
              <a:buFont typeface="+mj-lt"/>
              <a:buAutoNum type="arabicPeriod"/>
            </a:pPr>
            <a:r>
              <a:rPr lang="es-CO" sz="1200" dirty="0"/>
              <a:t>MIGG (Servicio Geológico Colombiano): https://miig.sgc.gov.co/Paginas/advanced.aspx</a:t>
            </a:r>
          </a:p>
        </p:txBody>
      </p:sp>
      <p:sp>
        <p:nvSpPr>
          <p:cNvPr id="6" name="Marcador de número de diapositiva 5">
            <a:extLst>
              <a:ext uri="{FF2B5EF4-FFF2-40B4-BE49-F238E27FC236}">
                <a16:creationId xmlns:a16="http://schemas.microsoft.com/office/drawing/2014/main" id="{2CBDF852-5747-61C2-4CA6-43D1A94F8138}"/>
              </a:ext>
            </a:extLst>
          </p:cNvPr>
          <p:cNvSpPr>
            <a:spLocks noGrp="1"/>
          </p:cNvSpPr>
          <p:nvPr>
            <p:ph type="sldNum" sz="quarter" idx="12"/>
          </p:nvPr>
        </p:nvSpPr>
        <p:spPr/>
        <p:txBody>
          <a:bodyPr/>
          <a:lstStyle/>
          <a:p>
            <a:fld id="{90BC2BA4-81C0-F544-BD72-C8CB9DA7C802}" type="slidenum">
              <a:rPr lang="es-ES" smtClean="0"/>
              <a:pPr/>
              <a:t>30</a:t>
            </a:fld>
            <a:endParaRPr lang="es-ES" dirty="0"/>
          </a:p>
        </p:txBody>
      </p:sp>
      <p:sp>
        <p:nvSpPr>
          <p:cNvPr id="3" name="Título 1">
            <a:extLst>
              <a:ext uri="{FF2B5EF4-FFF2-40B4-BE49-F238E27FC236}">
                <a16:creationId xmlns:a16="http://schemas.microsoft.com/office/drawing/2014/main" id="{59311A83-6A2B-C47D-5B8F-B258F3C43096}"/>
              </a:ext>
            </a:extLst>
          </p:cNvPr>
          <p:cNvSpPr txBox="1">
            <a:spLocks/>
          </p:cNvSpPr>
          <p:nvPr/>
        </p:nvSpPr>
        <p:spPr>
          <a:xfrm>
            <a:off x="259080" y="370204"/>
            <a:ext cx="6609810" cy="56224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200" noProof="0" dirty="0">
                <a:solidFill>
                  <a:schemeClr val="accent1"/>
                </a:solidFill>
                <a:latin typeface="Ancizar Serif Extrabold" panose="020A0902070300000003" pitchFamily="18" charset="0"/>
                <a:cs typeface="Ancizar Sans Extrabold"/>
              </a:rPr>
              <a:t>Referencias</a:t>
            </a:r>
          </a:p>
        </p:txBody>
      </p:sp>
      <p:sp>
        <p:nvSpPr>
          <p:cNvPr id="7" name="Título 1">
            <a:extLst>
              <a:ext uri="{FF2B5EF4-FFF2-40B4-BE49-F238E27FC236}">
                <a16:creationId xmlns:a16="http://schemas.microsoft.com/office/drawing/2014/main" id="{34272980-91DB-DEA4-BCF6-9FF39C5C0A9E}"/>
              </a:ext>
            </a:extLst>
          </p:cNvPr>
          <p:cNvSpPr txBox="1">
            <a:spLocks/>
          </p:cNvSpPr>
          <p:nvPr/>
        </p:nvSpPr>
        <p:spPr>
          <a:xfrm>
            <a:off x="477377" y="1199023"/>
            <a:ext cx="2233166" cy="18171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Fuentes de datos</a:t>
            </a:r>
            <a:endParaRPr lang="es-ES" sz="1400" spc="300" dirty="0">
              <a:solidFill>
                <a:schemeClr val="accent1"/>
              </a:solidFill>
              <a:latin typeface="Ancizar Sans" panose="020B0602040300000003" pitchFamily="34" charset="0"/>
              <a:cs typeface="Ancizar Serif"/>
            </a:endParaRPr>
          </a:p>
        </p:txBody>
      </p:sp>
      <p:sp>
        <p:nvSpPr>
          <p:cNvPr id="8" name="Título 1">
            <a:extLst>
              <a:ext uri="{FF2B5EF4-FFF2-40B4-BE49-F238E27FC236}">
                <a16:creationId xmlns:a16="http://schemas.microsoft.com/office/drawing/2014/main" id="{A26F8C11-7E41-18B8-34BB-31FA5F5C81B8}"/>
              </a:ext>
            </a:extLst>
          </p:cNvPr>
          <p:cNvSpPr txBox="1">
            <a:spLocks/>
          </p:cNvSpPr>
          <p:nvPr/>
        </p:nvSpPr>
        <p:spPr>
          <a:xfrm>
            <a:off x="477378" y="2802179"/>
            <a:ext cx="2233166" cy="18171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1400" spc="300" dirty="0">
                <a:solidFill>
                  <a:schemeClr val="accent1"/>
                </a:solidFill>
                <a:latin typeface="Ancizar Sans" panose="020B0602040300000003" pitchFamily="34" charset="0"/>
                <a:cs typeface="Ancizar Serif"/>
              </a:rPr>
              <a:t>Bibliografía</a:t>
            </a:r>
            <a:endParaRPr lang="es-ES" sz="1400" spc="300" dirty="0">
              <a:solidFill>
                <a:schemeClr val="accent1"/>
              </a:solidFill>
              <a:latin typeface="Ancizar Sans" panose="020B0602040300000003" pitchFamily="34" charset="0"/>
              <a:cs typeface="Ancizar Serif"/>
            </a:endParaRPr>
          </a:p>
        </p:txBody>
      </p:sp>
      <p:sp>
        <p:nvSpPr>
          <p:cNvPr id="9" name="CuadroTexto 8">
            <a:extLst>
              <a:ext uri="{FF2B5EF4-FFF2-40B4-BE49-F238E27FC236}">
                <a16:creationId xmlns:a16="http://schemas.microsoft.com/office/drawing/2014/main" id="{94D1A142-52C8-CC56-25F9-EE1B30324BB4}"/>
              </a:ext>
            </a:extLst>
          </p:cNvPr>
          <p:cNvSpPr txBox="1"/>
          <p:nvPr/>
        </p:nvSpPr>
        <p:spPr>
          <a:xfrm>
            <a:off x="477377" y="3079668"/>
            <a:ext cx="8104921" cy="276999"/>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a:buClr>
                <a:schemeClr val="accent1"/>
              </a:buClr>
            </a:pPr>
            <a:r>
              <a:rPr lang="es-CO" sz="1200" dirty="0"/>
              <a:t>https://edieraristizabal.github.io/Libro_AnalisisGeoespacial/</a:t>
            </a:r>
          </a:p>
        </p:txBody>
      </p:sp>
      <p:cxnSp>
        <p:nvCxnSpPr>
          <p:cNvPr id="5" name="Conector recto 4">
            <a:extLst>
              <a:ext uri="{FF2B5EF4-FFF2-40B4-BE49-F238E27FC236}">
                <a16:creationId xmlns:a16="http://schemas.microsoft.com/office/drawing/2014/main" id="{5751D36F-0E75-CCFC-3030-4153973977BE}"/>
              </a:ext>
            </a:extLst>
          </p:cNvPr>
          <p:cNvCxnSpPr/>
          <p:nvPr/>
        </p:nvCxnSpPr>
        <p:spPr>
          <a:xfrm>
            <a:off x="529041" y="2705214"/>
            <a:ext cx="7920000" cy="0"/>
          </a:xfrm>
          <a:prstGeom prst="line">
            <a:avLst/>
          </a:prstGeom>
          <a:ln w="12700">
            <a:solidFill>
              <a:schemeClr val="accent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2640967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CuadroTexto 5"/>
          <p:cNvSpPr txBox="1"/>
          <p:nvPr/>
        </p:nvSpPr>
        <p:spPr>
          <a:xfrm>
            <a:off x="3525258" y="2571750"/>
            <a:ext cx="2093483" cy="502702"/>
          </a:xfrm>
          <a:prstGeom prst="rect">
            <a:avLst/>
          </a:prstGeom>
          <a:noFill/>
        </p:spPr>
        <p:txBody>
          <a:bodyPr wrap="square" rtlCol="0">
            <a:spAutoFit/>
          </a:bodyPr>
          <a:lstStyle/>
          <a:p>
            <a:pPr algn="ctr">
              <a:lnSpc>
                <a:spcPct val="80000"/>
              </a:lnSpc>
            </a:pPr>
            <a:r>
              <a:rPr lang="ro-RO" sz="3200" i="1" dirty="0">
                <a:solidFill>
                  <a:schemeClr val="bg2"/>
                </a:solidFill>
                <a:latin typeface="Ancizar Serif"/>
                <a:cs typeface="Ancizar Serif"/>
              </a:rPr>
              <a:t>Gracias</a:t>
            </a:r>
          </a:p>
        </p:txBody>
      </p:sp>
      <p:sp>
        <p:nvSpPr>
          <p:cNvPr id="3" name="Marcador de número de diapositiva 2">
            <a:extLst>
              <a:ext uri="{FF2B5EF4-FFF2-40B4-BE49-F238E27FC236}">
                <a16:creationId xmlns:a16="http://schemas.microsoft.com/office/drawing/2014/main" id="{D246A0C8-F2FD-4F7E-1C1F-1636098F9B5F}"/>
              </a:ext>
            </a:extLst>
          </p:cNvPr>
          <p:cNvSpPr>
            <a:spLocks noGrp="1"/>
          </p:cNvSpPr>
          <p:nvPr>
            <p:ph type="sldNum" sz="quarter" idx="12"/>
          </p:nvPr>
        </p:nvSpPr>
        <p:spPr/>
        <p:txBody>
          <a:bodyPr/>
          <a:lstStyle/>
          <a:p>
            <a:fld id="{90BC2BA4-81C0-F544-BD72-C8CB9DA7C802}" type="slidenum">
              <a:rPr lang="es-ES" smtClean="0"/>
              <a:pPr/>
              <a:t>31</a:t>
            </a:fld>
            <a:endParaRPr lang="es-ES" dirty="0"/>
          </a:p>
        </p:txBody>
      </p:sp>
    </p:spTree>
    <p:extLst>
      <p:ext uri="{BB962C8B-B14F-4D97-AF65-F5344CB8AC3E}">
        <p14:creationId xmlns:p14="http://schemas.microsoft.com/office/powerpoint/2010/main" val="4132190908"/>
      </p:ext>
    </p:extLst>
  </p:cSld>
  <p:clrMapOvr>
    <a:masterClrMapping/>
  </p:clrMapOvr>
</p:sld>
</file>

<file path=ppt/theme/theme1.xml><?xml version="1.0" encoding="utf-8"?>
<a:theme xmlns:a="http://schemas.openxmlformats.org/drawingml/2006/main" name="Plantilla-presentacion">
  <a:themeElements>
    <a:clrScheme name="UNAL 2024">
      <a:dk1>
        <a:srgbClr val="29272D"/>
      </a:dk1>
      <a:lt1>
        <a:srgbClr val="F7F5F2"/>
      </a:lt1>
      <a:dk2>
        <a:srgbClr val="481F63"/>
      </a:dk2>
      <a:lt2>
        <a:srgbClr val="F8ECCD"/>
      </a:lt2>
      <a:accent1>
        <a:srgbClr val="620C78"/>
      </a:accent1>
      <a:accent2>
        <a:srgbClr val="FFB93E"/>
      </a:accent2>
      <a:accent3>
        <a:srgbClr val="06784F"/>
      </a:accent3>
      <a:accent4>
        <a:srgbClr val="14C486"/>
      </a:accent4>
      <a:accent5>
        <a:srgbClr val="9F00C4"/>
      </a:accent5>
      <a:accent6>
        <a:srgbClr val="F79646"/>
      </a:accent6>
      <a:hlink>
        <a:srgbClr val="14C486"/>
      </a:hlink>
      <a:folHlink>
        <a:srgbClr val="9F00C4"/>
      </a:folHlink>
    </a:clrScheme>
    <a:fontScheme name="OCE">
      <a:majorFont>
        <a:latin typeface="Ancizar Serif Extrabold"/>
        <a:ea typeface=""/>
        <a:cs typeface=""/>
      </a:majorFont>
      <a:minorFont>
        <a:latin typeface="Ancizar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3791</TotalTime>
  <Words>1640</Words>
  <Application>Microsoft Office PowerPoint</Application>
  <PresentationFormat>Presentación en pantalla (16:9)</PresentationFormat>
  <Paragraphs>268</Paragraphs>
  <Slides>31</Slides>
  <Notes>11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31</vt:i4>
      </vt:variant>
    </vt:vector>
  </HeadingPairs>
  <TitlesOfParts>
    <vt:vector size="40" baseType="lpstr">
      <vt:lpstr>Ancizar Sans</vt:lpstr>
      <vt:lpstr>Ancizar Sans Light</vt:lpstr>
      <vt:lpstr>Ancizar Serif</vt:lpstr>
      <vt:lpstr>Ancizar Serif Extrabold</vt:lpstr>
      <vt:lpstr>Ancizar Serif Semibold</vt:lpstr>
      <vt:lpstr>Aptos</vt:lpstr>
      <vt:lpstr>Aptos Narrow</vt:lpstr>
      <vt:lpstr>Arial</vt:lpstr>
      <vt:lpstr>Plantilla-presentacion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Paola</dc:creator>
  <cp:lastModifiedBy>valeria Madariaga cuello</cp:lastModifiedBy>
  <cp:revision>69</cp:revision>
  <dcterms:created xsi:type="dcterms:W3CDTF">2024-06-25T17:03:54Z</dcterms:created>
  <dcterms:modified xsi:type="dcterms:W3CDTF">2026-07-15T20:47:56Z</dcterms:modified>
</cp:coreProperties>
</file>